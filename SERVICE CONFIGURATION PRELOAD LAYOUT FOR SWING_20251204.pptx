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6846975" r:id="rId5"/>
    <p:sldId id="2146846976" r:id="rId6"/>
    <p:sldId id="2146846964" r:id="rId7"/>
    <p:sldId id="2146846978" r:id="rId8"/>
    <p:sldId id="2146846960" r:id="rId9"/>
    <p:sldId id="2146847005" r:id="rId10"/>
    <p:sldId id="2146846961" r:id="rId11"/>
    <p:sldId id="2146846965" r:id="rId12"/>
    <p:sldId id="2146846966" r:id="rId13"/>
    <p:sldId id="2146847001" r:id="rId14"/>
    <p:sldId id="2146846967" r:id="rId15"/>
    <p:sldId id="21468469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ssica Zuchowski" initials="JZ" lastIdx="1" clrIdx="0">
    <p:extLst>
      <p:ext uri="{19B8F6BF-5375-455C-9EA6-DF929625EA0E}">
        <p15:presenceInfo xmlns:p15="http://schemas.microsoft.com/office/powerpoint/2012/main" userId="Jessica Zuchowsk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459"/>
    <a:srgbClr val="FFE699"/>
    <a:srgbClr val="F315CE"/>
    <a:srgbClr val="AA02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42" autoAdjust="0"/>
    <p:restoredTop sz="94660"/>
  </p:normalViewPr>
  <p:slideViewPr>
    <p:cSldViewPr snapToGrid="0">
      <p:cViewPr varScale="1">
        <p:scale>
          <a:sx n="97" d="100"/>
          <a:sy n="97" d="100"/>
        </p:scale>
        <p:origin x="25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18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12" Type="http://schemas.openxmlformats.org/officeDocument/2006/relationships/image" Target="../media/image17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11" Type="http://schemas.openxmlformats.org/officeDocument/2006/relationships/image" Target="../media/image16.jpeg"/><Relationship Id="rId5" Type="http://schemas.openxmlformats.org/officeDocument/2006/relationships/image" Target="../media/image10.jpeg"/><Relationship Id="rId10" Type="http://schemas.openxmlformats.org/officeDocument/2006/relationships/image" Target="../media/image15.jpeg"/><Relationship Id="rId4" Type="http://schemas.openxmlformats.org/officeDocument/2006/relationships/image" Target="../media/image9.jpeg"/><Relationship Id="rId9" Type="http://schemas.openxmlformats.org/officeDocument/2006/relationships/image" Target="../media/image1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Layouts_2-Column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Divider">
            <a:extLst>
              <a:ext uri="{FF2B5EF4-FFF2-40B4-BE49-F238E27FC236}">
                <a16:creationId xmlns:a16="http://schemas.microsoft.com/office/drawing/2014/main" id="{1292A5B7-F392-A34A-96F9-A0251BC247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2638" y="1124119"/>
            <a:ext cx="8178800" cy="94775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TeleNeo Office ExtraBold" panose="020B0504040202090203" pitchFamily="34" charset="77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Title Highlight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455D354-D220-CB46-9CAB-1571B9C55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2638" y="2523738"/>
            <a:ext cx="4067837" cy="3819525"/>
          </a:xfrm>
          <a:prstGeom prst="rect">
            <a:avLst/>
          </a:prstGeom>
        </p:spPr>
        <p:txBody>
          <a:bodyPr lIns="0"/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3987D8D1-1A96-1A43-8706-FEFBA6A3E7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19150" y="2523738"/>
            <a:ext cx="4090987" cy="3819525"/>
          </a:xfrm>
          <a:prstGeom prst="rect">
            <a:avLst/>
          </a:prstGeom>
        </p:spPr>
        <p:txBody>
          <a:bodyPr lIns="0"/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73732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Layouts_2-Column-Magen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45C007E6-4DBB-EE44-A2B3-02A9191DFBE5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bg1"/>
                </a:solidFill>
                <a:latin typeface="Bebas Neue Bold" charset="0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Bebas Neue Bold" charset="0"/>
              <a:ea typeface="Bebas Neue Bold" charset="0"/>
              <a:cs typeface="Bebas Neue Bold" charset="0"/>
            </a:endParaRPr>
          </a:p>
        </p:txBody>
      </p:sp>
      <p:sp>
        <p:nvSpPr>
          <p:cNvPr id="10" name="Section Divider">
            <a:extLst>
              <a:ext uri="{FF2B5EF4-FFF2-40B4-BE49-F238E27FC236}">
                <a16:creationId xmlns:a16="http://schemas.microsoft.com/office/drawing/2014/main" id="{1292A5B7-F392-A34A-96F9-A0251BC247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2638" y="1124119"/>
            <a:ext cx="8178800" cy="94775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TeleNeo Office ExtraBold" panose="020B0504040202090203" pitchFamily="34" charset="77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Title Highlight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455D354-D220-CB46-9CAB-1571B9C55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2638" y="2523738"/>
            <a:ext cx="4067837" cy="3819525"/>
          </a:xfrm>
          <a:prstGeom prst="rect">
            <a:avLst/>
          </a:prstGeom>
        </p:spPr>
        <p:txBody>
          <a:bodyPr lIns="0"/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3987D8D1-1A96-1A43-8706-FEFBA6A3E7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19150" y="2523738"/>
            <a:ext cx="4090987" cy="3819525"/>
          </a:xfrm>
          <a:prstGeom prst="rect">
            <a:avLst/>
          </a:prstGeom>
        </p:spPr>
        <p:txBody>
          <a:bodyPr lIns="0"/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5228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4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Layouts_2-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095999" y="3059084"/>
            <a:ext cx="5103813" cy="294404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B36E8C79-C42F-1F46-BBF9-F2497C91EC2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0600" y="3059084"/>
            <a:ext cx="5103813" cy="294404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431537D-013D-DF47-97CC-AFDBFCA230E0}"/>
              </a:ext>
            </a:extLst>
          </p:cNvPr>
          <p:cNvCxnSpPr/>
          <p:nvPr userDrawn="1"/>
        </p:nvCxnSpPr>
        <p:spPr>
          <a:xfrm>
            <a:off x="977809" y="3040904"/>
            <a:ext cx="2041415" cy="0"/>
          </a:xfrm>
          <a:prstGeom prst="line">
            <a:avLst/>
          </a:prstGeom>
          <a:ln w="381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ection Divider">
            <a:extLst>
              <a:ext uri="{FF2B5EF4-FFF2-40B4-BE49-F238E27FC236}">
                <a16:creationId xmlns:a16="http://schemas.microsoft.com/office/drawing/2014/main" id="{63539A77-BB76-6F4C-A5B0-E33AE1D1D8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2638" y="1124119"/>
            <a:ext cx="8178800" cy="717248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TeleNeo Office ExtraBold" panose="020B0504040202090203" pitchFamily="34" charset="77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Title Highlight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19E6761C-B1D5-524D-B5C1-8A0F7849B4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2638" y="2156539"/>
            <a:ext cx="8155650" cy="644534"/>
          </a:xfrm>
          <a:prstGeom prst="rect">
            <a:avLst/>
          </a:prstGeom>
        </p:spPr>
        <p:txBody>
          <a:bodyPr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TeleNeo Office Medium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.</a:t>
            </a:r>
          </a:p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009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Layouts_Tex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3">
            <a:extLst>
              <a:ext uri="{FF2B5EF4-FFF2-40B4-BE49-F238E27FC236}">
                <a16:creationId xmlns:a16="http://schemas.microsoft.com/office/drawing/2014/main" id="{2C350198-13F7-1D4E-BAEE-42B6A6B783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1124119"/>
            <a:ext cx="3462823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99AA8A6-E8DE-CF48-9286-A9EB40B6C5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1855" y="2659777"/>
            <a:ext cx="3499914" cy="2774221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</p:txBody>
      </p:sp>
      <p:sp>
        <p:nvSpPr>
          <p:cNvPr id="18" name="Subtext">
            <a:extLst>
              <a:ext uri="{FF2B5EF4-FFF2-40B4-BE49-F238E27FC236}">
                <a16:creationId xmlns:a16="http://schemas.microsoft.com/office/drawing/2014/main" id="{9F3BC46D-55AC-834B-A8B1-05896F9702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1855" y="1765526"/>
            <a:ext cx="2455863" cy="2485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pic>
        <p:nvPicPr>
          <p:cNvPr id="19" name="Picture Placeholder 2" descr="A picture containing sky, person, outdoor&#10;&#10;Description automatically generated">
            <a:extLst>
              <a:ext uri="{FF2B5EF4-FFF2-40B4-BE49-F238E27FC236}">
                <a16:creationId xmlns:a16="http://schemas.microsoft.com/office/drawing/2014/main" id="{B83FF132-813B-484C-B98C-1336BADCDF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71466" y="861933"/>
            <a:ext cx="6134416" cy="514119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A975F78-E301-49C9-94E7-4E72FAB8EFD2}"/>
              </a:ext>
            </a:extLst>
          </p:cNvPr>
          <p:cNvGrpSpPr/>
          <p:nvPr userDrawn="1"/>
        </p:nvGrpSpPr>
        <p:grpSpPr>
          <a:xfrm>
            <a:off x="11405017" y="0"/>
            <a:ext cx="786983" cy="786983"/>
            <a:chOff x="3962400" y="0"/>
            <a:chExt cx="786983" cy="78698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DE09664-F119-4175-B5B9-8C790FF9997E}"/>
                </a:ext>
              </a:extLst>
            </p:cNvPr>
            <p:cNvSpPr/>
            <p:nvPr/>
          </p:nvSpPr>
          <p:spPr>
            <a:xfrm>
              <a:off x="3962400" y="0"/>
              <a:ext cx="786983" cy="786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spc="300">
                <a:latin typeface="linea-basic-10" charset="0"/>
                <a:ea typeface="linea-basic-10" charset="0"/>
                <a:cs typeface="linea-basic-10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DBAEF18-18FD-4FA6-8183-DC116C0F3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60458" y="155747"/>
              <a:ext cx="390867" cy="4754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614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Layouts_Text-Image_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FCAB2AE-A3D6-7347-89A8-D0A2F0DC9FD4}"/>
              </a:ext>
            </a:extLst>
          </p:cNvPr>
          <p:cNvSpPr/>
          <p:nvPr userDrawn="1"/>
        </p:nvSpPr>
        <p:spPr>
          <a:xfrm>
            <a:off x="0" y="0"/>
            <a:ext cx="507146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AD85F8B8-7FEA-CD41-A9FE-644E89B2151F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bg1"/>
                </a:solidFill>
                <a:latin typeface="Bebas Neue Bold" charset="0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Bebas Neue Bold" charset="0"/>
              <a:ea typeface="Bebas Neue Bold" charset="0"/>
              <a:cs typeface="Bebas Neue Bold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99AA8A6-E8DE-CF48-9286-A9EB40B6C5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1855" y="2659777"/>
            <a:ext cx="3499914" cy="2774221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</p:txBody>
      </p:sp>
      <p:sp>
        <p:nvSpPr>
          <p:cNvPr id="18" name="Subtext">
            <a:extLst>
              <a:ext uri="{FF2B5EF4-FFF2-40B4-BE49-F238E27FC236}">
                <a16:creationId xmlns:a16="http://schemas.microsoft.com/office/drawing/2014/main" id="{9F3BC46D-55AC-834B-A8B1-05896F9702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1855" y="1765526"/>
            <a:ext cx="2455863" cy="2485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pic>
        <p:nvPicPr>
          <p:cNvPr id="19" name="Picture Placeholder 2" descr="A picture containing sky, person, outdoor&#10;&#10;Description automatically generated">
            <a:extLst>
              <a:ext uri="{FF2B5EF4-FFF2-40B4-BE49-F238E27FC236}">
                <a16:creationId xmlns:a16="http://schemas.microsoft.com/office/drawing/2014/main" id="{B83FF132-813B-484C-B98C-1336BADCDF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71466" y="861933"/>
            <a:ext cx="6134416" cy="5141199"/>
          </a:xfrm>
          <a:prstGeom prst="rect">
            <a:avLst/>
          </a:prstGeom>
        </p:spPr>
      </p:pic>
      <p:sp>
        <p:nvSpPr>
          <p:cNvPr id="22" name="Title 23">
            <a:extLst>
              <a:ext uri="{FF2B5EF4-FFF2-40B4-BE49-F238E27FC236}">
                <a16:creationId xmlns:a16="http://schemas.microsoft.com/office/drawing/2014/main" id="{DFB36F33-DD46-604C-97E4-C11A9410B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1124119"/>
            <a:ext cx="3462823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741581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Layouts_Tex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3026661" y="0"/>
            <a:ext cx="9161075" cy="685800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89DF83-AE66-7043-BBA4-24C9476AE3E1}"/>
              </a:ext>
            </a:extLst>
          </p:cNvPr>
          <p:cNvCxnSpPr>
            <a:cxnSpLocks/>
          </p:cNvCxnSpPr>
          <p:nvPr userDrawn="1"/>
        </p:nvCxnSpPr>
        <p:spPr>
          <a:xfrm>
            <a:off x="7114478" y="2475632"/>
            <a:ext cx="572429" cy="0"/>
          </a:xfrm>
          <a:prstGeom prst="line">
            <a:avLst/>
          </a:prstGeom>
          <a:ln w="381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23">
            <a:extLst>
              <a:ext uri="{FF2B5EF4-FFF2-40B4-BE49-F238E27FC236}">
                <a16:creationId xmlns:a16="http://schemas.microsoft.com/office/drawing/2014/main" id="{1AAB145D-0F36-7848-A33F-7CAA46367E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4478" y="1635512"/>
            <a:ext cx="3462823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C7E84363-7DFC-AC45-B90D-4DB260A395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4478" y="2659777"/>
            <a:ext cx="4084638" cy="1107098"/>
          </a:xfrm>
          <a:prstGeom prst="rect">
            <a:avLst/>
          </a:prstGeom>
        </p:spPr>
        <p:txBody>
          <a:bodyPr wrap="square" lIns="0" rIns="146304">
            <a:sp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</p:txBody>
      </p:sp>
      <p:pic>
        <p:nvPicPr>
          <p:cNvPr id="18" name="Picture Placeholder 3" descr="A picture containing person, outdoor, tree, sky&#10;&#10;Description automatically generated">
            <a:extLst>
              <a:ext uri="{FF2B5EF4-FFF2-40B4-BE49-F238E27FC236}">
                <a16:creationId xmlns:a16="http://schemas.microsoft.com/office/drawing/2014/main" id="{0BB6D7DB-B73A-0243-8850-8A6DF3110E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1854" y="861933"/>
            <a:ext cx="4089612" cy="514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55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Layouts_Text-Image-Right_On-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EAC0B04-AB88-7340-B48E-3E355AE8AF83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bg1"/>
                </a:solidFill>
                <a:latin typeface="Bebas Neue Bold" charset="0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Bebas Neue Bold" charset="0"/>
              <a:ea typeface="Bebas Neue Bold" charset="0"/>
              <a:cs typeface="Bebas Neue Bold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719FFE-30C9-D349-8852-0B15361907C0}"/>
              </a:ext>
            </a:extLst>
          </p:cNvPr>
          <p:cNvCxnSpPr>
            <a:cxnSpLocks/>
          </p:cNvCxnSpPr>
          <p:nvPr userDrawn="1"/>
        </p:nvCxnSpPr>
        <p:spPr>
          <a:xfrm>
            <a:off x="977311" y="2679793"/>
            <a:ext cx="57242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Placeholder 3" descr="A picture containing person, outdoor, ground, beach&#10;&#10;Description automatically generated">
            <a:extLst>
              <a:ext uri="{FF2B5EF4-FFF2-40B4-BE49-F238E27FC236}">
                <a16:creationId xmlns:a16="http://schemas.microsoft.com/office/drawing/2014/main" id="{0A12B0FB-3E5A-0041-B073-553CF52D39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71464" y="0"/>
            <a:ext cx="7120531" cy="6858000"/>
          </a:xfrm>
          <a:prstGeom prst="rect">
            <a:avLst/>
          </a:prstGeom>
        </p:spPr>
      </p:pic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82793954-D041-5F47-948C-175EE20DEA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7311" y="3221697"/>
            <a:ext cx="2027092" cy="1363578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magna.</a:t>
            </a:r>
          </a:p>
        </p:txBody>
      </p:sp>
      <p:sp>
        <p:nvSpPr>
          <p:cNvPr id="20" name="Title 23">
            <a:extLst>
              <a:ext uri="{FF2B5EF4-FFF2-40B4-BE49-F238E27FC236}">
                <a16:creationId xmlns:a16="http://schemas.microsoft.com/office/drawing/2014/main" id="{5389FDE5-8D50-E74E-B81B-B56FC583F4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7311" y="1635512"/>
            <a:ext cx="3462823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695495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Layouts_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0" descr="A picture containing table, indoor, wall, person&#10;&#10;Description automatically generated">
            <a:extLst>
              <a:ext uri="{FF2B5EF4-FFF2-40B4-BE49-F238E27FC236}">
                <a16:creationId xmlns:a16="http://schemas.microsoft.com/office/drawing/2014/main" id="{2242CC62-F691-7945-92BA-5FDF5BD9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0480" y="0"/>
            <a:ext cx="2044805" cy="1836295"/>
          </a:xfrm>
          <a:prstGeom prst="rect">
            <a:avLst/>
          </a:prstGeom>
        </p:spPr>
      </p:pic>
      <p:pic>
        <p:nvPicPr>
          <p:cNvPr id="23" name="Picture Placeholder 49" descr="A person and person standing in a field&#10;&#10;Description automatically generated with low confidence">
            <a:extLst>
              <a:ext uri="{FF2B5EF4-FFF2-40B4-BE49-F238E27FC236}">
                <a16:creationId xmlns:a16="http://schemas.microsoft.com/office/drawing/2014/main" id="{B049427C-875A-624C-8092-DD6396D323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0480" y="1836295"/>
            <a:ext cx="2044805" cy="1836295"/>
          </a:xfrm>
          <a:prstGeom prst="rect">
            <a:avLst/>
          </a:prstGeom>
        </p:spPr>
      </p:pic>
      <p:pic>
        <p:nvPicPr>
          <p:cNvPr id="24" name="Picture Placeholder 51" descr="A group of people posing for a photo&#10;&#10;Description automatically generated with medium confidence">
            <a:extLst>
              <a:ext uri="{FF2B5EF4-FFF2-40B4-BE49-F238E27FC236}">
                <a16:creationId xmlns:a16="http://schemas.microsoft.com/office/drawing/2014/main" id="{549B0E37-43EE-8C4F-A2AD-AD9DBA5573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14326" y="1836295"/>
            <a:ext cx="2044805" cy="1836295"/>
          </a:xfrm>
          <a:prstGeom prst="rect">
            <a:avLst/>
          </a:prstGeom>
        </p:spPr>
      </p:pic>
      <p:pic>
        <p:nvPicPr>
          <p:cNvPr id="25" name="Picture Placeholder 24" descr="A picture containing person, indoor, computer&#10;&#10;Description automatically generated">
            <a:extLst>
              <a:ext uri="{FF2B5EF4-FFF2-40B4-BE49-F238E27FC236}">
                <a16:creationId xmlns:a16="http://schemas.microsoft.com/office/drawing/2014/main" id="{F24ACC56-8D77-2546-B332-79C49F9A57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59131" y="0"/>
            <a:ext cx="2044805" cy="1836295"/>
          </a:xfrm>
          <a:prstGeom prst="rect">
            <a:avLst/>
          </a:prstGeom>
        </p:spPr>
      </p:pic>
      <p:pic>
        <p:nvPicPr>
          <p:cNvPr id="26" name="Picture Placeholder 53" descr="A picture containing person, outdoor&#10;&#10;Description automatically generated">
            <a:extLst>
              <a:ext uri="{FF2B5EF4-FFF2-40B4-BE49-F238E27FC236}">
                <a16:creationId xmlns:a16="http://schemas.microsoft.com/office/drawing/2014/main" id="{D2012B53-C677-B945-8BFD-31CA99696D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59131" y="1836295"/>
            <a:ext cx="2044805" cy="1836295"/>
          </a:xfrm>
          <a:prstGeom prst="rect">
            <a:avLst/>
          </a:prstGeom>
        </p:spPr>
      </p:pic>
      <p:pic>
        <p:nvPicPr>
          <p:cNvPr id="27" name="Picture Placeholder 5" descr="A group of people posing for a photo&#10;&#10;Description automatically generated with medium confidence">
            <a:extLst>
              <a:ext uri="{FF2B5EF4-FFF2-40B4-BE49-F238E27FC236}">
                <a16:creationId xmlns:a16="http://schemas.microsoft.com/office/drawing/2014/main" id="{3870FC4A-86B6-574D-A6F0-09600EF6D4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3936" y="0"/>
            <a:ext cx="2044805" cy="1836295"/>
          </a:xfrm>
          <a:prstGeom prst="rect">
            <a:avLst/>
          </a:prstGeom>
        </p:spPr>
      </p:pic>
      <p:pic>
        <p:nvPicPr>
          <p:cNvPr id="28" name="Picture Placeholder 55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A2E0CB6C-76E4-5F4B-9FE9-779142CD8E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3936" y="1836295"/>
            <a:ext cx="2044805" cy="1836295"/>
          </a:xfrm>
          <a:prstGeom prst="rect">
            <a:avLst/>
          </a:prstGeom>
        </p:spPr>
      </p:pic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C6F7F326-0C38-2C49-9195-D4EFC1A96D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48740" y="0"/>
            <a:ext cx="2044805" cy="1836295"/>
          </a:xfrm>
          <a:prstGeom prst="rect">
            <a:avLst/>
          </a:prstGeom>
        </p:spPr>
      </p:pic>
      <p:pic>
        <p:nvPicPr>
          <p:cNvPr id="30" name="Picture Placeholder 47" descr="A group of women sitting on a bench&#10;&#10;Description automatically generated with medium confidence">
            <a:extLst>
              <a:ext uri="{FF2B5EF4-FFF2-40B4-BE49-F238E27FC236}">
                <a16:creationId xmlns:a16="http://schemas.microsoft.com/office/drawing/2014/main" id="{97CAC2CD-75B8-9149-B9D1-DED0BD68F2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93548" y="0"/>
            <a:ext cx="2044805" cy="1836295"/>
          </a:xfrm>
          <a:prstGeom prst="rect">
            <a:avLst/>
          </a:prstGeom>
        </p:spPr>
      </p:pic>
      <p:pic>
        <p:nvPicPr>
          <p:cNvPr id="31" name="Picture Placeholder 10" descr="A picture containing outdoor, person, crowd&#10;&#10;Description automatically generated">
            <a:extLst>
              <a:ext uri="{FF2B5EF4-FFF2-40B4-BE49-F238E27FC236}">
                <a16:creationId xmlns:a16="http://schemas.microsoft.com/office/drawing/2014/main" id="{F945703C-6C1A-D342-8905-170B352AC0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48740" y="1836295"/>
            <a:ext cx="2044805" cy="1836295"/>
          </a:xfrm>
          <a:prstGeom prst="rect">
            <a:avLst/>
          </a:prstGeom>
        </p:spPr>
      </p:pic>
      <p:pic>
        <p:nvPicPr>
          <p:cNvPr id="32" name="Picture Placeholder 6">
            <a:extLst>
              <a:ext uri="{FF2B5EF4-FFF2-40B4-BE49-F238E27FC236}">
                <a16:creationId xmlns:a16="http://schemas.microsoft.com/office/drawing/2014/main" id="{D78ADB99-66BA-4149-A412-F8DDEFB9FD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93338" y="1836295"/>
            <a:ext cx="2044700" cy="1836738"/>
          </a:xfrm>
          <a:prstGeom prst="rect">
            <a:avLst/>
          </a:prstGeom>
        </p:spPr>
      </p:pic>
      <p:pic>
        <p:nvPicPr>
          <p:cNvPr id="33" name="Picture Placeholder 11" descr="A couple of women sitting at a table with food&#10;&#10;Description automatically generated with low confidence">
            <a:extLst>
              <a:ext uri="{FF2B5EF4-FFF2-40B4-BE49-F238E27FC236}">
                <a16:creationId xmlns:a16="http://schemas.microsoft.com/office/drawing/2014/main" id="{9DBC2B69-DB87-9542-8046-9D9D34C101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14538" y="-443"/>
            <a:ext cx="2044700" cy="1836738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701253-D84B-424B-9D4F-BBB6E4723F8D}"/>
              </a:ext>
            </a:extLst>
          </p:cNvPr>
          <p:cNvCxnSpPr>
            <a:cxnSpLocks/>
          </p:cNvCxnSpPr>
          <p:nvPr/>
        </p:nvCxnSpPr>
        <p:spPr>
          <a:xfrm>
            <a:off x="3026659" y="4886712"/>
            <a:ext cx="343990" cy="0"/>
          </a:xfrm>
          <a:prstGeom prst="line">
            <a:avLst/>
          </a:prstGeom>
          <a:ln w="254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itle 23">
            <a:extLst>
              <a:ext uri="{FF2B5EF4-FFF2-40B4-BE49-F238E27FC236}">
                <a16:creationId xmlns:a16="http://schemas.microsoft.com/office/drawing/2014/main" id="{44E57321-5020-E449-88E0-AD8597A36B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4179171"/>
            <a:ext cx="2047875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2348B009-998D-794E-B5CA-031D62518A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27363" y="5069108"/>
            <a:ext cx="3499914" cy="64299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39" name="Subtext">
            <a:extLst>
              <a:ext uri="{FF2B5EF4-FFF2-40B4-BE49-F238E27FC236}">
                <a16:creationId xmlns:a16="http://schemas.microsoft.com/office/drawing/2014/main" id="{C3CFF7EE-EB71-0141-A2E2-8938E1055E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9488" y="4820578"/>
            <a:ext cx="1823673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DE7A9276-8365-C745-9679-AA84949E8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27363" y="4174318"/>
            <a:ext cx="3499914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9968AC5-4C33-7B4B-AA59-69F6B7E9FB46}"/>
              </a:ext>
            </a:extLst>
          </p:cNvPr>
          <p:cNvCxnSpPr>
            <a:cxnSpLocks/>
          </p:cNvCxnSpPr>
          <p:nvPr userDrawn="1"/>
        </p:nvCxnSpPr>
        <p:spPr>
          <a:xfrm>
            <a:off x="7114471" y="4886712"/>
            <a:ext cx="343990" cy="0"/>
          </a:xfrm>
          <a:prstGeom prst="line">
            <a:avLst/>
          </a:prstGeom>
          <a:ln w="254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89D4DE28-CF60-724C-A5B1-BA08B5392D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14471" y="5069108"/>
            <a:ext cx="3499914" cy="64299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1F572C28-437E-FB47-A3A0-DDE2ABA0DD6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14471" y="4174318"/>
            <a:ext cx="3499914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7DED2033-B10B-4004-8216-51157ECD2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99" y="6563298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99859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1312D7-627D-4028-9ABE-72503F98245B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  <p:pic>
        <p:nvPicPr>
          <p:cNvPr id="5" name="Picture 4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51BEFBA9-7055-4B87-B5B7-EE17D5245BBB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410" y="222288"/>
            <a:ext cx="400462" cy="436615"/>
          </a:xfrm>
          <a:prstGeom prst="rect">
            <a:avLst/>
          </a:prstGeom>
        </p:spPr>
      </p:pic>
      <p:pic>
        <p:nvPicPr>
          <p:cNvPr id="6" name="Picture 5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7FA6A61D-E6C9-4171-9D5A-53DA8D62F49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513" y="6428091"/>
            <a:ext cx="849359" cy="2076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C11D56-20E7-4753-AFE1-CF59926BBD47}"/>
              </a:ext>
            </a:extLst>
          </p:cNvPr>
          <p:cNvSpPr txBox="1"/>
          <p:nvPr userDrawn="1"/>
        </p:nvSpPr>
        <p:spPr>
          <a:xfrm>
            <a:off x="0" y="6599356"/>
            <a:ext cx="22259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E20074"/>
                </a:solidFill>
                <a:latin typeface="TeleNeo Office Medium" panose="020B0604040202090203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17777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4800" b="1" i="0" kern="1200" spc="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1200" b="1" i="0" kern="1200" spc="3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TeleNeo Office" panose="020B050404020209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17">
          <p15:clr>
            <a:srgbClr val="F26B43"/>
          </p15:clr>
        </p15:guide>
        <p15:guide id="3" pos="4482">
          <p15:clr>
            <a:srgbClr val="F26B43"/>
          </p15:clr>
        </p15:guide>
        <p15:guide id="4" pos="7055">
          <p15:clr>
            <a:srgbClr val="F26B43"/>
          </p15:clr>
        </p15:guide>
        <p15:guide id="5" pos="1907">
          <p15:clr>
            <a:srgbClr val="F26B43"/>
          </p15:clr>
        </p15:guide>
        <p15:guide id="6" pos="3194">
          <p15:clr>
            <a:srgbClr val="F26B43"/>
          </p15:clr>
        </p15:guide>
        <p15:guide id="7" pos="57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map.t-mobile.com/portals/ayibw7iw/OEMToolkit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map.t-mobile.com/portals/ayibw7iw/OEMToolkit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tropcs.mobi/en/home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406095-DCB4-4288-B97D-DE80623D16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2638" y="1124119"/>
            <a:ext cx="10011538" cy="947750"/>
          </a:xfrm>
        </p:spPr>
        <p:txBody>
          <a:bodyPr>
            <a:normAutofit fontScale="92500"/>
          </a:bodyPr>
          <a:lstStyle/>
          <a:p>
            <a:r>
              <a:rPr lang="en-US" dirty="0"/>
              <a:t>PRELOAD LAYOUT APPROVAL TEMPLATE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15AC4-E93E-44B9-8941-971D37435F9B}"/>
              </a:ext>
            </a:extLst>
          </p:cNvPr>
          <p:cNvSpPr txBox="1"/>
          <p:nvPr/>
        </p:nvSpPr>
        <p:spPr>
          <a:xfrm>
            <a:off x="1002638" y="1879540"/>
            <a:ext cx="63815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V5.3 – 8/4/2025</a:t>
            </a:r>
            <a:endParaRPr lang="en-US" dirty="0"/>
          </a:p>
          <a:p>
            <a:endParaRPr lang="en-US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38323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7D1AC7C-ECC1-433A-8F2F-2781AE3E8554}"/>
              </a:ext>
            </a:extLst>
          </p:cNvPr>
          <p:cNvSpPr txBox="1"/>
          <p:nvPr/>
        </p:nvSpPr>
        <p:spPr>
          <a:xfrm>
            <a:off x="153090" y="202740"/>
            <a:ext cx="4319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20074"/>
                </a:solidFill>
                <a:effectLst/>
                <a:uLnTx/>
                <a:uFillTx/>
                <a:latin typeface="TeleGrotesk Next Medium"/>
                <a:ea typeface="+mn-ea"/>
                <a:cs typeface="+mn-cs"/>
              </a:rPr>
              <a:t>OEM INSTRUCTIONS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7EEC1A7-A953-4532-865E-E1F278818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397505"/>
              </p:ext>
            </p:extLst>
          </p:nvPr>
        </p:nvGraphicFramePr>
        <p:xfrm>
          <a:off x="53503" y="951841"/>
          <a:ext cx="12084994" cy="5200334"/>
        </p:xfrm>
        <a:graphic>
          <a:graphicData uri="http://schemas.openxmlformats.org/drawingml/2006/table">
            <a:tbl>
              <a:tblPr/>
              <a:tblGrid>
                <a:gridCol w="1779872">
                  <a:extLst>
                    <a:ext uri="{9D8B030D-6E8A-4147-A177-3AD203B41FA5}">
                      <a16:colId xmlns:a16="http://schemas.microsoft.com/office/drawing/2014/main" val="916125074"/>
                    </a:ext>
                  </a:extLst>
                </a:gridCol>
                <a:gridCol w="10305122">
                  <a:extLst>
                    <a:ext uri="{9D8B030D-6E8A-4147-A177-3AD203B41FA5}">
                      <a16:colId xmlns:a16="http://schemas.microsoft.com/office/drawing/2014/main" val="1508330814"/>
                    </a:ext>
                  </a:extLst>
                </a:gridCol>
              </a:tblGrid>
              <a:tr h="3445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 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10551"/>
                  </a:ext>
                </a:extLst>
              </a:tr>
              <a:tr h="2455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Once your device is ranged, your TAM will create a JIRA Project for your device,  within the JIRA project they will create a JIRA issue called - SERVICE CONFIGURATION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9561348"/>
                  </a:ext>
                </a:extLst>
              </a:tr>
              <a:tr h="12276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The OEM will download the latest Blueprint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687784"/>
                  </a:ext>
                </a:extLst>
              </a:tr>
              <a:tr h="22177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a. OEM Will fill out the </a:t>
                      </a:r>
                      <a:r>
                        <a:rPr lang="en-US" sz="1200" b="1" i="0" u="none" strike="noStrike" dirty="0">
                          <a:solidFill>
                            <a:srgbClr val="CC0000"/>
                          </a:solidFill>
                          <a:effectLst/>
                          <a:latin typeface="Calibri" panose="020F0502020204030204" pitchFamily="34" charset="0"/>
                        </a:rPr>
                        <a:t>DEVICE INFORMATION TAB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370544"/>
                  </a:ext>
                </a:extLst>
              </a:tr>
              <a:tr h="2455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b. OEM Will fill in the </a:t>
                      </a:r>
                      <a:r>
                        <a:rPr lang="en-US" sz="1200" b="1" i="0" u="none" strike="noStrike" dirty="0">
                          <a:solidFill>
                            <a:srgbClr val="CC0000"/>
                          </a:solidFill>
                          <a:effectLst/>
                          <a:latin typeface="Calibri" panose="020F0502020204030204" pitchFamily="34" charset="0"/>
                        </a:rPr>
                        <a:t>OEM APPS AND GMS QUESTIONAIRE TAB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list all OEM preloads and related information as well as all the GMS apps your preloading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77626"/>
                  </a:ext>
                </a:extLst>
              </a:tr>
              <a:tr h="2455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c.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OEM will select compliance status for each application listed in the </a:t>
                      </a:r>
                      <a:r>
                        <a:rPr lang="en-US" sz="1200" b="1" i="0" u="none" strike="noStrike" dirty="0">
                          <a:solidFill>
                            <a:srgbClr val="CC0000"/>
                          </a:solidFill>
                          <a:effectLst/>
                          <a:latin typeface="Calibri" panose="020F0502020204030204" pitchFamily="34" charset="0"/>
                        </a:rPr>
                        <a:t>BRAND PRELOAD BLUEPRINT TAB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for non-comply or partial comply use the comments section to indicate why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673149"/>
                  </a:ext>
                </a:extLst>
              </a:tr>
              <a:tr h="198009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ALLOWLIST TAB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- OEM must support the Whitelist and Application Pre-Grant requirements listed here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5331893"/>
                  </a:ext>
                </a:extLst>
              </a:tr>
              <a:tr h="20989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The OEM will upload the completed Blueprint to the SERVICE CONFIGURATION ISSUE in JIRA and assign the ticket to Preload Blueprint Lead (PBL)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537045"/>
                  </a:ext>
                </a:extLst>
              </a:tr>
              <a:tr h="205929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The PBL will provide feedback in the ticket for any changes or discussion needed, when Service Config. is approved, the PBL will update the JIRA issue with APPROVED Status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934327"/>
                  </a:ext>
                </a:extLst>
              </a:tr>
              <a:tr h="12276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463368"/>
                  </a:ext>
                </a:extLst>
              </a:tr>
              <a:tr h="3445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 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217022"/>
                  </a:ext>
                </a:extLst>
              </a:tr>
              <a:tr h="12276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1038191"/>
                  </a:ext>
                </a:extLst>
              </a:tr>
              <a:tr h="178207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OEM will download the matching preload layout template from confluence and select appropriate size (4x5 or 5x5), for each brand.  Delete the Xx5 slides you are not using.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412089"/>
                  </a:ext>
                </a:extLst>
              </a:tr>
              <a:tr h="23761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OEM will edit each brand page to populate planned layout and SAVE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3143386"/>
                  </a:ext>
                </a:extLst>
              </a:tr>
              <a:tr h="221770"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OEM will attach the completed .ppt to the SERVICE CONFIGURATION JIRA Issue and assign to their Product Manager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547390"/>
                  </a:ext>
                </a:extLst>
              </a:tr>
              <a:tr h="22177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Any changes needed, or feedback will be entered by the PM into the JIRA issue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176031"/>
                  </a:ext>
                </a:extLst>
              </a:tr>
              <a:tr h="217810"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Once the layout is approved the Product Manager will update the ticket with APPROVED Status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125770"/>
                  </a:ext>
                </a:extLst>
              </a:tr>
              <a:tr h="198009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4870179"/>
                  </a:ext>
                </a:extLst>
              </a:tr>
              <a:tr h="3445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 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304423"/>
                  </a:ext>
                </a:extLst>
              </a:tr>
              <a:tr h="178207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Once the Service Configuration Ticket is approved, the Mobile Solutions Team will load the IP Pack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60017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86A8B46D-643C-43C9-8235-E69AA3F1A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4" y="1512063"/>
            <a:ext cx="1608475" cy="14895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B41C71-3F97-4F78-ABC2-B64595F7C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7" y="4092311"/>
            <a:ext cx="1608475" cy="142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43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F6CE8F3-90E9-41EA-B85D-3E81EDBE8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860273"/>
              </p:ext>
            </p:extLst>
          </p:nvPr>
        </p:nvGraphicFramePr>
        <p:xfrm>
          <a:off x="643467" y="1198686"/>
          <a:ext cx="10905066" cy="4460637"/>
        </p:xfrm>
        <a:graphic>
          <a:graphicData uri="http://schemas.openxmlformats.org/drawingml/2006/table">
            <a:tbl>
              <a:tblPr firstRow="1" bandRow="1"/>
              <a:tblGrid>
                <a:gridCol w="3891295">
                  <a:extLst>
                    <a:ext uri="{9D8B030D-6E8A-4147-A177-3AD203B41FA5}">
                      <a16:colId xmlns:a16="http://schemas.microsoft.com/office/drawing/2014/main" val="1068975568"/>
                    </a:ext>
                  </a:extLst>
                </a:gridCol>
                <a:gridCol w="7013771">
                  <a:extLst>
                    <a:ext uri="{9D8B030D-6E8A-4147-A177-3AD203B41FA5}">
                      <a16:colId xmlns:a16="http://schemas.microsoft.com/office/drawing/2014/main" val="1854465672"/>
                    </a:ext>
                  </a:extLst>
                </a:gridCol>
              </a:tblGrid>
              <a:tr h="88293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55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DEVICE INFORMATION</a:t>
                      </a:r>
                    </a:p>
                  </a:txBody>
                  <a:tcPr marL="11776" marR="11776" marT="117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315581"/>
                  </a:ext>
                </a:extLst>
              </a:tr>
              <a:tr h="35777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DEVICE OEM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TCL 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703193"/>
                  </a:ext>
                </a:extLst>
              </a:tr>
              <a:tr h="35777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NAME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Swing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132166"/>
                  </a:ext>
                </a:extLst>
              </a:tr>
              <a:tr h="35777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DEVICE MODEL NUMBER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T807W 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679889"/>
                  </a:ext>
                </a:extLst>
              </a:tr>
              <a:tr h="35777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LAUNCH DATE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2026-04-09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724334"/>
                  </a:ext>
                </a:extLst>
              </a:tr>
              <a:tr h="35777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OPERATING SYSTEM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Android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450148"/>
                  </a:ext>
                </a:extLst>
              </a:tr>
              <a:tr h="35777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OPERATING SYSTEM VERSION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Android 16 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316369"/>
                  </a:ext>
                </a:extLst>
              </a:tr>
              <a:tr h="35777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MEMORY CONFIGURATION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RAM: 8GB; ROM: 128GB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953223"/>
                  </a:ext>
                </a:extLst>
              </a:tr>
              <a:tr h="35777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 SPECIAL NOTES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N/A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8706912"/>
                  </a:ext>
                </a:extLst>
              </a:tr>
              <a:tr h="35777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LAUNCHING BRANDS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T-Mobile, Metro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125541"/>
                  </a:ext>
                </a:extLst>
              </a:tr>
              <a:tr h="35777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OEM AUTHOR OF THIS DOCUMENT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Xuesiwa Li </a:t>
                      </a:r>
                    </a:p>
                  </a:txBody>
                  <a:tcPr marL="11776" marR="11776" marT="117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8735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11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23DC44-F3F4-49E8-9281-BD4E386D9A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8188" y="2481250"/>
            <a:ext cx="5273279" cy="947750"/>
          </a:xfrm>
          <a:ln w="28575"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sz="6000" dirty="0"/>
              <a:t> SMARTPHONES</a:t>
            </a:r>
          </a:p>
        </p:txBody>
      </p:sp>
    </p:spTree>
    <p:extLst>
      <p:ext uri="{BB962C8B-B14F-4D97-AF65-F5344CB8AC3E}">
        <p14:creationId xmlns:p14="http://schemas.microsoft.com/office/powerpoint/2010/main" val="1298617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A4DEF40-9FAA-488A-8DC3-B93DDD0D686A}"/>
              </a:ext>
            </a:extLst>
          </p:cNvPr>
          <p:cNvSpPr txBox="1"/>
          <p:nvPr/>
        </p:nvSpPr>
        <p:spPr>
          <a:xfrm>
            <a:off x="391431" y="2782651"/>
            <a:ext cx="8244569" cy="52322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SMARTPHONE - T-MOBILE 4X5 SCREEN SIZE TEMPLATE</a:t>
            </a:r>
          </a:p>
        </p:txBody>
      </p:sp>
    </p:spTree>
    <p:extLst>
      <p:ext uri="{BB962C8B-B14F-4D97-AF65-F5344CB8AC3E}">
        <p14:creationId xmlns:p14="http://schemas.microsoft.com/office/powerpoint/2010/main" val="306579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E3429-7D77-5654-FC4C-5BEEB8CE9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BA1EFB-95CA-A410-9C0B-60397B8D64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484" y="31799"/>
            <a:ext cx="10750998" cy="947750"/>
          </a:xfrm>
        </p:spPr>
        <p:txBody>
          <a:bodyPr>
            <a:normAutofit/>
          </a:bodyPr>
          <a:lstStyle/>
          <a:p>
            <a:r>
              <a:rPr lang="en-US" sz="3200" dirty="0"/>
              <a:t>T-Mobile Brand 4x5 (Lock +Unlock)</a:t>
            </a:r>
          </a:p>
        </p:txBody>
      </p:sp>
      <p:pic>
        <p:nvPicPr>
          <p:cNvPr id="243" name="Picture 242">
            <a:extLst>
              <a:ext uri="{FF2B5EF4-FFF2-40B4-BE49-F238E27FC236}">
                <a16:creationId xmlns:a16="http://schemas.microsoft.com/office/drawing/2014/main" id="{7E382782-0C05-60C3-C3DA-CAA6E657F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647" y="31799"/>
            <a:ext cx="2163469" cy="652204"/>
          </a:xfrm>
          <a:prstGeom prst="rect">
            <a:avLst/>
          </a:prstGeom>
        </p:spPr>
      </p:pic>
      <p:sp>
        <p:nvSpPr>
          <p:cNvPr id="20" name="TextBox 11">
            <a:extLst>
              <a:ext uri="{FF2B5EF4-FFF2-40B4-BE49-F238E27FC236}">
                <a16:creationId xmlns:a16="http://schemas.microsoft.com/office/drawing/2014/main" id="{290DC5FB-98C5-38F5-AC61-5DFF9CB2B996}"/>
              </a:ext>
            </a:extLst>
          </p:cNvPr>
          <p:cNvSpPr txBox="1"/>
          <p:nvPr/>
        </p:nvSpPr>
        <p:spPr>
          <a:xfrm>
            <a:off x="864286" y="11823712"/>
            <a:ext cx="1463073" cy="272348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Google Discover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FEDE4E-AFFD-7A69-E34A-A23CA7B6A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513575"/>
              </p:ext>
            </p:extLst>
          </p:nvPr>
        </p:nvGraphicFramePr>
        <p:xfrm>
          <a:off x="460753" y="666025"/>
          <a:ext cx="4285417" cy="4537282"/>
        </p:xfrm>
        <a:graphic>
          <a:graphicData uri="http://schemas.openxmlformats.org/drawingml/2006/table">
            <a:tbl>
              <a:tblPr/>
              <a:tblGrid>
                <a:gridCol w="323199">
                  <a:extLst>
                    <a:ext uri="{9D8B030D-6E8A-4147-A177-3AD203B41FA5}">
                      <a16:colId xmlns:a16="http://schemas.microsoft.com/office/drawing/2014/main" val="1228511495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2385741718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1103440694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1765835962"/>
                    </a:ext>
                  </a:extLst>
                </a:gridCol>
                <a:gridCol w="227994">
                  <a:extLst>
                    <a:ext uri="{9D8B030D-6E8A-4147-A177-3AD203B41FA5}">
                      <a16:colId xmlns:a16="http://schemas.microsoft.com/office/drawing/2014/main" val="3032794130"/>
                    </a:ext>
                  </a:extLst>
                </a:gridCol>
                <a:gridCol w="276517">
                  <a:extLst>
                    <a:ext uri="{9D8B030D-6E8A-4147-A177-3AD203B41FA5}">
                      <a16:colId xmlns:a16="http://schemas.microsoft.com/office/drawing/2014/main" val="541524318"/>
                    </a:ext>
                  </a:extLst>
                </a:gridCol>
                <a:gridCol w="243662">
                  <a:extLst>
                    <a:ext uri="{9D8B030D-6E8A-4147-A177-3AD203B41FA5}">
                      <a16:colId xmlns:a16="http://schemas.microsoft.com/office/drawing/2014/main" val="1474041755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1875072607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713687494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187949098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2428798827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226785004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253820735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2729201000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4158537040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869102720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75585570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2255814577"/>
                    </a:ext>
                  </a:extLst>
                </a:gridCol>
                <a:gridCol w="323199">
                  <a:extLst>
                    <a:ext uri="{9D8B030D-6E8A-4147-A177-3AD203B41FA5}">
                      <a16:colId xmlns:a16="http://schemas.microsoft.com/office/drawing/2014/main" val="650234665"/>
                    </a:ext>
                  </a:extLst>
                </a:gridCol>
              </a:tblGrid>
              <a:tr h="20587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7"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Lock Screen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2099500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7049428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467476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7610089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3853100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0444886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239566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9189148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347693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496596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743560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3328931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844401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475292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3777908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4611063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258329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355017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054402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6340574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3350851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3952246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285896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035375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6936431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8764831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832905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5096240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078814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6201339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1655012"/>
                  </a:ext>
                </a:extLst>
              </a:tr>
              <a:tr h="134853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2736861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7553B8-4B9B-C62A-DAA5-0E76937C5E09}"/>
              </a:ext>
            </a:extLst>
          </p:cNvPr>
          <p:cNvGraphicFramePr>
            <a:graphicFrameLocks noGrp="1"/>
          </p:cNvGraphicFramePr>
          <p:nvPr/>
        </p:nvGraphicFramePr>
        <p:xfrm>
          <a:off x="5358006" y="684003"/>
          <a:ext cx="4285417" cy="4537282"/>
        </p:xfrm>
        <a:graphic>
          <a:graphicData uri="http://schemas.openxmlformats.org/drawingml/2006/table">
            <a:tbl>
              <a:tblPr/>
              <a:tblGrid>
                <a:gridCol w="323199">
                  <a:extLst>
                    <a:ext uri="{9D8B030D-6E8A-4147-A177-3AD203B41FA5}">
                      <a16:colId xmlns:a16="http://schemas.microsoft.com/office/drawing/2014/main" val="1228511495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2385741718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1103440694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1765835962"/>
                    </a:ext>
                  </a:extLst>
                </a:gridCol>
                <a:gridCol w="227994">
                  <a:extLst>
                    <a:ext uri="{9D8B030D-6E8A-4147-A177-3AD203B41FA5}">
                      <a16:colId xmlns:a16="http://schemas.microsoft.com/office/drawing/2014/main" val="3032794130"/>
                    </a:ext>
                  </a:extLst>
                </a:gridCol>
                <a:gridCol w="276517">
                  <a:extLst>
                    <a:ext uri="{9D8B030D-6E8A-4147-A177-3AD203B41FA5}">
                      <a16:colId xmlns:a16="http://schemas.microsoft.com/office/drawing/2014/main" val="541524318"/>
                    </a:ext>
                  </a:extLst>
                </a:gridCol>
                <a:gridCol w="243662">
                  <a:extLst>
                    <a:ext uri="{9D8B030D-6E8A-4147-A177-3AD203B41FA5}">
                      <a16:colId xmlns:a16="http://schemas.microsoft.com/office/drawing/2014/main" val="1474041755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1875072607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713687494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187949098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2428798827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226785004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253820735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2729201000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4158537040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869102720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75585570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2255814577"/>
                    </a:ext>
                  </a:extLst>
                </a:gridCol>
                <a:gridCol w="323199">
                  <a:extLst>
                    <a:ext uri="{9D8B030D-6E8A-4147-A177-3AD203B41FA5}">
                      <a16:colId xmlns:a16="http://schemas.microsoft.com/office/drawing/2014/main" val="650234665"/>
                    </a:ext>
                  </a:extLst>
                </a:gridCol>
              </a:tblGrid>
              <a:tr h="20587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7"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Unlock Screen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2099500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7049428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8" gridSpan="15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T-Play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8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8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8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8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8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8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8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8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8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467476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7610089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3853100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0444886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239566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9189148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347693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496596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743560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3328931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844401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475292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3777908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4611063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258329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355017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054402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6340574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3350851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3952246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285896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035375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6936431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8764831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832905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5096240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078814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6201339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1655012"/>
                  </a:ext>
                </a:extLst>
              </a:tr>
              <a:tr h="134853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273686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8E1C3E3-103E-D8C1-FA39-919D839F94F8}"/>
              </a:ext>
            </a:extLst>
          </p:cNvPr>
          <p:cNvSpPr txBox="1"/>
          <p:nvPr/>
        </p:nvSpPr>
        <p:spPr>
          <a:xfrm>
            <a:off x="606558" y="5206856"/>
            <a:ext cx="6050561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b"/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OEM Instructions: </a:t>
            </a:r>
            <a:r>
              <a:rPr lang="en-US" sz="1200" b="1" i="0" u="sng" strike="noStrike" dirty="0">
                <a:solidFill>
                  <a:srgbClr val="4472C4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br>
              <a:rPr lang="en-US" sz="12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Please provid</a:t>
            </a:r>
            <a:r>
              <a:rPr lang="en-US" sz="1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 the mapping or the device’s Lock and Unlock screen. Please feel free to 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populate the screens as you would with any other device screen. </a:t>
            </a:r>
            <a:endParaRPr lang="en-US" sz="1200" b="0" i="0" u="none" strike="noStrike">
              <a:solidFill>
                <a:srgbClr val="000000"/>
              </a:solidFill>
              <a:effectLst/>
              <a:latin typeface="Calibri" panose="020F0502020204030204" pitchFamily="34" charset="0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5539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EC0161-37B8-4239-94D4-D51FBC3CE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96235"/>
              </p:ext>
            </p:extLst>
          </p:nvPr>
        </p:nvGraphicFramePr>
        <p:xfrm>
          <a:off x="64484" y="743412"/>
          <a:ext cx="8267160" cy="3274155"/>
        </p:xfrm>
        <a:graphic>
          <a:graphicData uri="http://schemas.openxmlformats.org/drawingml/2006/table">
            <a:tbl>
              <a:tblPr/>
              <a:tblGrid>
                <a:gridCol w="312152">
                  <a:extLst>
                    <a:ext uri="{9D8B030D-6E8A-4147-A177-3AD203B41FA5}">
                      <a16:colId xmlns:a16="http://schemas.microsoft.com/office/drawing/2014/main" val="2319421680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487212139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258749514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688824913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730968431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11244628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1395468240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1248365158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671526487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663460518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530145382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905296186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898293556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419694876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088438126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953334433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396912946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094209283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503090355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699471188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134062529"/>
                    </a:ext>
                  </a:extLst>
                </a:gridCol>
                <a:gridCol w="27182">
                  <a:extLst>
                    <a:ext uri="{9D8B030D-6E8A-4147-A177-3AD203B41FA5}">
                      <a16:colId xmlns:a16="http://schemas.microsoft.com/office/drawing/2014/main" val="99170023"/>
                    </a:ext>
                  </a:extLst>
                </a:gridCol>
                <a:gridCol w="310370">
                  <a:extLst>
                    <a:ext uri="{9D8B030D-6E8A-4147-A177-3AD203B41FA5}">
                      <a16:colId xmlns:a16="http://schemas.microsoft.com/office/drawing/2014/main" val="3555223420"/>
                    </a:ext>
                  </a:extLst>
                </a:gridCol>
                <a:gridCol w="205964">
                  <a:extLst>
                    <a:ext uri="{9D8B030D-6E8A-4147-A177-3AD203B41FA5}">
                      <a16:colId xmlns:a16="http://schemas.microsoft.com/office/drawing/2014/main" val="1379327508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149334977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1482904265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526262848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244952669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045248005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805736153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367213290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153737210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501711133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4127103117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922930108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911570229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639499143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1398237310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348019073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72267440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15873548"/>
                    </a:ext>
                  </a:extLst>
                </a:gridCol>
                <a:gridCol w="205964">
                  <a:extLst>
                    <a:ext uri="{9D8B030D-6E8A-4147-A177-3AD203B41FA5}">
                      <a16:colId xmlns:a16="http://schemas.microsoft.com/office/drawing/2014/main" val="1228511495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385741718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1103440694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1765835962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032794130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541524318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1474041755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1875072607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713687494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187949098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428798827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226785004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253820735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729201000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4158537040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869102720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375585570"/>
                    </a:ext>
                  </a:extLst>
                </a:gridCol>
                <a:gridCol w="131588">
                  <a:extLst>
                    <a:ext uri="{9D8B030D-6E8A-4147-A177-3AD203B41FA5}">
                      <a16:colId xmlns:a16="http://schemas.microsoft.com/office/drawing/2014/main" val="2255814577"/>
                    </a:ext>
                  </a:extLst>
                </a:gridCol>
                <a:gridCol w="205964">
                  <a:extLst>
                    <a:ext uri="{9D8B030D-6E8A-4147-A177-3AD203B41FA5}">
                      <a16:colId xmlns:a16="http://schemas.microsoft.com/office/drawing/2014/main" val="650234665"/>
                    </a:ext>
                  </a:extLst>
                </a:gridCol>
              </a:tblGrid>
              <a:tr h="169463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1"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1L - Minus One Screen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7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Home- Screen 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7"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1R - Plus One Screen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2099500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049428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4" gridSpan="19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Assistant &amp; T-Mobile Play                                (-1 Minus One) page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15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Google Search (4x1)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467476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610089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853100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444886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395665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9189148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47693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4965967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435607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328931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8444015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8475292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777908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611063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583297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3550175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GOOGLE FOLDER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PLAYSTORE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GEMINI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T-MOBILE FOLDER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Amazon Shopping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0074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 Life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0074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TikTok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0459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85896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0353757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6936431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8764831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8329055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Google Messages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Camera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Chrome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Google Messages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Camera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Chrome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096240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788147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201339"/>
                  </a:ext>
                </a:extLst>
              </a:tr>
              <a:tr h="11514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655012"/>
                  </a:ext>
                </a:extLst>
              </a:tr>
              <a:tr h="111000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736861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4DFBEA-C9E3-485D-B4A5-063CDD2854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484" y="31799"/>
            <a:ext cx="10750998" cy="947750"/>
          </a:xfrm>
        </p:spPr>
        <p:txBody>
          <a:bodyPr>
            <a:normAutofit/>
          </a:bodyPr>
          <a:lstStyle/>
          <a:p>
            <a:r>
              <a:rPr lang="en-US" sz="3200" dirty="0"/>
              <a:t>T-Mobile Brand 4x5 (Homescreen + Panel Layout)</a:t>
            </a:r>
          </a:p>
        </p:txBody>
      </p: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5E9FBB07-CA2F-4F04-8D07-256E73ADB63A}"/>
              </a:ext>
            </a:extLst>
          </p:cNvPr>
          <p:cNvCxnSpPr>
            <a:cxnSpLocks/>
          </p:cNvCxnSpPr>
          <p:nvPr/>
        </p:nvCxnSpPr>
        <p:spPr>
          <a:xfrm>
            <a:off x="1611390" y="1031997"/>
            <a:ext cx="0" cy="6897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4" name="TextBox 4">
            <a:extLst>
              <a:ext uri="{FF2B5EF4-FFF2-40B4-BE49-F238E27FC236}">
                <a16:creationId xmlns:a16="http://schemas.microsoft.com/office/drawing/2014/main" id="{529360FF-3277-42AE-BDD2-D6A853A668D8}"/>
              </a:ext>
            </a:extLst>
          </p:cNvPr>
          <p:cNvSpPr txBox="1"/>
          <p:nvPr/>
        </p:nvSpPr>
        <p:spPr>
          <a:xfrm>
            <a:off x="426424" y="1031997"/>
            <a:ext cx="1167988" cy="35560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/>
              <a:t>Google Discover</a:t>
            </a:r>
          </a:p>
        </p:txBody>
      </p:sp>
      <p:sp>
        <p:nvSpPr>
          <p:cNvPr id="215" name="TextBox 5">
            <a:extLst>
              <a:ext uri="{FF2B5EF4-FFF2-40B4-BE49-F238E27FC236}">
                <a16:creationId xmlns:a16="http://schemas.microsoft.com/office/drawing/2014/main" id="{2D9499AB-111A-404A-B5AB-E769C643A71E}"/>
              </a:ext>
            </a:extLst>
          </p:cNvPr>
          <p:cNvSpPr txBox="1"/>
          <p:nvPr/>
        </p:nvSpPr>
        <p:spPr>
          <a:xfrm>
            <a:off x="1625372" y="1031997"/>
            <a:ext cx="1258506" cy="35560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/>
              <a:t>T-Mobile Play</a:t>
            </a:r>
          </a:p>
        </p:txBody>
      </p:sp>
      <p:graphicFrame>
        <p:nvGraphicFramePr>
          <p:cNvPr id="219" name="Table 218">
            <a:extLst>
              <a:ext uri="{FF2B5EF4-FFF2-40B4-BE49-F238E27FC236}">
                <a16:creationId xmlns:a16="http://schemas.microsoft.com/office/drawing/2014/main" id="{8B5D9A88-0849-46A4-A3CF-1F96880BB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757021"/>
              </p:ext>
            </p:extLst>
          </p:nvPr>
        </p:nvGraphicFramePr>
        <p:xfrm>
          <a:off x="8278045" y="742064"/>
          <a:ext cx="1669768" cy="2655570"/>
        </p:xfrm>
        <a:graphic>
          <a:graphicData uri="http://schemas.openxmlformats.org/drawingml/2006/table">
            <a:tbl>
              <a:tblPr/>
              <a:tblGrid>
                <a:gridCol w="199196">
                  <a:extLst>
                    <a:ext uri="{9D8B030D-6E8A-4147-A177-3AD203B41FA5}">
                      <a16:colId xmlns:a16="http://schemas.microsoft.com/office/drawing/2014/main" val="3072099247"/>
                    </a:ext>
                  </a:extLst>
                </a:gridCol>
                <a:gridCol w="199196">
                  <a:extLst>
                    <a:ext uri="{9D8B030D-6E8A-4147-A177-3AD203B41FA5}">
                      <a16:colId xmlns:a16="http://schemas.microsoft.com/office/drawing/2014/main" val="2660851657"/>
                    </a:ext>
                  </a:extLst>
                </a:gridCol>
                <a:gridCol w="199196">
                  <a:extLst>
                    <a:ext uri="{9D8B030D-6E8A-4147-A177-3AD203B41FA5}">
                      <a16:colId xmlns:a16="http://schemas.microsoft.com/office/drawing/2014/main" val="4051570774"/>
                    </a:ext>
                  </a:extLst>
                </a:gridCol>
                <a:gridCol w="199196">
                  <a:extLst>
                    <a:ext uri="{9D8B030D-6E8A-4147-A177-3AD203B41FA5}">
                      <a16:colId xmlns:a16="http://schemas.microsoft.com/office/drawing/2014/main" val="841299941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697608583"/>
                    </a:ext>
                  </a:extLst>
                </a:gridCol>
                <a:gridCol w="199196">
                  <a:extLst>
                    <a:ext uri="{9D8B030D-6E8A-4147-A177-3AD203B41FA5}">
                      <a16:colId xmlns:a16="http://schemas.microsoft.com/office/drawing/2014/main" val="2261431747"/>
                    </a:ext>
                  </a:extLst>
                </a:gridCol>
                <a:gridCol w="199196">
                  <a:extLst>
                    <a:ext uri="{9D8B030D-6E8A-4147-A177-3AD203B41FA5}">
                      <a16:colId xmlns:a16="http://schemas.microsoft.com/office/drawing/2014/main" val="2738975599"/>
                    </a:ext>
                  </a:extLst>
                </a:gridCol>
                <a:gridCol w="199196">
                  <a:extLst>
                    <a:ext uri="{9D8B030D-6E8A-4147-A177-3AD203B41FA5}">
                      <a16:colId xmlns:a16="http://schemas.microsoft.com/office/drawing/2014/main" val="54138011"/>
                    </a:ext>
                  </a:extLst>
                </a:gridCol>
                <a:gridCol w="199196">
                  <a:extLst>
                    <a:ext uri="{9D8B030D-6E8A-4147-A177-3AD203B41FA5}">
                      <a16:colId xmlns:a16="http://schemas.microsoft.com/office/drawing/2014/main" val="3602541442"/>
                    </a:ext>
                  </a:extLst>
                </a:gridCol>
              </a:tblGrid>
              <a:tr h="163674"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T-Mobile Folder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007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593485"/>
                  </a:ext>
                </a:extLst>
              </a:tr>
              <a:tr h="12961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5454"/>
                  </a:ext>
                </a:extLst>
              </a:tr>
              <a:tr h="12961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T-Mobile Play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629493"/>
                  </a:ext>
                </a:extLst>
              </a:tr>
              <a:tr h="12961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159240"/>
                  </a:ext>
                </a:extLst>
              </a:tr>
              <a:tr h="12961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367054"/>
                  </a:ext>
                </a:extLst>
              </a:tr>
              <a:tr h="12961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705827"/>
                  </a:ext>
                </a:extLst>
              </a:tr>
              <a:tr h="12961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Visual Voicemail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1100" b="1" i="0" u="none" strike="sng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681097"/>
                  </a:ext>
                </a:extLst>
              </a:tr>
              <a:tr h="12961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0357925"/>
                  </a:ext>
                </a:extLst>
              </a:tr>
              <a:tr h="12961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990450"/>
                  </a:ext>
                </a:extLst>
              </a:tr>
              <a:tr h="12961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885689"/>
                  </a:ext>
                </a:extLst>
              </a:tr>
              <a:tr h="12961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42577"/>
                  </a:ext>
                </a:extLst>
              </a:tr>
              <a:tr h="12961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782762"/>
                  </a:ext>
                </a:extLst>
              </a:tr>
              <a:tr h="12961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073934"/>
                  </a:ext>
                </a:extLst>
              </a:tr>
              <a:tr h="12961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527355"/>
                  </a:ext>
                </a:extLst>
              </a:tr>
              <a:tr h="129615"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Folder Created by CM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319942"/>
                  </a:ext>
                </a:extLst>
              </a:tr>
            </a:tbl>
          </a:graphicData>
        </a:graphic>
      </p:graphicFrame>
      <p:cxnSp>
        <p:nvCxnSpPr>
          <p:cNvPr id="221" name="Connector: Elbow 220">
            <a:extLst>
              <a:ext uri="{FF2B5EF4-FFF2-40B4-BE49-F238E27FC236}">
                <a16:creationId xmlns:a16="http://schemas.microsoft.com/office/drawing/2014/main" id="{3C3CAFFA-D35E-488C-AC17-5656F52B2BBC}"/>
              </a:ext>
            </a:extLst>
          </p:cNvPr>
          <p:cNvCxnSpPr>
            <a:cxnSpLocks/>
            <a:endCxn id="219" idx="2"/>
          </p:cNvCxnSpPr>
          <p:nvPr/>
        </p:nvCxnSpPr>
        <p:spPr>
          <a:xfrm>
            <a:off x="5581564" y="3045242"/>
            <a:ext cx="3531365" cy="352392"/>
          </a:xfrm>
          <a:prstGeom prst="bentConnector4">
            <a:avLst>
              <a:gd name="adj1" fmla="val 5689"/>
              <a:gd name="adj2" fmla="val 36315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0" name="Table 229">
            <a:extLst>
              <a:ext uri="{FF2B5EF4-FFF2-40B4-BE49-F238E27FC236}">
                <a16:creationId xmlns:a16="http://schemas.microsoft.com/office/drawing/2014/main" id="{FD363AB1-CF80-413A-83A3-E3976F48C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68099"/>
              </p:ext>
            </p:extLst>
          </p:nvPr>
        </p:nvGraphicFramePr>
        <p:xfrm>
          <a:off x="324401" y="4358960"/>
          <a:ext cx="4842150" cy="1959610"/>
        </p:xfrm>
        <a:graphic>
          <a:graphicData uri="http://schemas.openxmlformats.org/drawingml/2006/table">
            <a:tbl>
              <a:tblPr/>
              <a:tblGrid>
                <a:gridCol w="193686">
                  <a:extLst>
                    <a:ext uri="{9D8B030D-6E8A-4147-A177-3AD203B41FA5}">
                      <a16:colId xmlns:a16="http://schemas.microsoft.com/office/drawing/2014/main" val="3668995254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22988551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347258237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887936937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1318809100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695280320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470221836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216682646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355972019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578656401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123117071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320401500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16105740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428869703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882220615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809203488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97926968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073156503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469739955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1677353316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783650352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043479574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1599976022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942200419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114388392"/>
                    </a:ext>
                  </a:extLst>
                </a:gridCol>
              </a:tblGrid>
              <a:tr h="63404">
                <a:tc gridSpan="25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Google Folder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249396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596179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Calendar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Wallet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Chrome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018275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365489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5294176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0894459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Home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One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Search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432401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345979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045608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047355"/>
                  </a:ext>
                </a:extLst>
              </a:tr>
              <a:tr h="121273">
                <a:tc gridSpan="25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Folder Created by OEM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572867"/>
                  </a:ext>
                </a:extLst>
              </a:tr>
            </a:tbl>
          </a:graphicData>
        </a:graphic>
      </p:graphicFrame>
      <p:cxnSp>
        <p:nvCxnSpPr>
          <p:cNvPr id="239" name="Connector: Elbow 238">
            <a:extLst>
              <a:ext uri="{FF2B5EF4-FFF2-40B4-BE49-F238E27FC236}">
                <a16:creationId xmlns:a16="http://schemas.microsoft.com/office/drawing/2014/main" id="{7E592D28-9836-4A22-9374-6878C0E2F011}"/>
              </a:ext>
            </a:extLst>
          </p:cNvPr>
          <p:cNvCxnSpPr>
            <a:cxnSpLocks/>
          </p:cNvCxnSpPr>
          <p:nvPr/>
        </p:nvCxnSpPr>
        <p:spPr>
          <a:xfrm rot="5400000">
            <a:off x="2953005" y="3476763"/>
            <a:ext cx="1057501" cy="558569"/>
          </a:xfrm>
          <a:prstGeom prst="bentConnector3">
            <a:avLst>
              <a:gd name="adj1" fmla="val 13613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3" name="Picture 242">
            <a:extLst>
              <a:ext uri="{FF2B5EF4-FFF2-40B4-BE49-F238E27FC236}">
                <a16:creationId xmlns:a16="http://schemas.microsoft.com/office/drawing/2014/main" id="{16DAAD4E-E7A0-4A13-90CE-032F71D27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647" y="31799"/>
            <a:ext cx="2163469" cy="652204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9CFF15-0E84-4576-8410-A2577D0E445B}"/>
              </a:ext>
            </a:extLst>
          </p:cNvPr>
          <p:cNvCxnSpPr>
            <a:cxnSpLocks/>
          </p:cNvCxnSpPr>
          <p:nvPr/>
        </p:nvCxnSpPr>
        <p:spPr>
          <a:xfrm>
            <a:off x="2745476" y="11682424"/>
            <a:ext cx="28" cy="5081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1">
            <a:extLst>
              <a:ext uri="{FF2B5EF4-FFF2-40B4-BE49-F238E27FC236}">
                <a16:creationId xmlns:a16="http://schemas.microsoft.com/office/drawing/2014/main" id="{2FF09C95-3D1A-43DA-B8C1-971FF82A1A15}"/>
              </a:ext>
            </a:extLst>
          </p:cNvPr>
          <p:cNvSpPr txBox="1"/>
          <p:nvPr/>
        </p:nvSpPr>
        <p:spPr>
          <a:xfrm>
            <a:off x="864286" y="11823712"/>
            <a:ext cx="1463073" cy="272348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Google Discover</a:t>
            </a: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066D3A9B-B4F6-4B28-AFFD-E0182F468E54}"/>
              </a:ext>
            </a:extLst>
          </p:cNvPr>
          <p:cNvSpPr txBox="1"/>
          <p:nvPr/>
        </p:nvSpPr>
        <p:spPr>
          <a:xfrm>
            <a:off x="864287" y="11823712"/>
            <a:ext cx="1460251" cy="268812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Google Discover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7E56E24B-2A55-4DF5-A2BC-23AFD286585C}"/>
              </a:ext>
            </a:extLst>
          </p:cNvPr>
          <p:cNvSpPr txBox="1"/>
          <p:nvPr/>
        </p:nvSpPr>
        <p:spPr>
          <a:xfrm>
            <a:off x="3104250" y="11834823"/>
            <a:ext cx="1460250" cy="260559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T-Mobile Play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4E75D1-7307-4468-B470-B3FD7D96899D}"/>
              </a:ext>
            </a:extLst>
          </p:cNvPr>
          <p:cNvSpPr txBox="1"/>
          <p:nvPr/>
        </p:nvSpPr>
        <p:spPr>
          <a:xfrm>
            <a:off x="5979252" y="4914259"/>
            <a:ext cx="60505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/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Customization Files may be found here: 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1200" b="1" i="0" u="sng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  <a:hlinkClick r:id="rId3"/>
              </a:rPr>
              <a:t>https://tmap.t-mobile.com/portals/ayibw7iw/OEMToolkit</a:t>
            </a:r>
            <a:r>
              <a:rPr lang="en-US" sz="1200" b="1" i="0" u="sng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 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This includes brand specific: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     •Power Up / Boot File animation and mnemonic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     •Ringtones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     •T-Mobile / Metro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19726A9-B468-3CA9-F912-4257DFEE5E35}"/>
              </a:ext>
            </a:extLst>
          </p:cNvPr>
          <p:cNvSpPr/>
          <p:nvPr/>
        </p:nvSpPr>
        <p:spPr>
          <a:xfrm>
            <a:off x="6096000" y="2496174"/>
            <a:ext cx="1823049" cy="143509"/>
          </a:xfrm>
          <a:prstGeom prst="round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spc="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AUCTION ROW</a:t>
            </a:r>
          </a:p>
        </p:txBody>
      </p:sp>
    </p:spTree>
    <p:extLst>
      <p:ext uri="{BB962C8B-B14F-4D97-AF65-F5344CB8AC3E}">
        <p14:creationId xmlns:p14="http://schemas.microsoft.com/office/powerpoint/2010/main" val="2229623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4DFBEA-C9E3-485D-B4A5-063CDD2854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484" y="31799"/>
            <a:ext cx="10750998" cy="947750"/>
          </a:xfrm>
        </p:spPr>
        <p:txBody>
          <a:bodyPr>
            <a:normAutofit/>
          </a:bodyPr>
          <a:lstStyle/>
          <a:p>
            <a:r>
              <a:rPr lang="en-US" sz="3200" dirty="0"/>
              <a:t>T-Mobile Brand 4x5 (APP TRAY)</a:t>
            </a:r>
          </a:p>
        </p:txBody>
      </p:sp>
      <p:pic>
        <p:nvPicPr>
          <p:cNvPr id="243" name="Picture 242">
            <a:extLst>
              <a:ext uri="{FF2B5EF4-FFF2-40B4-BE49-F238E27FC236}">
                <a16:creationId xmlns:a16="http://schemas.microsoft.com/office/drawing/2014/main" id="{16DAAD4E-E7A0-4A13-90CE-032F71D27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013" y="52139"/>
            <a:ext cx="2163469" cy="652204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84BD0EE-3F05-478F-935E-D48024FC8E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330286"/>
              </p:ext>
            </p:extLst>
          </p:nvPr>
        </p:nvGraphicFramePr>
        <p:xfrm>
          <a:off x="8733008" y="3953150"/>
          <a:ext cx="1298732" cy="215901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298732">
                  <a:extLst>
                    <a:ext uri="{9D8B030D-6E8A-4147-A177-3AD203B41FA5}">
                      <a16:colId xmlns:a16="http://schemas.microsoft.com/office/drawing/2014/main" val="4283747700"/>
                    </a:ext>
                  </a:extLst>
                </a:gridCol>
              </a:tblGrid>
              <a:tr h="27347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OEM FOLDER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214296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456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39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691460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50639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052009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070764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5444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82C608A-E4A4-4FE4-83C8-D28C15169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726936"/>
              </p:ext>
            </p:extLst>
          </p:nvPr>
        </p:nvGraphicFramePr>
        <p:xfrm>
          <a:off x="10199736" y="3796575"/>
          <a:ext cx="1223344" cy="215901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223344">
                  <a:extLst>
                    <a:ext uri="{9D8B030D-6E8A-4147-A177-3AD203B41FA5}">
                      <a16:colId xmlns:a16="http://schemas.microsoft.com/office/drawing/2014/main" val="4283747700"/>
                    </a:ext>
                  </a:extLst>
                </a:gridCol>
              </a:tblGrid>
              <a:tr h="273476">
                <a:tc>
                  <a:txBody>
                    <a:bodyPr/>
                    <a:lstStyle/>
                    <a:p>
                      <a:r>
                        <a:rPr lang="en-US" sz="1100" dirty="0"/>
                        <a:t> OTHER FOLDER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214296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456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39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691460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50639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052009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070764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54444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B103680-3495-417B-9674-4F78F99BB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628964"/>
              </p:ext>
            </p:extLst>
          </p:nvPr>
        </p:nvGraphicFramePr>
        <p:xfrm>
          <a:off x="6488894" y="3796575"/>
          <a:ext cx="1728018" cy="2655570"/>
        </p:xfrm>
        <a:graphic>
          <a:graphicData uri="http://schemas.openxmlformats.org/drawingml/2006/table">
            <a:tbl>
              <a:tblPr/>
              <a:tblGrid>
                <a:gridCol w="206145">
                  <a:extLst>
                    <a:ext uri="{9D8B030D-6E8A-4147-A177-3AD203B41FA5}">
                      <a16:colId xmlns:a16="http://schemas.microsoft.com/office/drawing/2014/main" val="3072099247"/>
                    </a:ext>
                  </a:extLst>
                </a:gridCol>
                <a:gridCol w="206145">
                  <a:extLst>
                    <a:ext uri="{9D8B030D-6E8A-4147-A177-3AD203B41FA5}">
                      <a16:colId xmlns:a16="http://schemas.microsoft.com/office/drawing/2014/main" val="2660851657"/>
                    </a:ext>
                  </a:extLst>
                </a:gridCol>
                <a:gridCol w="206145">
                  <a:extLst>
                    <a:ext uri="{9D8B030D-6E8A-4147-A177-3AD203B41FA5}">
                      <a16:colId xmlns:a16="http://schemas.microsoft.com/office/drawing/2014/main" val="4051570774"/>
                    </a:ext>
                  </a:extLst>
                </a:gridCol>
                <a:gridCol w="206145">
                  <a:extLst>
                    <a:ext uri="{9D8B030D-6E8A-4147-A177-3AD203B41FA5}">
                      <a16:colId xmlns:a16="http://schemas.microsoft.com/office/drawing/2014/main" val="841299941"/>
                    </a:ext>
                  </a:extLst>
                </a:gridCol>
                <a:gridCol w="78858">
                  <a:extLst>
                    <a:ext uri="{9D8B030D-6E8A-4147-A177-3AD203B41FA5}">
                      <a16:colId xmlns:a16="http://schemas.microsoft.com/office/drawing/2014/main" val="2697608583"/>
                    </a:ext>
                  </a:extLst>
                </a:gridCol>
                <a:gridCol w="206145">
                  <a:extLst>
                    <a:ext uri="{9D8B030D-6E8A-4147-A177-3AD203B41FA5}">
                      <a16:colId xmlns:a16="http://schemas.microsoft.com/office/drawing/2014/main" val="2261431747"/>
                    </a:ext>
                  </a:extLst>
                </a:gridCol>
                <a:gridCol w="206145">
                  <a:extLst>
                    <a:ext uri="{9D8B030D-6E8A-4147-A177-3AD203B41FA5}">
                      <a16:colId xmlns:a16="http://schemas.microsoft.com/office/drawing/2014/main" val="2738975599"/>
                    </a:ext>
                  </a:extLst>
                </a:gridCol>
                <a:gridCol w="206145">
                  <a:extLst>
                    <a:ext uri="{9D8B030D-6E8A-4147-A177-3AD203B41FA5}">
                      <a16:colId xmlns:a16="http://schemas.microsoft.com/office/drawing/2014/main" val="54138011"/>
                    </a:ext>
                  </a:extLst>
                </a:gridCol>
                <a:gridCol w="206145">
                  <a:extLst>
                    <a:ext uri="{9D8B030D-6E8A-4147-A177-3AD203B41FA5}">
                      <a16:colId xmlns:a16="http://schemas.microsoft.com/office/drawing/2014/main" val="3602541442"/>
                    </a:ext>
                  </a:extLst>
                </a:gridCol>
              </a:tblGrid>
              <a:tr h="211476"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T-Mobile Folder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007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593485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5454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T-Mobile Play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629493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159240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367054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705827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Visual Voicemail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1100" b="1" i="0" u="none" strike="sng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681097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0357925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990450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885689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42577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782762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073934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527355"/>
                  </a:ext>
                </a:extLst>
              </a:tr>
              <a:tr h="167470"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Folder Created by CM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31994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65C2058-AF86-4C1C-B095-AD6AFDE77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964879"/>
              </p:ext>
            </p:extLst>
          </p:nvPr>
        </p:nvGraphicFramePr>
        <p:xfrm>
          <a:off x="226405" y="4646156"/>
          <a:ext cx="4842150" cy="1959610"/>
        </p:xfrm>
        <a:graphic>
          <a:graphicData uri="http://schemas.openxmlformats.org/drawingml/2006/table">
            <a:tbl>
              <a:tblPr/>
              <a:tblGrid>
                <a:gridCol w="193686">
                  <a:extLst>
                    <a:ext uri="{9D8B030D-6E8A-4147-A177-3AD203B41FA5}">
                      <a16:colId xmlns:a16="http://schemas.microsoft.com/office/drawing/2014/main" val="3668995254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22988551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347258237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887936937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1318809100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695280320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470221836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216682646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355972019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578656401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123117071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320401500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16105740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428869703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882220615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809203488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97926968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073156503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469739955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1677353316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783650352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043479574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1599976022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942200419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114388392"/>
                    </a:ext>
                  </a:extLst>
                </a:gridCol>
              </a:tblGrid>
              <a:tr h="63404">
                <a:tc gridSpan="25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Google Folder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249396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596179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Calendar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Wallet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Chrome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018275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365489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5294176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0894459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Home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One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Search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432401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345979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045608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047355"/>
                  </a:ext>
                </a:extLst>
              </a:tr>
              <a:tr h="121273">
                <a:tc gridSpan="25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Folder Created by OEM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572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6739E3-E190-49D0-BAFB-3E611ECDF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467620"/>
              </p:ext>
            </p:extLst>
          </p:nvPr>
        </p:nvGraphicFramePr>
        <p:xfrm>
          <a:off x="64484" y="658177"/>
          <a:ext cx="2658306" cy="3809952"/>
        </p:xfrm>
        <a:graphic>
          <a:graphicData uri="http://schemas.openxmlformats.org/drawingml/2006/table">
            <a:tbl>
              <a:tblPr/>
              <a:tblGrid>
                <a:gridCol w="206694">
                  <a:extLst>
                    <a:ext uri="{9D8B030D-6E8A-4147-A177-3AD203B41FA5}">
                      <a16:colId xmlns:a16="http://schemas.microsoft.com/office/drawing/2014/main" val="567885774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3796951820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763050868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48264384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285632916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3477863979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3295058144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3532864766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212963500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2868736158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368651000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2329397121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148893673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3004013726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3961217591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3762343034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1133969293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1591511040"/>
                    </a:ext>
                  </a:extLst>
                </a:gridCol>
                <a:gridCol w="206694">
                  <a:extLst>
                    <a:ext uri="{9D8B030D-6E8A-4147-A177-3AD203B41FA5}">
                      <a16:colId xmlns:a16="http://schemas.microsoft.com/office/drawing/2014/main" val="1419320222"/>
                    </a:ext>
                  </a:extLst>
                </a:gridCol>
              </a:tblGrid>
              <a:tr h="13644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7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APP TRAY 1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292620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4230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43511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090153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571517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810638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205984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461691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099842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041736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1956089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020049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495695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437557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7951514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583240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1568098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6222117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97020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603711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733858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155394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337868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Phone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Google Messages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Camera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Chrome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098878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6071489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143924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572278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62594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67BC488-3427-4637-9128-22A891D24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130147"/>
              </p:ext>
            </p:extLst>
          </p:nvPr>
        </p:nvGraphicFramePr>
        <p:xfrm>
          <a:off x="2447193" y="658177"/>
          <a:ext cx="2658306" cy="3809952"/>
        </p:xfrm>
        <a:graphic>
          <a:graphicData uri="http://schemas.openxmlformats.org/drawingml/2006/table">
            <a:tbl>
              <a:tblPr/>
              <a:tblGrid>
                <a:gridCol w="206694">
                  <a:extLst>
                    <a:ext uri="{9D8B030D-6E8A-4147-A177-3AD203B41FA5}">
                      <a16:colId xmlns:a16="http://schemas.microsoft.com/office/drawing/2014/main" val="567885774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3796951820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763050868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48264384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285632916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3477863979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3295058144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3532864766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212963500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2868736158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368651000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2329397121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148893673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3004013726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3961217591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3762343034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1133969293"/>
                    </a:ext>
                  </a:extLst>
                </a:gridCol>
                <a:gridCol w="132054">
                  <a:extLst>
                    <a:ext uri="{9D8B030D-6E8A-4147-A177-3AD203B41FA5}">
                      <a16:colId xmlns:a16="http://schemas.microsoft.com/office/drawing/2014/main" val="1591511040"/>
                    </a:ext>
                  </a:extLst>
                </a:gridCol>
                <a:gridCol w="206694">
                  <a:extLst>
                    <a:ext uri="{9D8B030D-6E8A-4147-A177-3AD203B41FA5}">
                      <a16:colId xmlns:a16="http://schemas.microsoft.com/office/drawing/2014/main" val="1419320222"/>
                    </a:ext>
                  </a:extLst>
                </a:gridCol>
              </a:tblGrid>
              <a:tr h="13644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7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APP TRAY 2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292620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4230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43511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090153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571517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810638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205984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461691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099842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041736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1956089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020049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495695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437557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7951514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583240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1568098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6222117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97020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603711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733858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155394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337868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Phone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Google Messages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Camera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Chrome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098878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6071489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143924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572278"/>
                  </a:ext>
                </a:extLst>
              </a:tr>
              <a:tr h="13530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62594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39602B8-F4B6-4447-B444-226E200D7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335609"/>
              </p:ext>
            </p:extLst>
          </p:nvPr>
        </p:nvGraphicFramePr>
        <p:xfrm>
          <a:off x="6257759" y="872164"/>
          <a:ext cx="5486400" cy="274955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5221175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 App Tray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a.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applications should be placed in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folder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b. Ensure Google One is preloaded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c. OEM applications should be placed in OEM folder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d. OEM applications must be reviewed and approved prior to RC1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 Applications okay to appear in app tray (not in folder)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Calculator</a:t>
                      </a:r>
                    </a:p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Calendar</a:t>
                      </a:r>
                    </a:p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Camera</a:t>
                      </a:r>
                    </a:p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Clock </a:t>
                      </a:r>
                    </a:p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Contacts</a:t>
                      </a:r>
                    </a:p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Files</a:t>
                      </a:r>
                    </a:p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Android Messages</a:t>
                      </a:r>
                    </a:p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Phone</a:t>
                      </a:r>
                    </a:p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Settings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9223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4711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A4DEF40-9FAA-488A-8DC3-B93DDD0D686A}"/>
              </a:ext>
            </a:extLst>
          </p:cNvPr>
          <p:cNvSpPr txBox="1"/>
          <p:nvPr/>
        </p:nvSpPr>
        <p:spPr>
          <a:xfrm>
            <a:off x="372381" y="2776301"/>
            <a:ext cx="7902375" cy="52322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SMARTPHONE - METRO 4X5 SCREEN SIZE TEMPLATE</a:t>
            </a:r>
          </a:p>
        </p:txBody>
      </p:sp>
    </p:spTree>
    <p:extLst>
      <p:ext uri="{BB962C8B-B14F-4D97-AF65-F5344CB8AC3E}">
        <p14:creationId xmlns:p14="http://schemas.microsoft.com/office/powerpoint/2010/main" val="2927284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A1DE5-698D-F95E-61FB-37138235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E5DEB0-D1E9-D6EF-3BA8-053A997EA9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484" y="31799"/>
            <a:ext cx="10750998" cy="94775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Metro Brand 4x5 (Lock +Unlock)</a:t>
            </a:r>
          </a:p>
        </p:txBody>
      </p:sp>
      <p:pic>
        <p:nvPicPr>
          <p:cNvPr id="243" name="Picture 242">
            <a:extLst>
              <a:ext uri="{FF2B5EF4-FFF2-40B4-BE49-F238E27FC236}">
                <a16:creationId xmlns:a16="http://schemas.microsoft.com/office/drawing/2014/main" id="{BF97C222-EE1A-FCB1-7F41-E89F81010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811" y="31799"/>
            <a:ext cx="2163469" cy="652204"/>
          </a:xfrm>
          <a:prstGeom prst="rect">
            <a:avLst/>
          </a:prstGeom>
        </p:spPr>
      </p:pic>
      <p:sp>
        <p:nvSpPr>
          <p:cNvPr id="20" name="TextBox 11">
            <a:extLst>
              <a:ext uri="{FF2B5EF4-FFF2-40B4-BE49-F238E27FC236}">
                <a16:creationId xmlns:a16="http://schemas.microsoft.com/office/drawing/2014/main" id="{A5E63F71-F105-1796-D538-965969CEE3DF}"/>
              </a:ext>
            </a:extLst>
          </p:cNvPr>
          <p:cNvSpPr txBox="1"/>
          <p:nvPr/>
        </p:nvSpPr>
        <p:spPr>
          <a:xfrm>
            <a:off x="864286" y="11823712"/>
            <a:ext cx="1463073" cy="272348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Google Discover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8422C2-1918-FBB8-0B60-4C32EB1A2F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641248"/>
              </p:ext>
            </p:extLst>
          </p:nvPr>
        </p:nvGraphicFramePr>
        <p:xfrm>
          <a:off x="460753" y="666025"/>
          <a:ext cx="4285417" cy="4537282"/>
        </p:xfrm>
        <a:graphic>
          <a:graphicData uri="http://schemas.openxmlformats.org/drawingml/2006/table">
            <a:tbl>
              <a:tblPr/>
              <a:tblGrid>
                <a:gridCol w="323199">
                  <a:extLst>
                    <a:ext uri="{9D8B030D-6E8A-4147-A177-3AD203B41FA5}">
                      <a16:colId xmlns:a16="http://schemas.microsoft.com/office/drawing/2014/main" val="1228511495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2385741718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1103440694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1765835962"/>
                    </a:ext>
                  </a:extLst>
                </a:gridCol>
                <a:gridCol w="227994">
                  <a:extLst>
                    <a:ext uri="{9D8B030D-6E8A-4147-A177-3AD203B41FA5}">
                      <a16:colId xmlns:a16="http://schemas.microsoft.com/office/drawing/2014/main" val="3032794130"/>
                    </a:ext>
                  </a:extLst>
                </a:gridCol>
                <a:gridCol w="276517">
                  <a:extLst>
                    <a:ext uri="{9D8B030D-6E8A-4147-A177-3AD203B41FA5}">
                      <a16:colId xmlns:a16="http://schemas.microsoft.com/office/drawing/2014/main" val="541524318"/>
                    </a:ext>
                  </a:extLst>
                </a:gridCol>
                <a:gridCol w="243662">
                  <a:extLst>
                    <a:ext uri="{9D8B030D-6E8A-4147-A177-3AD203B41FA5}">
                      <a16:colId xmlns:a16="http://schemas.microsoft.com/office/drawing/2014/main" val="1474041755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1875072607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713687494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187949098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2428798827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226785004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253820735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2729201000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4158537040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869102720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75585570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2255814577"/>
                    </a:ext>
                  </a:extLst>
                </a:gridCol>
                <a:gridCol w="323199">
                  <a:extLst>
                    <a:ext uri="{9D8B030D-6E8A-4147-A177-3AD203B41FA5}">
                      <a16:colId xmlns:a16="http://schemas.microsoft.com/office/drawing/2014/main" val="650234665"/>
                    </a:ext>
                  </a:extLst>
                </a:gridCol>
              </a:tblGrid>
              <a:tr h="20587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7"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Lock Screen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2099500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7049428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467476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7610089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3853100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0444886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4" gridSpan="15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Metro Play</a:t>
                      </a:r>
                      <a:r>
                        <a:rPr lang="en-US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4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239566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9189148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347693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496596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743560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3328931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844401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475292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3777908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4611063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258329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355017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054402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6340574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3350851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3952246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285896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035375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6936431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8764831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832905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5096240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078814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6201339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1655012"/>
                  </a:ext>
                </a:extLst>
              </a:tr>
              <a:tr h="134853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273686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5FC7A00-5BD8-10DE-F326-808442AF6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404111"/>
              </p:ext>
            </p:extLst>
          </p:nvPr>
        </p:nvGraphicFramePr>
        <p:xfrm>
          <a:off x="5358006" y="684003"/>
          <a:ext cx="4285417" cy="4537282"/>
        </p:xfrm>
        <a:graphic>
          <a:graphicData uri="http://schemas.openxmlformats.org/drawingml/2006/table">
            <a:tbl>
              <a:tblPr/>
              <a:tblGrid>
                <a:gridCol w="323199">
                  <a:extLst>
                    <a:ext uri="{9D8B030D-6E8A-4147-A177-3AD203B41FA5}">
                      <a16:colId xmlns:a16="http://schemas.microsoft.com/office/drawing/2014/main" val="1228511495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2385741718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1103440694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1765835962"/>
                    </a:ext>
                  </a:extLst>
                </a:gridCol>
                <a:gridCol w="227994">
                  <a:extLst>
                    <a:ext uri="{9D8B030D-6E8A-4147-A177-3AD203B41FA5}">
                      <a16:colId xmlns:a16="http://schemas.microsoft.com/office/drawing/2014/main" val="3032794130"/>
                    </a:ext>
                  </a:extLst>
                </a:gridCol>
                <a:gridCol w="276517">
                  <a:extLst>
                    <a:ext uri="{9D8B030D-6E8A-4147-A177-3AD203B41FA5}">
                      <a16:colId xmlns:a16="http://schemas.microsoft.com/office/drawing/2014/main" val="541524318"/>
                    </a:ext>
                  </a:extLst>
                </a:gridCol>
                <a:gridCol w="243662">
                  <a:extLst>
                    <a:ext uri="{9D8B030D-6E8A-4147-A177-3AD203B41FA5}">
                      <a16:colId xmlns:a16="http://schemas.microsoft.com/office/drawing/2014/main" val="1474041755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1875072607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713687494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187949098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2428798827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226785004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253820735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2729201000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4158537040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869102720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375585570"/>
                    </a:ext>
                  </a:extLst>
                </a:gridCol>
                <a:gridCol w="206489">
                  <a:extLst>
                    <a:ext uri="{9D8B030D-6E8A-4147-A177-3AD203B41FA5}">
                      <a16:colId xmlns:a16="http://schemas.microsoft.com/office/drawing/2014/main" val="2255814577"/>
                    </a:ext>
                  </a:extLst>
                </a:gridCol>
                <a:gridCol w="323199">
                  <a:extLst>
                    <a:ext uri="{9D8B030D-6E8A-4147-A177-3AD203B41FA5}">
                      <a16:colId xmlns:a16="http://schemas.microsoft.com/office/drawing/2014/main" val="650234665"/>
                    </a:ext>
                  </a:extLst>
                </a:gridCol>
              </a:tblGrid>
              <a:tr h="20587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7"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Unlock Screen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2099500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7049428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8" gridSpan="15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MetroZone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8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8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8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8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8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8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8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8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8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467476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7610089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3853100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0444886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239566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9189148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347693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496596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743560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3328931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844401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475292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3777908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4611063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258329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355017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054402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6340574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3350851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3952246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285896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035375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6936431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8764831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8329055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5096240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0788147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6201339"/>
                  </a:ext>
                </a:extLst>
              </a:tr>
              <a:tr h="13988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1655012"/>
                  </a:ext>
                </a:extLst>
              </a:tr>
              <a:tr h="134853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27368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66433C1-523D-9A0B-16AA-E1AC529A2F3D}"/>
              </a:ext>
            </a:extLst>
          </p:cNvPr>
          <p:cNvSpPr txBox="1"/>
          <p:nvPr/>
        </p:nvSpPr>
        <p:spPr>
          <a:xfrm>
            <a:off x="606558" y="5206856"/>
            <a:ext cx="6050561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b"/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OEM Instructions: </a:t>
            </a:r>
            <a:r>
              <a:rPr lang="en-US" sz="1200" b="1" i="0" u="sng" strike="noStrike" dirty="0">
                <a:solidFill>
                  <a:srgbClr val="4472C4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br>
              <a:rPr lang="en-US" sz="12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Please provid</a:t>
            </a:r>
            <a:r>
              <a:rPr lang="en-US" sz="1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 the mapping or the device’s Lock and Unlock screen. Please feel free to 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populate the screens as you would with any other device screen. </a:t>
            </a:r>
            <a:endParaRPr lang="en-US" sz="1200" b="0" i="0" u="none" strike="noStrike">
              <a:solidFill>
                <a:srgbClr val="000000"/>
              </a:solidFill>
              <a:effectLst/>
              <a:latin typeface="Calibri" panose="020F0502020204030204" pitchFamily="34" charset="0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1533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4DFBEA-C9E3-485D-B4A5-063CDD2854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484" y="31799"/>
            <a:ext cx="10750998" cy="94775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Metro Brand 4x5 (Homescreen + Panel Layout)</a:t>
            </a:r>
          </a:p>
        </p:txBody>
      </p:sp>
      <p:graphicFrame>
        <p:nvGraphicFramePr>
          <p:cNvPr id="230" name="Table 229">
            <a:extLst>
              <a:ext uri="{FF2B5EF4-FFF2-40B4-BE49-F238E27FC236}">
                <a16:creationId xmlns:a16="http://schemas.microsoft.com/office/drawing/2014/main" id="{FD363AB1-CF80-413A-83A3-E3976F48C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206000"/>
              </p:ext>
            </p:extLst>
          </p:nvPr>
        </p:nvGraphicFramePr>
        <p:xfrm>
          <a:off x="242910" y="4674430"/>
          <a:ext cx="4842150" cy="1959610"/>
        </p:xfrm>
        <a:graphic>
          <a:graphicData uri="http://schemas.openxmlformats.org/drawingml/2006/table">
            <a:tbl>
              <a:tblPr/>
              <a:tblGrid>
                <a:gridCol w="193686">
                  <a:extLst>
                    <a:ext uri="{9D8B030D-6E8A-4147-A177-3AD203B41FA5}">
                      <a16:colId xmlns:a16="http://schemas.microsoft.com/office/drawing/2014/main" val="3668995254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22988551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347258237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887936937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1318809100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695280320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470221836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216682646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355972019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578656401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123117071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320401500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16105740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428869703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882220615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809203488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97926968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073156503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469739955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1677353316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783650352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043479574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1599976022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942200419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114388392"/>
                    </a:ext>
                  </a:extLst>
                </a:gridCol>
              </a:tblGrid>
              <a:tr h="63404">
                <a:tc gridSpan="25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Google Folder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249396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596179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Calendar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Wallet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Chrome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018275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365489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5294176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0894459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Home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One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Search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432401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345979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045608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047355"/>
                  </a:ext>
                </a:extLst>
              </a:tr>
              <a:tr h="121273">
                <a:tc gridSpan="25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Folder Created by OEM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572867"/>
                  </a:ext>
                </a:extLst>
              </a:tr>
            </a:tbl>
          </a:graphicData>
        </a:graphic>
      </p:graphicFrame>
      <p:cxnSp>
        <p:nvCxnSpPr>
          <p:cNvPr id="239" name="Connector: Elbow 238">
            <a:extLst>
              <a:ext uri="{FF2B5EF4-FFF2-40B4-BE49-F238E27FC236}">
                <a16:creationId xmlns:a16="http://schemas.microsoft.com/office/drawing/2014/main" id="{7E592D28-9836-4A22-9374-6878C0E2F011}"/>
              </a:ext>
            </a:extLst>
          </p:cNvPr>
          <p:cNvCxnSpPr>
            <a:cxnSpLocks/>
          </p:cNvCxnSpPr>
          <p:nvPr/>
        </p:nvCxnSpPr>
        <p:spPr>
          <a:xfrm rot="5400000">
            <a:off x="3164020" y="3866395"/>
            <a:ext cx="1057501" cy="558569"/>
          </a:xfrm>
          <a:prstGeom prst="bentConnector3">
            <a:avLst>
              <a:gd name="adj1" fmla="val 21438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3" name="Picture 242">
            <a:extLst>
              <a:ext uri="{FF2B5EF4-FFF2-40B4-BE49-F238E27FC236}">
                <a16:creationId xmlns:a16="http://schemas.microsoft.com/office/drawing/2014/main" id="{16DAAD4E-E7A0-4A13-90CE-032F71D27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647" y="31799"/>
            <a:ext cx="2163469" cy="65220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8FA1BD2-DDD1-4D14-8F05-8F54C9242F34}"/>
              </a:ext>
            </a:extLst>
          </p:cNvPr>
          <p:cNvSpPr txBox="1"/>
          <p:nvPr/>
        </p:nvSpPr>
        <p:spPr>
          <a:xfrm>
            <a:off x="5317243" y="4702543"/>
            <a:ext cx="60505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/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Customization Files may be found here: 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1200" b="1" i="0" u="sng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  <a:hlinkClick r:id="rId3"/>
              </a:rPr>
              <a:t>https://tmap.t-mobile.com/portals/ayibw7iw/OEMToolkit</a:t>
            </a:r>
            <a:r>
              <a:rPr lang="en-US" sz="1200" b="1" i="0" u="sng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  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This includes brand specific: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     •Power Up / Boot File animation and mnemonic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     •Ringtones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     •T-Mobile / Metro</a:t>
            </a:r>
          </a:p>
          <a:p>
            <a:pPr algn="l" fontAlgn="b"/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NOTES: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1.  Google One application includes a Set Up Wizard that is required for Metro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B6BC1F-9753-44C1-8072-028969A51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964040"/>
              </p:ext>
            </p:extLst>
          </p:nvPr>
        </p:nvGraphicFramePr>
        <p:xfrm>
          <a:off x="110933" y="712506"/>
          <a:ext cx="8903085" cy="3931280"/>
        </p:xfrm>
        <a:graphic>
          <a:graphicData uri="http://schemas.openxmlformats.org/drawingml/2006/table">
            <a:tbl>
              <a:tblPr/>
              <a:tblGrid>
                <a:gridCol w="269722">
                  <a:extLst>
                    <a:ext uri="{9D8B030D-6E8A-4147-A177-3AD203B41FA5}">
                      <a16:colId xmlns:a16="http://schemas.microsoft.com/office/drawing/2014/main" val="947363704"/>
                    </a:ext>
                  </a:extLst>
                </a:gridCol>
                <a:gridCol w="93795">
                  <a:extLst>
                    <a:ext uri="{9D8B030D-6E8A-4147-A177-3AD203B41FA5}">
                      <a16:colId xmlns:a16="http://schemas.microsoft.com/office/drawing/2014/main" val="2394045977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846963999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1588285735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1011655017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1344848565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092031331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655141436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200639636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402579899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4200685535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860874278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233904416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1253517324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1751812913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1306382723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424520722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61159578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188952846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221597561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140124802"/>
                    </a:ext>
                  </a:extLst>
                </a:gridCol>
                <a:gridCol w="64950">
                  <a:extLst>
                    <a:ext uri="{9D8B030D-6E8A-4147-A177-3AD203B41FA5}">
                      <a16:colId xmlns:a16="http://schemas.microsoft.com/office/drawing/2014/main" val="502442076"/>
                    </a:ext>
                  </a:extLst>
                </a:gridCol>
                <a:gridCol w="414877">
                  <a:extLst>
                    <a:ext uri="{9D8B030D-6E8A-4147-A177-3AD203B41FA5}">
                      <a16:colId xmlns:a16="http://schemas.microsoft.com/office/drawing/2014/main" val="4159342905"/>
                    </a:ext>
                  </a:extLst>
                </a:gridCol>
                <a:gridCol w="221807">
                  <a:extLst>
                    <a:ext uri="{9D8B030D-6E8A-4147-A177-3AD203B41FA5}">
                      <a16:colId xmlns:a16="http://schemas.microsoft.com/office/drawing/2014/main" val="1956925455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947992730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4011950166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451450146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2590734444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470315534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4138820101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487186641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2902758123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412900482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1239127212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1833106027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2516041682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772407256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489775716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1048645918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1979477548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2416575377"/>
                    </a:ext>
                  </a:extLst>
                </a:gridCol>
                <a:gridCol w="221807">
                  <a:extLst>
                    <a:ext uri="{9D8B030D-6E8A-4147-A177-3AD203B41FA5}">
                      <a16:colId xmlns:a16="http://schemas.microsoft.com/office/drawing/2014/main" val="2729073804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2136205277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2505540689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2915439722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845263496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306173959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771603089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09335245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2651146577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272057196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1791897070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4213816720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2419145264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2300673673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77379573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4248387469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914873011"/>
                    </a:ext>
                  </a:extLst>
                </a:gridCol>
                <a:gridCol w="141710">
                  <a:extLst>
                    <a:ext uri="{9D8B030D-6E8A-4147-A177-3AD203B41FA5}">
                      <a16:colId xmlns:a16="http://schemas.microsoft.com/office/drawing/2014/main" val="3111820780"/>
                    </a:ext>
                  </a:extLst>
                </a:gridCol>
                <a:gridCol w="221807">
                  <a:extLst>
                    <a:ext uri="{9D8B030D-6E8A-4147-A177-3AD203B41FA5}">
                      <a16:colId xmlns:a16="http://schemas.microsoft.com/office/drawing/2014/main" val="4124362850"/>
                    </a:ext>
                  </a:extLst>
                </a:gridCol>
              </a:tblGrid>
              <a:tr h="158933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1"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1L - Minus One Screen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7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Home- Screen 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7"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1R - Plus One Screen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588867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1997010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4" gridSpan="19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Assistant (-1 Minus One) page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15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Google Search (4x1)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15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MetroZone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(4X1)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789132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49064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5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6103846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451086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490179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0109704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5355828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9290695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875777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113447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5382896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670864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Ad It Up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0459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539107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1669468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5573458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4892233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GOOGLE FOLDER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PLAYSTORE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GEMINI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Metro Folder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Clock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Amazon Shopping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TikTok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0459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800723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986698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0688310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118983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512416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Google Messages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Camera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Chrome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Google Messages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Camera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Chrome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8243641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983427"/>
                  </a:ext>
                </a:extLst>
              </a:tr>
              <a:tr h="146104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9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697650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200336"/>
                  </a:ext>
                </a:extLst>
              </a:tr>
              <a:tr h="139136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526446"/>
                  </a:ext>
                </a:extLst>
              </a:tr>
            </a:tbl>
          </a:graphicData>
        </a:graphic>
      </p:graphicFrame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7857B5-159A-4BD3-A031-591151CD7DF2}"/>
              </a:ext>
            </a:extLst>
          </p:cNvPr>
          <p:cNvCxnSpPr/>
          <p:nvPr/>
        </p:nvCxnSpPr>
        <p:spPr>
          <a:xfrm flipH="1">
            <a:off x="4111625" y="12763500"/>
            <a:ext cx="14288" cy="692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10">
            <a:extLst>
              <a:ext uri="{FF2B5EF4-FFF2-40B4-BE49-F238E27FC236}">
                <a16:creationId xmlns:a16="http://schemas.microsoft.com/office/drawing/2014/main" id="{C1E8AF97-2939-4037-9790-DF42F9448BD0}"/>
              </a:ext>
            </a:extLst>
          </p:cNvPr>
          <p:cNvSpPr txBox="1"/>
          <p:nvPr/>
        </p:nvSpPr>
        <p:spPr>
          <a:xfrm>
            <a:off x="2244725" y="12904788"/>
            <a:ext cx="1614488" cy="369887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Google Discover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5C28CBDF-8060-419F-A3FC-CE92B6308871}"/>
              </a:ext>
            </a:extLst>
          </p:cNvPr>
          <p:cNvSpPr txBox="1"/>
          <p:nvPr/>
        </p:nvSpPr>
        <p:spPr>
          <a:xfrm>
            <a:off x="2244725" y="12904788"/>
            <a:ext cx="1611313" cy="366712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Google Discover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A98431EA-C281-4830-9F34-8B9DC01B8B19}"/>
              </a:ext>
            </a:extLst>
          </p:cNvPr>
          <p:cNvSpPr txBox="1"/>
          <p:nvPr/>
        </p:nvSpPr>
        <p:spPr>
          <a:xfrm>
            <a:off x="4484688" y="12915900"/>
            <a:ext cx="1606550" cy="35560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T-Mobile Play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A72B2A3-9DC6-4F46-A528-0FABAD46FEE6}"/>
              </a:ext>
            </a:extLst>
          </p:cNvPr>
          <p:cNvCxnSpPr/>
          <p:nvPr/>
        </p:nvCxnSpPr>
        <p:spPr>
          <a:xfrm>
            <a:off x="6041184" y="3450749"/>
            <a:ext cx="3529336" cy="327901"/>
          </a:xfrm>
          <a:prstGeom prst="bentConnector3">
            <a:avLst>
              <a:gd name="adj1" fmla="val 674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4">
            <a:extLst>
              <a:ext uri="{FF2B5EF4-FFF2-40B4-BE49-F238E27FC236}">
                <a16:creationId xmlns:a16="http://schemas.microsoft.com/office/drawing/2014/main" id="{82AD1731-304F-481D-B2AD-DABAC04CA24A}"/>
              </a:ext>
            </a:extLst>
          </p:cNvPr>
          <p:cNvSpPr txBox="1"/>
          <p:nvPr/>
        </p:nvSpPr>
        <p:spPr>
          <a:xfrm>
            <a:off x="534837" y="1024057"/>
            <a:ext cx="1183459" cy="35560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/>
              <a:t>Google Discover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870EAA95-A5F3-4972-AEEB-D2E891089DBD}"/>
              </a:ext>
            </a:extLst>
          </p:cNvPr>
          <p:cNvSpPr txBox="1"/>
          <p:nvPr/>
        </p:nvSpPr>
        <p:spPr>
          <a:xfrm>
            <a:off x="1741521" y="1024058"/>
            <a:ext cx="1308860" cy="355599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35743F-3B45-E2FF-6D17-8179E9C97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390894"/>
              </p:ext>
            </p:extLst>
          </p:nvPr>
        </p:nvGraphicFramePr>
        <p:xfrm>
          <a:off x="9437922" y="1201857"/>
          <a:ext cx="1728018" cy="2655570"/>
        </p:xfrm>
        <a:graphic>
          <a:graphicData uri="http://schemas.openxmlformats.org/drawingml/2006/table">
            <a:tbl>
              <a:tblPr/>
              <a:tblGrid>
                <a:gridCol w="206145">
                  <a:extLst>
                    <a:ext uri="{9D8B030D-6E8A-4147-A177-3AD203B41FA5}">
                      <a16:colId xmlns:a16="http://schemas.microsoft.com/office/drawing/2014/main" val="3072099247"/>
                    </a:ext>
                  </a:extLst>
                </a:gridCol>
                <a:gridCol w="206145">
                  <a:extLst>
                    <a:ext uri="{9D8B030D-6E8A-4147-A177-3AD203B41FA5}">
                      <a16:colId xmlns:a16="http://schemas.microsoft.com/office/drawing/2014/main" val="2660851657"/>
                    </a:ext>
                  </a:extLst>
                </a:gridCol>
                <a:gridCol w="206145">
                  <a:extLst>
                    <a:ext uri="{9D8B030D-6E8A-4147-A177-3AD203B41FA5}">
                      <a16:colId xmlns:a16="http://schemas.microsoft.com/office/drawing/2014/main" val="4051570774"/>
                    </a:ext>
                  </a:extLst>
                </a:gridCol>
                <a:gridCol w="206145">
                  <a:extLst>
                    <a:ext uri="{9D8B030D-6E8A-4147-A177-3AD203B41FA5}">
                      <a16:colId xmlns:a16="http://schemas.microsoft.com/office/drawing/2014/main" val="841299941"/>
                    </a:ext>
                  </a:extLst>
                </a:gridCol>
                <a:gridCol w="78858">
                  <a:extLst>
                    <a:ext uri="{9D8B030D-6E8A-4147-A177-3AD203B41FA5}">
                      <a16:colId xmlns:a16="http://schemas.microsoft.com/office/drawing/2014/main" val="2697608583"/>
                    </a:ext>
                  </a:extLst>
                </a:gridCol>
                <a:gridCol w="206145">
                  <a:extLst>
                    <a:ext uri="{9D8B030D-6E8A-4147-A177-3AD203B41FA5}">
                      <a16:colId xmlns:a16="http://schemas.microsoft.com/office/drawing/2014/main" val="2261431747"/>
                    </a:ext>
                  </a:extLst>
                </a:gridCol>
                <a:gridCol w="206145">
                  <a:extLst>
                    <a:ext uri="{9D8B030D-6E8A-4147-A177-3AD203B41FA5}">
                      <a16:colId xmlns:a16="http://schemas.microsoft.com/office/drawing/2014/main" val="2738975599"/>
                    </a:ext>
                  </a:extLst>
                </a:gridCol>
                <a:gridCol w="206145">
                  <a:extLst>
                    <a:ext uri="{9D8B030D-6E8A-4147-A177-3AD203B41FA5}">
                      <a16:colId xmlns:a16="http://schemas.microsoft.com/office/drawing/2014/main" val="54138011"/>
                    </a:ext>
                  </a:extLst>
                </a:gridCol>
                <a:gridCol w="206145">
                  <a:extLst>
                    <a:ext uri="{9D8B030D-6E8A-4147-A177-3AD203B41FA5}">
                      <a16:colId xmlns:a16="http://schemas.microsoft.com/office/drawing/2014/main" val="3602541442"/>
                    </a:ext>
                  </a:extLst>
                </a:gridCol>
              </a:tblGrid>
              <a:tr h="211476"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Metro Folder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593485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5454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Metro App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629493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159240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367054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705827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Visual Voicemail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681097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0357925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990450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885689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Metro</a:t>
                      </a:r>
                    </a:p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Zone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42577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782762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073934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527355"/>
                  </a:ext>
                </a:extLst>
              </a:tr>
              <a:tr h="167470"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Folder Created by CM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319942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D0445D-1CF9-0E4E-C2EC-38AAAD10C060}"/>
              </a:ext>
            </a:extLst>
          </p:cNvPr>
          <p:cNvSpPr/>
          <p:nvPr/>
        </p:nvSpPr>
        <p:spPr>
          <a:xfrm>
            <a:off x="6629419" y="2240205"/>
            <a:ext cx="1922228" cy="172197"/>
          </a:xfrm>
          <a:prstGeom prst="round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spc="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AUCTION ROW</a:t>
            </a:r>
          </a:p>
        </p:txBody>
      </p:sp>
    </p:spTree>
    <p:extLst>
      <p:ext uri="{BB962C8B-B14F-4D97-AF65-F5344CB8AC3E}">
        <p14:creationId xmlns:p14="http://schemas.microsoft.com/office/powerpoint/2010/main" val="2379091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4DFBEA-C9E3-485D-B4A5-063CDD2854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110" y="0"/>
            <a:ext cx="10750998" cy="94775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Metro Brand 4x5 (APP TRAY)</a:t>
            </a:r>
          </a:p>
        </p:txBody>
      </p:sp>
      <p:pic>
        <p:nvPicPr>
          <p:cNvPr id="243" name="Picture 242">
            <a:extLst>
              <a:ext uri="{FF2B5EF4-FFF2-40B4-BE49-F238E27FC236}">
                <a16:creationId xmlns:a16="http://schemas.microsoft.com/office/drawing/2014/main" id="{16DAAD4E-E7A0-4A13-90CE-032F71D27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639" y="20340"/>
            <a:ext cx="2163469" cy="652204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84BD0EE-3F05-478F-935E-D48024FC8E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049219"/>
              </p:ext>
            </p:extLst>
          </p:nvPr>
        </p:nvGraphicFramePr>
        <p:xfrm>
          <a:off x="7483205" y="3759534"/>
          <a:ext cx="1298732" cy="215901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298732">
                  <a:extLst>
                    <a:ext uri="{9D8B030D-6E8A-4147-A177-3AD203B41FA5}">
                      <a16:colId xmlns:a16="http://schemas.microsoft.com/office/drawing/2014/main" val="4283747700"/>
                    </a:ext>
                  </a:extLst>
                </a:gridCol>
              </a:tblGrid>
              <a:tr h="27347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OEM FOLDER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214296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456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39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691460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50639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052009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070764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5444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82C608A-E4A4-4FE4-83C8-D28C15169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842576"/>
              </p:ext>
            </p:extLst>
          </p:nvPr>
        </p:nvGraphicFramePr>
        <p:xfrm>
          <a:off x="8907059" y="3759534"/>
          <a:ext cx="1223344" cy="215901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223344">
                  <a:extLst>
                    <a:ext uri="{9D8B030D-6E8A-4147-A177-3AD203B41FA5}">
                      <a16:colId xmlns:a16="http://schemas.microsoft.com/office/drawing/2014/main" val="4283747700"/>
                    </a:ext>
                  </a:extLst>
                </a:gridCol>
              </a:tblGrid>
              <a:tr h="273476">
                <a:tc>
                  <a:txBody>
                    <a:bodyPr/>
                    <a:lstStyle/>
                    <a:p>
                      <a:r>
                        <a:rPr lang="en-US" sz="1100" dirty="0"/>
                        <a:t> OTHER FOLDER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214296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456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39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691460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50639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052009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070764"/>
                  </a:ext>
                </a:extLst>
              </a:tr>
              <a:tr h="27347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54444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65C2058-AF86-4C1C-B095-AD6AFDE77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66478"/>
              </p:ext>
            </p:extLst>
          </p:nvPr>
        </p:nvGraphicFramePr>
        <p:xfrm>
          <a:off x="353508" y="4516012"/>
          <a:ext cx="4842150" cy="1959610"/>
        </p:xfrm>
        <a:graphic>
          <a:graphicData uri="http://schemas.openxmlformats.org/drawingml/2006/table">
            <a:tbl>
              <a:tblPr/>
              <a:tblGrid>
                <a:gridCol w="193686">
                  <a:extLst>
                    <a:ext uri="{9D8B030D-6E8A-4147-A177-3AD203B41FA5}">
                      <a16:colId xmlns:a16="http://schemas.microsoft.com/office/drawing/2014/main" val="3668995254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22988551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347258237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887936937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1318809100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695280320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470221836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216682646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355972019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578656401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123117071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320401500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16105740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428869703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882220615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809203488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97926968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073156503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469739955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1677353316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783650352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043479574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1599976022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3942200419"/>
                    </a:ext>
                  </a:extLst>
                </a:gridCol>
                <a:gridCol w="193686">
                  <a:extLst>
                    <a:ext uri="{9D8B030D-6E8A-4147-A177-3AD203B41FA5}">
                      <a16:colId xmlns:a16="http://schemas.microsoft.com/office/drawing/2014/main" val="2114388392"/>
                    </a:ext>
                  </a:extLst>
                </a:gridCol>
              </a:tblGrid>
              <a:tr h="63404">
                <a:tc gridSpan="25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Google Folder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249396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596179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Calendar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Wallet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Chrome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018275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365489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5294176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0894459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Home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One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Search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432401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345979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045608"/>
                  </a:ext>
                </a:extLst>
              </a:tr>
              <a:tr h="1212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047355"/>
                  </a:ext>
                </a:extLst>
              </a:tr>
              <a:tr h="121273">
                <a:tc gridSpan="25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Folder Created by OEM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57286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01D4F9-F3F9-42E3-BBB2-648C2B857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511667"/>
              </p:ext>
            </p:extLst>
          </p:nvPr>
        </p:nvGraphicFramePr>
        <p:xfrm>
          <a:off x="5794970" y="787732"/>
          <a:ext cx="5715000" cy="2856230"/>
        </p:xfrm>
        <a:graphic>
          <a:graphicData uri="http://schemas.openxmlformats.org/drawingml/2006/table">
            <a:tbl>
              <a:tblPr/>
              <a:tblGrid>
                <a:gridCol w="5715000">
                  <a:extLst>
                    <a:ext uri="{9D8B030D-6E8A-4147-A177-3AD203B41FA5}">
                      <a16:colId xmlns:a16="http://schemas.microsoft.com/office/drawing/2014/main" val="3833905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 App Tray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a.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applications should be placed in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folder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b. Ensure Google One is preloaded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c. OEM applications should be placed in OEM folder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d. OEM applications must be reviewed and approved prior to RC1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 Applications okay to appear in app tray (not in folder)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Calculator</a:t>
                      </a:r>
                    </a:p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Calendar</a:t>
                      </a:r>
                    </a:p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Camera</a:t>
                      </a:r>
                    </a:p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Clock </a:t>
                      </a:r>
                    </a:p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Contacts</a:t>
                      </a:r>
                    </a:p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Files</a:t>
                      </a:r>
                    </a:p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Android Messages</a:t>
                      </a:r>
                    </a:p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Phone</a:t>
                      </a:r>
                    </a:p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- Settings</a:t>
                      </a:r>
                    </a:p>
                    <a:p>
                      <a:pPr algn="l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t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 Browser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Chrome Browser Default Homepage -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hlinkClick r:id="rId3"/>
                        </a:rPr>
                        <a:t>https://www.metropcs.mobi/en/home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18618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26869F-CA25-46F0-A3A8-49D3788F7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802594"/>
              </p:ext>
            </p:extLst>
          </p:nvPr>
        </p:nvGraphicFramePr>
        <p:xfrm>
          <a:off x="259304" y="555555"/>
          <a:ext cx="2736633" cy="3818403"/>
        </p:xfrm>
        <a:graphic>
          <a:graphicData uri="http://schemas.openxmlformats.org/drawingml/2006/table">
            <a:tbl>
              <a:tblPr/>
              <a:tblGrid>
                <a:gridCol w="212784">
                  <a:extLst>
                    <a:ext uri="{9D8B030D-6E8A-4147-A177-3AD203B41FA5}">
                      <a16:colId xmlns:a16="http://schemas.microsoft.com/office/drawing/2014/main" val="3299109205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2642216649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3367986530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1306185330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3928681563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3069260933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1724915062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3035117237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1767058961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4124190453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3876659155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1618398171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2168098835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2721710650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2956115263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1599886507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4284287349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595287895"/>
                    </a:ext>
                  </a:extLst>
                </a:gridCol>
                <a:gridCol w="212784">
                  <a:extLst>
                    <a:ext uri="{9D8B030D-6E8A-4147-A177-3AD203B41FA5}">
                      <a16:colId xmlns:a16="http://schemas.microsoft.com/office/drawing/2014/main" val="246304984"/>
                    </a:ext>
                  </a:extLst>
                </a:gridCol>
              </a:tblGrid>
              <a:tr h="136763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7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APP TRAY 1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605734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994833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624582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775325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533010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0397404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622089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520607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68347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592767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4008248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466075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202441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279957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53526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576230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8197176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482997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248386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938960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556956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04682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32838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Phone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Google Messages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Camera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Chrome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619111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464294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692815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41982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42996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864D794-FEB1-4D09-92F5-EBDC2EDDF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948123"/>
              </p:ext>
            </p:extLst>
          </p:nvPr>
        </p:nvGraphicFramePr>
        <p:xfrm>
          <a:off x="3121768" y="554821"/>
          <a:ext cx="2736633" cy="3818403"/>
        </p:xfrm>
        <a:graphic>
          <a:graphicData uri="http://schemas.openxmlformats.org/drawingml/2006/table">
            <a:tbl>
              <a:tblPr/>
              <a:tblGrid>
                <a:gridCol w="212784">
                  <a:extLst>
                    <a:ext uri="{9D8B030D-6E8A-4147-A177-3AD203B41FA5}">
                      <a16:colId xmlns:a16="http://schemas.microsoft.com/office/drawing/2014/main" val="3299109205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2642216649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3367986530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1306185330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3928681563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3069260933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1724915062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3035117237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1767058961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4124190453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3876659155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1618398171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2168098835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2721710650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2956115263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1599886507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4284287349"/>
                    </a:ext>
                  </a:extLst>
                </a:gridCol>
                <a:gridCol w="135945">
                  <a:extLst>
                    <a:ext uri="{9D8B030D-6E8A-4147-A177-3AD203B41FA5}">
                      <a16:colId xmlns:a16="http://schemas.microsoft.com/office/drawing/2014/main" val="595287895"/>
                    </a:ext>
                  </a:extLst>
                </a:gridCol>
                <a:gridCol w="212784">
                  <a:extLst>
                    <a:ext uri="{9D8B030D-6E8A-4147-A177-3AD203B41FA5}">
                      <a16:colId xmlns:a16="http://schemas.microsoft.com/office/drawing/2014/main" val="246304984"/>
                    </a:ext>
                  </a:extLst>
                </a:gridCol>
              </a:tblGrid>
              <a:tr h="94519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7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APP TRAY 2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605734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994833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624582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775325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533010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0397404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622089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520607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68347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592767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4008248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466075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202441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279957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53526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576230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8197176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482997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248386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938960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556956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04682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32838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Phone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Google Messages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Camera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Chrome</a:t>
                      </a: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619111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464294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692815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17" marR="4317" marT="43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41982"/>
                  </a:ext>
                </a:extLst>
              </a:tr>
              <a:tr h="13561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429965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5544BC-683B-552C-CC89-34C4A47C6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0135"/>
              </p:ext>
            </p:extLst>
          </p:nvPr>
        </p:nvGraphicFramePr>
        <p:xfrm>
          <a:off x="5724525" y="3759150"/>
          <a:ext cx="1668678" cy="2655570"/>
        </p:xfrm>
        <a:graphic>
          <a:graphicData uri="http://schemas.openxmlformats.org/drawingml/2006/table">
            <a:tbl>
              <a:tblPr/>
              <a:tblGrid>
                <a:gridCol w="199066">
                  <a:extLst>
                    <a:ext uri="{9D8B030D-6E8A-4147-A177-3AD203B41FA5}">
                      <a16:colId xmlns:a16="http://schemas.microsoft.com/office/drawing/2014/main" val="3072099247"/>
                    </a:ext>
                  </a:extLst>
                </a:gridCol>
                <a:gridCol w="199066">
                  <a:extLst>
                    <a:ext uri="{9D8B030D-6E8A-4147-A177-3AD203B41FA5}">
                      <a16:colId xmlns:a16="http://schemas.microsoft.com/office/drawing/2014/main" val="2660851657"/>
                    </a:ext>
                  </a:extLst>
                </a:gridCol>
                <a:gridCol w="199066">
                  <a:extLst>
                    <a:ext uri="{9D8B030D-6E8A-4147-A177-3AD203B41FA5}">
                      <a16:colId xmlns:a16="http://schemas.microsoft.com/office/drawing/2014/main" val="4051570774"/>
                    </a:ext>
                  </a:extLst>
                </a:gridCol>
                <a:gridCol w="199066">
                  <a:extLst>
                    <a:ext uri="{9D8B030D-6E8A-4147-A177-3AD203B41FA5}">
                      <a16:colId xmlns:a16="http://schemas.microsoft.com/office/drawing/2014/main" val="841299941"/>
                    </a:ext>
                  </a:extLst>
                </a:gridCol>
                <a:gridCol w="76150">
                  <a:extLst>
                    <a:ext uri="{9D8B030D-6E8A-4147-A177-3AD203B41FA5}">
                      <a16:colId xmlns:a16="http://schemas.microsoft.com/office/drawing/2014/main" val="2697608583"/>
                    </a:ext>
                  </a:extLst>
                </a:gridCol>
                <a:gridCol w="199066">
                  <a:extLst>
                    <a:ext uri="{9D8B030D-6E8A-4147-A177-3AD203B41FA5}">
                      <a16:colId xmlns:a16="http://schemas.microsoft.com/office/drawing/2014/main" val="2261431747"/>
                    </a:ext>
                  </a:extLst>
                </a:gridCol>
                <a:gridCol w="199066">
                  <a:extLst>
                    <a:ext uri="{9D8B030D-6E8A-4147-A177-3AD203B41FA5}">
                      <a16:colId xmlns:a16="http://schemas.microsoft.com/office/drawing/2014/main" val="2738975599"/>
                    </a:ext>
                  </a:extLst>
                </a:gridCol>
                <a:gridCol w="199066">
                  <a:extLst>
                    <a:ext uri="{9D8B030D-6E8A-4147-A177-3AD203B41FA5}">
                      <a16:colId xmlns:a16="http://schemas.microsoft.com/office/drawing/2014/main" val="54138011"/>
                    </a:ext>
                  </a:extLst>
                </a:gridCol>
                <a:gridCol w="199066">
                  <a:extLst>
                    <a:ext uri="{9D8B030D-6E8A-4147-A177-3AD203B41FA5}">
                      <a16:colId xmlns:a16="http://schemas.microsoft.com/office/drawing/2014/main" val="3602541442"/>
                    </a:ext>
                  </a:extLst>
                </a:gridCol>
              </a:tblGrid>
              <a:tr h="211476"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Metro Folder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593485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5454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Metro App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629493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159240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367054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705827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Visual Voicemail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681097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0357925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990450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885689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Metro</a:t>
                      </a:r>
                    </a:p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Zone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42577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782762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073934"/>
                  </a:ext>
                </a:extLst>
              </a:tr>
              <a:tr h="167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527355"/>
                  </a:ext>
                </a:extLst>
              </a:tr>
              <a:tr h="167470"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Folder Created by CM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319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221320"/>
      </p:ext>
    </p:extLst>
  </p:cSld>
  <p:clrMapOvr>
    <a:masterClrMapping/>
  </p:clrMapOvr>
</p:sld>
</file>

<file path=ppt/theme/theme1.xml><?xml version="1.0" encoding="utf-8"?>
<a:theme xmlns:a="http://schemas.openxmlformats.org/drawingml/2006/main" name="4_Text-Layouts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E20074"/>
      </a:accent1>
      <a:accent2>
        <a:srgbClr val="C8C8C8"/>
      </a:accent2>
      <a:accent3>
        <a:srgbClr val="C8C8C8"/>
      </a:accent3>
      <a:accent4>
        <a:srgbClr val="861B54"/>
      </a:accent4>
      <a:accent5>
        <a:srgbClr val="9B9B9B"/>
      </a:accent5>
      <a:accent6>
        <a:srgbClr val="3C3C3C"/>
      </a:accent6>
      <a:hlink>
        <a:srgbClr val="E20074"/>
      </a:hlink>
      <a:folHlink>
        <a:srgbClr val="97024F"/>
      </a:folHlink>
    </a:clrScheme>
    <a:fontScheme name="Custom 2">
      <a:majorFont>
        <a:latin typeface="TeleGrotesk Next Medium"/>
        <a:ea typeface=""/>
        <a:cs typeface=""/>
      </a:majorFont>
      <a:minorFont>
        <a:latin typeface="TeleGrotesk Nex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spc="300">
            <a:latin typeface="linea-basic-10" charset="0"/>
            <a:ea typeface="linea-basic-10" charset="0"/>
            <a:cs typeface="linea-basic-1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1C49C73B682348902D71B103FC7417" ma:contentTypeVersion="4" ma:contentTypeDescription="Create a new document." ma:contentTypeScope="" ma:versionID="6d8fa22a55b177e716012a5c04298c87">
  <xsd:schema xmlns:xsd="http://www.w3.org/2001/XMLSchema" xmlns:xs="http://www.w3.org/2001/XMLSchema" xmlns:p="http://schemas.microsoft.com/office/2006/metadata/properties" xmlns:ns2="b018d754-82b7-4d5e-9382-9f43ea05be45" targetNamespace="http://schemas.microsoft.com/office/2006/metadata/properties" ma:root="true" ma:fieldsID="6cf349575e3bb2a550e69aa18a9e506f" ns2:_="">
    <xsd:import namespace="b018d754-82b7-4d5e-9382-9f43ea05be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18d754-82b7-4d5e-9382-9f43ea05be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CE4491-A3D1-46B6-9961-050A3AD79B7A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b018d754-82b7-4d5e-9382-9f43ea05be45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97FCF48-3C19-4FEC-8297-CBC5771DA4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A4F40B-5066-45BD-9A14-3C8FB289B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18d754-82b7-4d5e-9382-9f43ea05be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af72c41-31f4-4d40-a6d0-808117dc4d77}" enabled="1" method="Standard" siteId="{be0f980b-dd99-4b19-bd7b-bc71a09b026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46458</TotalTime>
  <Words>2808</Words>
  <Application>Microsoft Office PowerPoint</Application>
  <PresentationFormat>Widescreen</PresentationFormat>
  <Paragraphs>1897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Bebas Neue Bold</vt:lpstr>
      <vt:lpstr>linea-basic-10</vt:lpstr>
      <vt:lpstr>TeleGrotesk Next Medium</vt:lpstr>
      <vt:lpstr>Tele-GroteskHal</vt:lpstr>
      <vt:lpstr>TeleNeo Office</vt:lpstr>
      <vt:lpstr>TeleNeo Office ExtraBold</vt:lpstr>
      <vt:lpstr>TeleNeo Office Medium</vt:lpstr>
      <vt:lpstr>Arial</vt:lpstr>
      <vt:lpstr>Calibri</vt:lpstr>
      <vt:lpstr>Source Sans Pro</vt:lpstr>
      <vt:lpstr>4_Text-Layouts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Sifuentes, Hannah</dc:creator>
  <cp:lastModifiedBy>Harkamal Sandhu(CTS-NA-TCT)</cp:lastModifiedBy>
  <cp:revision>95</cp:revision>
  <dcterms:created xsi:type="dcterms:W3CDTF">2022-01-14T14:19:59Z</dcterms:created>
  <dcterms:modified xsi:type="dcterms:W3CDTF">2025-12-04T05:52:49Z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0x0101003E1C49C73B682348902D71B103FC7417</vt:lpwstr>
  </property>
</Properties>
</file>