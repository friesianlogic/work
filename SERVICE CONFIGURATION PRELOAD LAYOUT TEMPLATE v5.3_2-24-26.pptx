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changesInfos/changesInfo1.xml" ContentType="application/vnd.ms-powerpoint.changes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6" Type="http://schemas.microsoft.com/office/2020/02/relationships/classificationlabels" Target="docMetadata/LabelInfo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4"/>
  </p:sldMasterIdLst>
  <p:sldIdLst>
    <p:sldId id="2146846975" r:id="rId5"/>
    <p:sldId id="2146846976" r:id="rId6"/>
    <p:sldId id="2146846964" r:id="rId7"/>
    <p:sldId id="2146846978" r:id="rId8"/>
    <p:sldId id="2146846962" r:id="rId9"/>
    <p:sldId id="2146847006" r:id="rId10"/>
    <p:sldId id="2146846954" r:id="rId11"/>
    <p:sldId id="2146846956" r:id="rId12"/>
    <p:sldId id="2146846960" r:id="rId13"/>
    <p:sldId id="2146847005" r:id="rId14"/>
    <p:sldId id="2146846961" r:id="rId15"/>
    <p:sldId id="2146846965" r:id="rId16"/>
    <p:sldId id="2146846995" r:id="rId17"/>
    <p:sldId id="2146847004" r:id="rId18"/>
    <p:sldId id="2146846993" r:id="rId19"/>
    <p:sldId id="2146846994" r:id="rId20"/>
    <p:sldId id="2146846963" r:id="rId21"/>
    <p:sldId id="2146847002" r:id="rId22"/>
    <p:sldId id="2146846999" r:id="rId23"/>
    <p:sldId id="2146846959" r:id="rId24"/>
    <p:sldId id="2146846966" r:id="rId25"/>
    <p:sldId id="2146847001" r:id="rId26"/>
    <p:sldId id="2146846967" r:id="rId27"/>
    <p:sldId id="2146846968" r:id="rId28"/>
    <p:sldId id="2146846998" r:id="rId29"/>
    <p:sldId id="2146847003" r:id="rId30"/>
    <p:sldId id="2146846996" r:id="rId31"/>
    <p:sldId id="2146846997" r:id="rId32"/>
    <p:sldId id="2146846969" r:id="rId33"/>
    <p:sldId id="2146846979" r:id="rId34"/>
    <p:sldId id="2146846977" r:id="rId35"/>
    <p:sldId id="2146847007" r:id="rId36"/>
    <p:sldId id="2146846980" r:id="rId37"/>
    <p:sldId id="2146846982" r:id="rId38"/>
    <p:sldId id="2146846983" r:id="rId39"/>
    <p:sldId id="2146847008" r:id="rId40"/>
    <p:sldId id="2146846984" r:id="rId41"/>
    <p:sldId id="2146846985" r:id="rId42"/>
    <p:sldId id="2146846986" r:id="rId43"/>
    <p:sldId id="2146847009" r:id="rId44"/>
    <p:sldId id="2146846987" r:id="rId45"/>
    <p:sldId id="2146846988" r:id="rId46"/>
    <p:sldId id="2146846989" r:id="rId47"/>
    <p:sldId id="2146847010" r:id="rId48"/>
    <p:sldId id="2146846990" r:id="rId49"/>
    <p:sldId id="2146846991" r:id="rId50"/>
    <p:sldId id="2146846992" r:id="rId5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86B2FF62-2B85-B0E1-42DE-837E90E2A98F}" name="Goepp, Kevin" initials="KG" userId="S::Kevin.Goepp1@T-Mobile.com::f26f1a5c-74c0-4fb9-9cf6-5a5e36259155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Jessica Zuchowski" initials="JZ" lastIdx="1" clrIdx="0">
    <p:extLst>
      <p:ext uri="{19B8F6BF-5375-455C-9EA6-DF929625EA0E}">
        <p15:presenceInfo xmlns:p15="http://schemas.microsoft.com/office/powerpoint/2012/main" userId="Jessica Zuchowski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20459"/>
    <a:srgbClr val="FFE699"/>
    <a:srgbClr val="F315CE"/>
    <a:srgbClr val="AA027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1E4AEA4-8DFA-4A89-87EB-49C32662AFE0}" styleName="Medium Style 2 - Accent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073A0DAA-6AF3-43AB-8588-CEC1D06C72B9}" styleName="Medium Style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E8B1032C-EA38-4F05-BA0D-38AFFFC7BED3}" styleName="Light Style 3 - Accent 6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8242" autoAdjust="0"/>
    <p:restoredTop sz="94660"/>
  </p:normalViewPr>
  <p:slideViewPr>
    <p:cSldViewPr snapToGrid="0">
      <p:cViewPr varScale="1">
        <p:scale>
          <a:sx n="155" d="100"/>
          <a:sy n="155" d="100"/>
        </p:scale>
        <p:origin x="978" y="12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slide" Target="slides/slide35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42" Type="http://schemas.openxmlformats.org/officeDocument/2006/relationships/slide" Target="slides/slide38.xml"/><Relationship Id="rId47" Type="http://schemas.openxmlformats.org/officeDocument/2006/relationships/slide" Target="slides/slide43.xml"/><Relationship Id="rId50" Type="http://schemas.openxmlformats.org/officeDocument/2006/relationships/slide" Target="slides/slide46.xml"/><Relationship Id="rId55" Type="http://schemas.openxmlformats.org/officeDocument/2006/relationships/theme" Target="theme/theme1.xml"/><Relationship Id="rId7" Type="http://schemas.openxmlformats.org/officeDocument/2006/relationships/slide" Target="slides/slide3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9" Type="http://schemas.openxmlformats.org/officeDocument/2006/relationships/slide" Target="slides/slide25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53" Type="http://schemas.openxmlformats.org/officeDocument/2006/relationships/presProps" Target="presProps.xml"/><Relationship Id="rId58" Type="http://schemas.microsoft.com/office/2018/10/relationships/authors" Target="authors.xml"/><Relationship Id="rId5" Type="http://schemas.openxmlformats.org/officeDocument/2006/relationships/slide" Target="slides/slide1.xml"/><Relationship Id="rId19" Type="http://schemas.openxmlformats.org/officeDocument/2006/relationships/slide" Target="slides/slide15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openxmlformats.org/officeDocument/2006/relationships/slide" Target="slides/slide39.xml"/><Relationship Id="rId48" Type="http://schemas.openxmlformats.org/officeDocument/2006/relationships/slide" Target="slides/slide44.xml"/><Relationship Id="rId56" Type="http://schemas.openxmlformats.org/officeDocument/2006/relationships/tableStyles" Target="tableStyles.xml"/><Relationship Id="rId8" Type="http://schemas.openxmlformats.org/officeDocument/2006/relationships/slide" Target="slides/slide4.xml"/><Relationship Id="rId51" Type="http://schemas.openxmlformats.org/officeDocument/2006/relationships/slide" Target="slides/slide47.xml"/><Relationship Id="rId3" Type="http://schemas.openxmlformats.org/officeDocument/2006/relationships/customXml" Target="../customXml/item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46" Type="http://schemas.openxmlformats.org/officeDocument/2006/relationships/slide" Target="slides/slide42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54" Type="http://schemas.openxmlformats.org/officeDocument/2006/relationships/viewProps" Target="viewProp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49" Type="http://schemas.openxmlformats.org/officeDocument/2006/relationships/slide" Target="slides/slide45.xml"/><Relationship Id="rId57" Type="http://schemas.microsoft.com/office/2016/11/relationships/changesInfo" Target="changesInfos/changesInfo1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44" Type="http://schemas.openxmlformats.org/officeDocument/2006/relationships/slide" Target="slides/slide40.xml"/><Relationship Id="rId52" Type="http://schemas.openxmlformats.org/officeDocument/2006/relationships/commentAuthors" Target="commentAuthor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Goepp, Kevin" userId="f26f1a5c-74c0-4fb9-9cf6-5a5e36259155" providerId="ADAL" clId="{8A2D3BB5-C389-46F9-A9FD-DB572C4AAFD9}"/>
    <pc:docChg chg="undo custSel modSld">
      <pc:chgData name="Goepp, Kevin" userId="f26f1a5c-74c0-4fb9-9cf6-5a5e36259155" providerId="ADAL" clId="{8A2D3BB5-C389-46F9-A9FD-DB572C4AAFD9}" dt="2026-02-24T17:48:55.832" v="169" actId="20577"/>
      <pc:docMkLst>
        <pc:docMk/>
      </pc:docMkLst>
      <pc:sldChg chg="modSp mod">
        <pc:chgData name="Goepp, Kevin" userId="f26f1a5c-74c0-4fb9-9cf6-5a5e36259155" providerId="ADAL" clId="{8A2D3BB5-C389-46F9-A9FD-DB572C4AAFD9}" dt="2026-02-24T17:37:29.763" v="137" actId="13926"/>
        <pc:sldMkLst>
          <pc:docMk/>
          <pc:sldMk cId="3124778942" sldId="2146846954"/>
        </pc:sldMkLst>
        <pc:graphicFrameChg chg="modGraphic">
          <ac:chgData name="Goepp, Kevin" userId="f26f1a5c-74c0-4fb9-9cf6-5a5e36259155" providerId="ADAL" clId="{8A2D3BB5-C389-46F9-A9FD-DB572C4AAFD9}" dt="2026-02-24T17:37:29.763" v="137" actId="13926"/>
          <ac:graphicFrameMkLst>
            <pc:docMk/>
            <pc:sldMk cId="3124778942" sldId="2146846954"/>
            <ac:graphicFrameMk id="4" creationId="{05D6D6A0-8FDF-6D1B-8FF6-8898482E93E2}"/>
          </ac:graphicFrameMkLst>
        </pc:graphicFrameChg>
      </pc:sldChg>
      <pc:sldChg chg="modSp mod">
        <pc:chgData name="Goepp, Kevin" userId="f26f1a5c-74c0-4fb9-9cf6-5a5e36259155" providerId="ADAL" clId="{8A2D3BB5-C389-46F9-A9FD-DB572C4AAFD9}" dt="2026-02-24T17:37:22.576" v="136" actId="20577"/>
        <pc:sldMkLst>
          <pc:docMk/>
          <pc:sldMk cId="617836550" sldId="2146846956"/>
        </pc:sldMkLst>
        <pc:graphicFrameChg chg="modGraphic">
          <ac:chgData name="Goepp, Kevin" userId="f26f1a5c-74c0-4fb9-9cf6-5a5e36259155" providerId="ADAL" clId="{8A2D3BB5-C389-46F9-A9FD-DB572C4AAFD9}" dt="2026-02-24T17:37:22.576" v="136" actId="20577"/>
          <ac:graphicFrameMkLst>
            <pc:docMk/>
            <pc:sldMk cId="617836550" sldId="2146846956"/>
            <ac:graphicFrameMk id="2" creationId="{4EF12BDC-6C96-7F47-E4B6-0AA9393D7B0F}"/>
          </ac:graphicFrameMkLst>
        </pc:graphicFrameChg>
      </pc:sldChg>
      <pc:sldChg chg="modSp mod">
        <pc:chgData name="Goepp, Kevin" userId="f26f1a5c-74c0-4fb9-9cf6-5a5e36259155" providerId="ADAL" clId="{8A2D3BB5-C389-46F9-A9FD-DB572C4AAFD9}" dt="2026-02-24T17:37:35.636" v="141" actId="20577"/>
        <pc:sldMkLst>
          <pc:docMk/>
          <pc:sldMk cId="2229623370" sldId="2146846961"/>
        </pc:sldMkLst>
        <pc:graphicFrameChg chg="modGraphic">
          <ac:chgData name="Goepp, Kevin" userId="f26f1a5c-74c0-4fb9-9cf6-5a5e36259155" providerId="ADAL" clId="{8A2D3BB5-C389-46F9-A9FD-DB572C4AAFD9}" dt="2026-02-24T17:37:35.636" v="141" actId="20577"/>
          <ac:graphicFrameMkLst>
            <pc:docMk/>
            <pc:sldMk cId="2229623370" sldId="2146846961"/>
            <ac:graphicFrameMk id="4" creationId="{03812DDA-46E9-58D2-0E0B-DD80856AB0CF}"/>
          </ac:graphicFrameMkLst>
        </pc:graphicFrameChg>
      </pc:sldChg>
      <pc:sldChg chg="modSp mod">
        <pc:chgData name="Goepp, Kevin" userId="f26f1a5c-74c0-4fb9-9cf6-5a5e36259155" providerId="ADAL" clId="{8A2D3BB5-C389-46F9-A9FD-DB572C4AAFD9}" dt="2026-02-24T17:43:08.632" v="145" actId="20577"/>
        <pc:sldMkLst>
          <pc:docMk/>
          <pc:sldMk cId="1564711673" sldId="2146846965"/>
        </pc:sldMkLst>
        <pc:graphicFrameChg chg="modGraphic">
          <ac:chgData name="Goepp, Kevin" userId="f26f1a5c-74c0-4fb9-9cf6-5a5e36259155" providerId="ADAL" clId="{8A2D3BB5-C389-46F9-A9FD-DB572C4AAFD9}" dt="2026-02-24T17:43:08.632" v="145" actId="20577"/>
          <ac:graphicFrameMkLst>
            <pc:docMk/>
            <pc:sldMk cId="1564711673" sldId="2146846965"/>
            <ac:graphicFrameMk id="3" creationId="{D60D1778-0840-A39D-2891-8A07CC515802}"/>
          </ac:graphicFrameMkLst>
        </pc:graphicFrameChg>
      </pc:sldChg>
      <pc:sldChg chg="modSp mod">
        <pc:chgData name="Goepp, Kevin" userId="f26f1a5c-74c0-4fb9-9cf6-5a5e36259155" providerId="ADAL" clId="{8A2D3BB5-C389-46F9-A9FD-DB572C4AAFD9}" dt="2026-02-24T17:44:22.225" v="157" actId="20577"/>
        <pc:sldMkLst>
          <pc:docMk/>
          <pc:sldMk cId="2379091201" sldId="2146846967"/>
        </pc:sldMkLst>
        <pc:graphicFrameChg chg="modGraphic">
          <ac:chgData name="Goepp, Kevin" userId="f26f1a5c-74c0-4fb9-9cf6-5a5e36259155" providerId="ADAL" clId="{8A2D3BB5-C389-46F9-A9FD-DB572C4AAFD9}" dt="2026-02-24T17:44:22.225" v="157" actId="20577"/>
          <ac:graphicFrameMkLst>
            <pc:docMk/>
            <pc:sldMk cId="2379091201" sldId="2146846967"/>
            <ac:graphicFrameMk id="5" creationId="{E7E6E264-3D51-D54E-183F-2044803630B0}"/>
          </ac:graphicFrameMkLst>
        </pc:graphicFrameChg>
      </pc:sldChg>
      <pc:sldChg chg="modSp mod">
        <pc:chgData name="Goepp, Kevin" userId="f26f1a5c-74c0-4fb9-9cf6-5a5e36259155" providerId="ADAL" clId="{8A2D3BB5-C389-46F9-A9FD-DB572C4AAFD9}" dt="2026-02-24T17:44:57.525" v="161" actId="20577"/>
        <pc:sldMkLst>
          <pc:docMk/>
          <pc:sldMk cId="1459221320" sldId="2146846968"/>
        </pc:sldMkLst>
        <pc:graphicFrameChg chg="modGraphic">
          <ac:chgData name="Goepp, Kevin" userId="f26f1a5c-74c0-4fb9-9cf6-5a5e36259155" providerId="ADAL" clId="{8A2D3BB5-C389-46F9-A9FD-DB572C4AAFD9}" dt="2026-02-24T17:44:57.525" v="161" actId="20577"/>
          <ac:graphicFrameMkLst>
            <pc:docMk/>
            <pc:sldMk cId="1459221320" sldId="2146846968"/>
            <ac:graphicFrameMk id="5" creationId="{8701D71E-002B-80A5-5115-1BE59DE0EE52}"/>
          </ac:graphicFrameMkLst>
        </pc:graphicFrameChg>
      </pc:sldChg>
      <pc:sldChg chg="modSp mod">
        <pc:chgData name="Goepp, Kevin" userId="f26f1a5c-74c0-4fb9-9cf6-5a5e36259155" providerId="ADAL" clId="{8A2D3BB5-C389-46F9-A9FD-DB572C4AAFD9}" dt="2026-02-24T17:43:19.494" v="149" actId="20577"/>
        <pc:sldMkLst>
          <pc:docMk/>
          <pc:sldMk cId="374065314" sldId="2146846993"/>
        </pc:sldMkLst>
        <pc:graphicFrameChg chg="modGraphic">
          <ac:chgData name="Goepp, Kevin" userId="f26f1a5c-74c0-4fb9-9cf6-5a5e36259155" providerId="ADAL" clId="{8A2D3BB5-C389-46F9-A9FD-DB572C4AAFD9}" dt="2026-02-24T17:43:19.494" v="149" actId="20577"/>
          <ac:graphicFrameMkLst>
            <pc:docMk/>
            <pc:sldMk cId="374065314" sldId="2146846993"/>
            <ac:graphicFrameMk id="4" creationId="{9A6126D9-9FAE-2C82-2AB9-4134FB0976BD}"/>
          </ac:graphicFrameMkLst>
        </pc:graphicFrameChg>
      </pc:sldChg>
      <pc:sldChg chg="modSp mod">
        <pc:chgData name="Goepp, Kevin" userId="f26f1a5c-74c0-4fb9-9cf6-5a5e36259155" providerId="ADAL" clId="{8A2D3BB5-C389-46F9-A9FD-DB572C4AAFD9}" dt="2026-02-24T17:43:30.240" v="153" actId="20577"/>
        <pc:sldMkLst>
          <pc:docMk/>
          <pc:sldMk cId="1485355161" sldId="2146846994"/>
        </pc:sldMkLst>
        <pc:graphicFrameChg chg="modGraphic">
          <ac:chgData name="Goepp, Kevin" userId="f26f1a5c-74c0-4fb9-9cf6-5a5e36259155" providerId="ADAL" clId="{8A2D3BB5-C389-46F9-A9FD-DB572C4AAFD9}" dt="2026-02-24T17:43:30.240" v="153" actId="20577"/>
          <ac:graphicFrameMkLst>
            <pc:docMk/>
            <pc:sldMk cId="1485355161" sldId="2146846994"/>
            <ac:graphicFrameMk id="2" creationId="{7DC3F37C-7086-F72E-2168-2AD4473A6408}"/>
          </ac:graphicFrameMkLst>
        </pc:graphicFrameChg>
      </pc:sldChg>
      <pc:sldChg chg="modSp mod">
        <pc:chgData name="Goepp, Kevin" userId="f26f1a5c-74c0-4fb9-9cf6-5a5e36259155" providerId="ADAL" clId="{8A2D3BB5-C389-46F9-A9FD-DB572C4AAFD9}" dt="2026-02-24T17:48:22.029" v="165" actId="20577"/>
        <pc:sldMkLst>
          <pc:docMk/>
          <pc:sldMk cId="1873640556" sldId="2146846996"/>
        </pc:sldMkLst>
        <pc:graphicFrameChg chg="modGraphic">
          <ac:chgData name="Goepp, Kevin" userId="f26f1a5c-74c0-4fb9-9cf6-5a5e36259155" providerId="ADAL" clId="{8A2D3BB5-C389-46F9-A9FD-DB572C4AAFD9}" dt="2026-02-24T17:48:22.029" v="165" actId="20577"/>
          <ac:graphicFrameMkLst>
            <pc:docMk/>
            <pc:sldMk cId="1873640556" sldId="2146846996"/>
            <ac:graphicFrameMk id="9" creationId="{5C337C18-A652-342C-5B80-E96A933FE279}"/>
          </ac:graphicFrameMkLst>
        </pc:graphicFrameChg>
      </pc:sldChg>
      <pc:sldChg chg="modSp mod">
        <pc:chgData name="Goepp, Kevin" userId="f26f1a5c-74c0-4fb9-9cf6-5a5e36259155" providerId="ADAL" clId="{8A2D3BB5-C389-46F9-A9FD-DB572C4AAFD9}" dt="2026-02-24T17:48:55.832" v="169" actId="20577"/>
        <pc:sldMkLst>
          <pc:docMk/>
          <pc:sldMk cId="3030082521" sldId="2146846997"/>
        </pc:sldMkLst>
        <pc:graphicFrameChg chg="modGraphic">
          <ac:chgData name="Goepp, Kevin" userId="f26f1a5c-74c0-4fb9-9cf6-5a5e36259155" providerId="ADAL" clId="{8A2D3BB5-C389-46F9-A9FD-DB572C4AAFD9}" dt="2026-02-24T17:48:55.832" v="169" actId="20577"/>
          <ac:graphicFrameMkLst>
            <pc:docMk/>
            <pc:sldMk cId="3030082521" sldId="2146846997"/>
            <ac:graphicFrameMk id="2" creationId="{F23BE55A-0A62-71E8-B3A3-C2A09024A175}"/>
          </ac:graphicFrameMkLst>
        </pc:graphicFrameChg>
      </pc:sldChg>
    </pc:docChg>
  </pc:docChgLst>
</pc:chgInfo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jpeg"/><Relationship Id="rId13" Type="http://schemas.openxmlformats.org/officeDocument/2006/relationships/image" Target="../media/image18.jpeg"/><Relationship Id="rId3" Type="http://schemas.openxmlformats.org/officeDocument/2006/relationships/image" Target="../media/image8.jpeg"/><Relationship Id="rId7" Type="http://schemas.openxmlformats.org/officeDocument/2006/relationships/image" Target="../media/image12.jpeg"/><Relationship Id="rId12" Type="http://schemas.openxmlformats.org/officeDocument/2006/relationships/image" Target="../media/image17.jpeg"/><Relationship Id="rId2" Type="http://schemas.openxmlformats.org/officeDocument/2006/relationships/image" Target="../media/image7.jpe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1.jpeg"/><Relationship Id="rId11" Type="http://schemas.openxmlformats.org/officeDocument/2006/relationships/image" Target="../media/image16.jpeg"/><Relationship Id="rId5" Type="http://schemas.openxmlformats.org/officeDocument/2006/relationships/image" Target="../media/image10.jpeg"/><Relationship Id="rId10" Type="http://schemas.openxmlformats.org/officeDocument/2006/relationships/image" Target="../media/image15.jpeg"/><Relationship Id="rId4" Type="http://schemas.openxmlformats.org/officeDocument/2006/relationships/image" Target="../media/image9.jpeg"/><Relationship Id="rId9" Type="http://schemas.openxmlformats.org/officeDocument/2006/relationships/image" Target="../media/image14.jpe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ext-Layouts_2-Column-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Section Divider">
            <a:extLst>
              <a:ext uri="{FF2B5EF4-FFF2-40B4-BE49-F238E27FC236}">
                <a16:creationId xmlns:a16="http://schemas.microsoft.com/office/drawing/2014/main" id="{1292A5B7-F392-A34A-96F9-A0251BC247B3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02638" y="1124119"/>
            <a:ext cx="8178800" cy="947750"/>
          </a:xfrm>
          <a:prstGeom prst="rect">
            <a:avLst/>
          </a:prstGeom>
        </p:spPr>
        <p:txBody>
          <a:bodyPr lIns="0">
            <a:normAutofit/>
          </a:bodyPr>
          <a:lstStyle>
            <a:lvl1pPr marL="0" indent="0">
              <a:buNone/>
              <a:defRPr lang="en-US" sz="4800" b="1" kern="1200" dirty="0">
                <a:solidFill>
                  <a:schemeClr val="accent1"/>
                </a:solidFill>
                <a:latin typeface="TeleNeo Office ExtraBold" panose="020B0504040202090203" pitchFamily="34" charset="77"/>
                <a:ea typeface="Roboto Light" charset="0"/>
                <a:cs typeface="Roboto Light" charset="0"/>
              </a:defRPr>
            </a:lvl1pPr>
            <a:lvl2pPr marL="457200" indent="0">
              <a:buNone/>
              <a:defRPr/>
            </a:lvl2pPr>
          </a:lstStyle>
          <a:p>
            <a:pPr marL="0" lvl="0" algn="l" defTabSz="914400" rtl="0" eaLnBrk="1" latinLnBrk="0" hangingPunct="1">
              <a:lnSpc>
                <a:spcPct val="80000"/>
              </a:lnSpc>
            </a:pPr>
            <a:r>
              <a:rPr lang="en-US"/>
              <a:t>Title Highlight</a:t>
            </a:r>
          </a:p>
        </p:txBody>
      </p:sp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E455D354-D220-CB46-9CAB-1571B9C5532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002638" y="2523738"/>
            <a:ext cx="4067837" cy="3819525"/>
          </a:xfrm>
          <a:prstGeom prst="rect">
            <a:avLst/>
          </a:prstGeom>
        </p:spPr>
        <p:txBody>
          <a:bodyPr lIns="0"/>
          <a:lstStyle>
            <a:lvl1pPr marL="285750" indent="-285750">
              <a:buFont typeface="Arial" panose="020B0604020202020204" pitchFamily="34" charset="0"/>
              <a:buChar char="•"/>
              <a:defRPr sz="1400" b="0" i="0">
                <a:latin typeface="TeleNeo Office" panose="020B0504040202090203" pitchFamily="34" charset="77"/>
              </a:defRPr>
            </a:lvl1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, sed do </a:t>
            </a:r>
            <a:r>
              <a:rPr lang="en-US" err="1"/>
              <a:t>eiusmod</a:t>
            </a:r>
            <a:r>
              <a:rPr lang="en-US"/>
              <a:t> </a:t>
            </a:r>
            <a:r>
              <a:rPr lang="en-US" err="1"/>
              <a:t>tempor</a:t>
            </a:r>
            <a:r>
              <a:rPr lang="en-US"/>
              <a:t> </a:t>
            </a:r>
            <a:r>
              <a:rPr lang="en-US" err="1"/>
              <a:t>incididunt</a:t>
            </a:r>
            <a:r>
              <a:rPr lang="en-US"/>
              <a:t> </a:t>
            </a:r>
            <a:r>
              <a:rPr lang="en-US" err="1"/>
              <a:t>ut</a:t>
            </a:r>
            <a:r>
              <a:rPr lang="en-US"/>
              <a:t> </a:t>
            </a:r>
            <a:r>
              <a:rPr lang="en-US" err="1"/>
              <a:t>labore</a:t>
            </a:r>
            <a:r>
              <a:rPr lang="en-US"/>
              <a:t> et dolore magna </a:t>
            </a:r>
            <a:r>
              <a:rPr lang="en-US" err="1"/>
              <a:t>aliqua</a:t>
            </a:r>
            <a:r>
              <a:rPr lang="en-US"/>
              <a:t>.  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sit </a:t>
            </a:r>
            <a:r>
              <a:rPr lang="en-US" err="1"/>
              <a:t>amet</a:t>
            </a:r>
            <a:r>
              <a:rPr lang="en-US"/>
              <a:t>. </a:t>
            </a:r>
          </a:p>
          <a:p>
            <a:pPr lvl="0"/>
            <a:r>
              <a:rPr lang="en-US"/>
              <a:t>Lorem ipsum dolor sit </a:t>
            </a:r>
            <a:r>
              <a:rPr lang="en-US" err="1"/>
              <a:t>amet</a:t>
            </a:r>
            <a:r>
              <a:rPr lang="en-US"/>
              <a:t>. 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, sed do </a:t>
            </a:r>
            <a:r>
              <a:rPr lang="en-US" err="1"/>
              <a:t>eiusmod</a:t>
            </a:r>
            <a:r>
              <a:rPr lang="en-US"/>
              <a:t> </a:t>
            </a:r>
            <a:r>
              <a:rPr lang="en-US" err="1"/>
              <a:t>tempor</a:t>
            </a:r>
            <a:r>
              <a:rPr lang="en-US"/>
              <a:t> </a:t>
            </a:r>
            <a:r>
              <a:rPr lang="en-US" err="1"/>
              <a:t>incididunt</a:t>
            </a:r>
            <a:r>
              <a:rPr lang="en-US"/>
              <a:t> </a:t>
            </a:r>
            <a:r>
              <a:rPr lang="en-US" err="1"/>
              <a:t>ut</a:t>
            </a:r>
            <a:r>
              <a:rPr lang="en-US"/>
              <a:t> </a:t>
            </a:r>
            <a:r>
              <a:rPr lang="en-US" err="1"/>
              <a:t>labore</a:t>
            </a:r>
            <a:r>
              <a:rPr lang="en-US"/>
              <a:t> et dolore magna </a:t>
            </a:r>
            <a:r>
              <a:rPr lang="en-US" err="1"/>
              <a:t>aliqua</a:t>
            </a:r>
            <a:r>
              <a:rPr lang="en-US"/>
              <a:t>.  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sit </a:t>
            </a:r>
            <a:r>
              <a:rPr lang="en-US" err="1"/>
              <a:t>amet</a:t>
            </a:r>
            <a:r>
              <a:rPr lang="en-US"/>
              <a:t>. </a:t>
            </a:r>
          </a:p>
          <a:p>
            <a:pPr lvl="0"/>
            <a:r>
              <a:rPr lang="en-US"/>
              <a:t>Lorem ipsum dolor sit </a:t>
            </a:r>
            <a:r>
              <a:rPr lang="en-US" err="1"/>
              <a:t>amet</a:t>
            </a:r>
            <a:r>
              <a:rPr lang="en-US"/>
              <a:t>. 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, sed do </a:t>
            </a:r>
            <a:r>
              <a:rPr lang="en-US" err="1"/>
              <a:t>eiusmod</a:t>
            </a:r>
            <a:r>
              <a:rPr lang="en-US"/>
              <a:t> </a:t>
            </a:r>
            <a:r>
              <a:rPr lang="en-US" err="1"/>
              <a:t>tempor</a:t>
            </a:r>
            <a:r>
              <a:rPr lang="en-US"/>
              <a:t> </a:t>
            </a:r>
            <a:r>
              <a:rPr lang="en-US" err="1"/>
              <a:t>incididunt</a:t>
            </a:r>
            <a:r>
              <a:rPr lang="en-US"/>
              <a:t> </a:t>
            </a:r>
            <a:r>
              <a:rPr lang="en-US" err="1"/>
              <a:t>ut</a:t>
            </a:r>
            <a:r>
              <a:rPr lang="en-US"/>
              <a:t> </a:t>
            </a:r>
            <a:r>
              <a:rPr lang="en-US" err="1"/>
              <a:t>labore</a:t>
            </a:r>
            <a:r>
              <a:rPr lang="en-US"/>
              <a:t> et dolore magna </a:t>
            </a:r>
            <a:r>
              <a:rPr lang="en-US" err="1"/>
              <a:t>aliqua</a:t>
            </a:r>
            <a:r>
              <a:rPr lang="en-US"/>
              <a:t>.  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sit </a:t>
            </a:r>
            <a:r>
              <a:rPr lang="en-US" err="1"/>
              <a:t>amet</a:t>
            </a:r>
            <a:r>
              <a:rPr lang="en-US"/>
              <a:t>. Lorem ipsum dolor sit </a:t>
            </a:r>
            <a:r>
              <a:rPr lang="en-US" err="1"/>
              <a:t>amet</a:t>
            </a:r>
            <a:r>
              <a:rPr lang="en-US"/>
              <a:t>.</a:t>
            </a:r>
          </a:p>
        </p:txBody>
      </p:sp>
      <p:sp>
        <p:nvSpPr>
          <p:cNvPr id="25" name="Text Placeholder 14">
            <a:extLst>
              <a:ext uri="{FF2B5EF4-FFF2-40B4-BE49-F238E27FC236}">
                <a16:creationId xmlns:a16="http://schemas.microsoft.com/office/drawing/2014/main" id="{3987D8D1-1A96-1A43-8706-FEFBA6A3E75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119150" y="2523738"/>
            <a:ext cx="4090987" cy="3819525"/>
          </a:xfrm>
          <a:prstGeom prst="rect">
            <a:avLst/>
          </a:prstGeom>
        </p:spPr>
        <p:txBody>
          <a:bodyPr lIns="0"/>
          <a:lstStyle>
            <a:lvl1pPr marL="285750" indent="-285750">
              <a:buFont typeface="Arial" panose="020B0604020202020204" pitchFamily="34" charset="0"/>
              <a:buChar char="•"/>
              <a:defRPr sz="1400" b="0" i="0">
                <a:latin typeface="TeleNeo Office" panose="020B0504040202090203" pitchFamily="34" charset="77"/>
              </a:defRPr>
            </a:lvl1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, sed do </a:t>
            </a:r>
            <a:r>
              <a:rPr lang="en-US" err="1"/>
              <a:t>eiusmod</a:t>
            </a:r>
            <a:r>
              <a:rPr lang="en-US"/>
              <a:t> </a:t>
            </a:r>
            <a:r>
              <a:rPr lang="en-US" err="1"/>
              <a:t>tempor</a:t>
            </a:r>
            <a:r>
              <a:rPr lang="en-US"/>
              <a:t> </a:t>
            </a:r>
            <a:r>
              <a:rPr lang="en-US" err="1"/>
              <a:t>incididunt</a:t>
            </a:r>
            <a:r>
              <a:rPr lang="en-US"/>
              <a:t> </a:t>
            </a:r>
            <a:r>
              <a:rPr lang="en-US" err="1"/>
              <a:t>ut</a:t>
            </a:r>
            <a:r>
              <a:rPr lang="en-US"/>
              <a:t> </a:t>
            </a:r>
            <a:r>
              <a:rPr lang="en-US" err="1"/>
              <a:t>labore</a:t>
            </a:r>
            <a:r>
              <a:rPr lang="en-US"/>
              <a:t> et dolore magna </a:t>
            </a:r>
            <a:r>
              <a:rPr lang="en-US" err="1"/>
              <a:t>aliqua</a:t>
            </a:r>
            <a:r>
              <a:rPr lang="en-US"/>
              <a:t>.  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sit </a:t>
            </a:r>
            <a:r>
              <a:rPr lang="en-US" err="1"/>
              <a:t>amet</a:t>
            </a:r>
            <a:r>
              <a:rPr lang="en-US"/>
              <a:t>. </a:t>
            </a:r>
          </a:p>
          <a:p>
            <a:pPr lvl="0"/>
            <a:r>
              <a:rPr lang="en-US"/>
              <a:t>Lorem ipsum dolor sit </a:t>
            </a:r>
            <a:r>
              <a:rPr lang="en-US" err="1"/>
              <a:t>amet</a:t>
            </a:r>
            <a:r>
              <a:rPr lang="en-US"/>
              <a:t>. 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, sed do </a:t>
            </a:r>
            <a:r>
              <a:rPr lang="en-US" err="1"/>
              <a:t>eiusmod</a:t>
            </a:r>
            <a:r>
              <a:rPr lang="en-US"/>
              <a:t> </a:t>
            </a:r>
            <a:r>
              <a:rPr lang="en-US" err="1"/>
              <a:t>tempor</a:t>
            </a:r>
            <a:r>
              <a:rPr lang="en-US"/>
              <a:t> </a:t>
            </a:r>
            <a:r>
              <a:rPr lang="en-US" err="1"/>
              <a:t>incididunt</a:t>
            </a:r>
            <a:r>
              <a:rPr lang="en-US"/>
              <a:t> </a:t>
            </a:r>
            <a:r>
              <a:rPr lang="en-US" err="1"/>
              <a:t>ut</a:t>
            </a:r>
            <a:r>
              <a:rPr lang="en-US"/>
              <a:t> </a:t>
            </a:r>
            <a:r>
              <a:rPr lang="en-US" err="1"/>
              <a:t>labore</a:t>
            </a:r>
            <a:r>
              <a:rPr lang="en-US"/>
              <a:t> et dolore magna </a:t>
            </a:r>
            <a:r>
              <a:rPr lang="en-US" err="1"/>
              <a:t>aliqua</a:t>
            </a:r>
            <a:r>
              <a:rPr lang="en-US"/>
              <a:t>.  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sit </a:t>
            </a:r>
            <a:r>
              <a:rPr lang="en-US" err="1"/>
              <a:t>amet</a:t>
            </a:r>
            <a:r>
              <a:rPr lang="en-US"/>
              <a:t>. </a:t>
            </a:r>
          </a:p>
          <a:p>
            <a:pPr lvl="0"/>
            <a:r>
              <a:rPr lang="en-US"/>
              <a:t>Lorem ipsum dolor sit </a:t>
            </a:r>
            <a:r>
              <a:rPr lang="en-US" err="1"/>
              <a:t>amet</a:t>
            </a:r>
            <a:r>
              <a:rPr lang="en-US"/>
              <a:t>. 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, sed do </a:t>
            </a:r>
            <a:r>
              <a:rPr lang="en-US" err="1"/>
              <a:t>eiusmod</a:t>
            </a:r>
            <a:r>
              <a:rPr lang="en-US"/>
              <a:t> </a:t>
            </a:r>
            <a:r>
              <a:rPr lang="en-US" err="1"/>
              <a:t>tempor</a:t>
            </a:r>
            <a:r>
              <a:rPr lang="en-US"/>
              <a:t> </a:t>
            </a:r>
            <a:r>
              <a:rPr lang="en-US" err="1"/>
              <a:t>incididunt</a:t>
            </a:r>
            <a:r>
              <a:rPr lang="en-US"/>
              <a:t> </a:t>
            </a:r>
            <a:r>
              <a:rPr lang="en-US" err="1"/>
              <a:t>ut</a:t>
            </a:r>
            <a:r>
              <a:rPr lang="en-US"/>
              <a:t> </a:t>
            </a:r>
            <a:r>
              <a:rPr lang="en-US" err="1"/>
              <a:t>labore</a:t>
            </a:r>
            <a:r>
              <a:rPr lang="en-US"/>
              <a:t> et dolore magna </a:t>
            </a:r>
            <a:r>
              <a:rPr lang="en-US" err="1"/>
              <a:t>aliqua</a:t>
            </a:r>
            <a:r>
              <a:rPr lang="en-US"/>
              <a:t>.  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sit </a:t>
            </a:r>
            <a:r>
              <a:rPr lang="en-US" err="1"/>
              <a:t>amet</a:t>
            </a:r>
            <a:r>
              <a:rPr lang="en-US"/>
              <a:t>. Lorem ipsum dolor sit </a:t>
            </a:r>
            <a:r>
              <a:rPr lang="en-US" err="1"/>
              <a:t>amet</a:t>
            </a:r>
            <a:r>
              <a:rPr lang="en-US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41737323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ext-Layouts_2-Column-Magenta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Slide Number Placeholder 5">
            <a:extLst>
              <a:ext uri="{FF2B5EF4-FFF2-40B4-BE49-F238E27FC236}">
                <a16:creationId xmlns:a16="http://schemas.microsoft.com/office/drawing/2014/main" id="{45C007E6-4DBB-EE44-A2B3-02A9191DFBE5}"/>
              </a:ext>
            </a:extLst>
          </p:cNvPr>
          <p:cNvSpPr txBox="1">
            <a:spLocks/>
          </p:cNvSpPr>
          <p:nvPr userDrawn="1"/>
        </p:nvSpPr>
        <p:spPr>
          <a:xfrm>
            <a:off x="78952" y="6361009"/>
            <a:ext cx="629079" cy="489496"/>
          </a:xfrm>
          <a:prstGeom prst="rect">
            <a:avLst/>
          </a:prstGeom>
        </p:spPr>
        <p:txBody>
          <a:bodyPr vert="horz" wrap="none" lIns="121920" tIns="60960" rIns="121920" bIns="6096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400" b="1" i="0" smtClean="0">
                <a:solidFill>
                  <a:schemeClr val="bg1"/>
                </a:solidFill>
                <a:latin typeface="Bebas Neue Bold" charset="0"/>
                <a:ea typeface="Bebas Neue Bold" charset="0"/>
                <a:cs typeface="Bebas Neue Bold" charset="0"/>
              </a:rPr>
              <a:pPr algn="ctr"/>
              <a:t>‹#›</a:t>
            </a:fld>
            <a:endParaRPr lang="en-US" sz="1400" b="1" i="0">
              <a:solidFill>
                <a:schemeClr val="bg1"/>
              </a:solidFill>
              <a:latin typeface="Bebas Neue Bold" charset="0"/>
              <a:ea typeface="Bebas Neue Bold" charset="0"/>
              <a:cs typeface="Bebas Neue Bold" charset="0"/>
            </a:endParaRPr>
          </a:p>
        </p:txBody>
      </p:sp>
      <p:sp>
        <p:nvSpPr>
          <p:cNvPr id="10" name="Section Divider">
            <a:extLst>
              <a:ext uri="{FF2B5EF4-FFF2-40B4-BE49-F238E27FC236}">
                <a16:creationId xmlns:a16="http://schemas.microsoft.com/office/drawing/2014/main" id="{1292A5B7-F392-A34A-96F9-A0251BC247B3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02638" y="1124119"/>
            <a:ext cx="8178800" cy="947750"/>
          </a:xfrm>
          <a:prstGeom prst="rect">
            <a:avLst/>
          </a:prstGeom>
        </p:spPr>
        <p:txBody>
          <a:bodyPr lIns="0">
            <a:normAutofit/>
          </a:bodyPr>
          <a:lstStyle>
            <a:lvl1pPr marL="0" indent="0">
              <a:buNone/>
              <a:defRPr lang="en-US" sz="4800" b="1" kern="1200" dirty="0">
                <a:solidFill>
                  <a:schemeClr val="bg1"/>
                </a:solidFill>
                <a:latin typeface="TeleNeo Office ExtraBold" panose="020B0504040202090203" pitchFamily="34" charset="77"/>
                <a:ea typeface="Roboto Light" charset="0"/>
                <a:cs typeface="Roboto Light" charset="0"/>
              </a:defRPr>
            </a:lvl1pPr>
            <a:lvl2pPr marL="457200" indent="0">
              <a:buNone/>
              <a:defRPr/>
            </a:lvl2pPr>
          </a:lstStyle>
          <a:p>
            <a:pPr marL="0" lvl="0" algn="l" defTabSz="914400" rtl="0" eaLnBrk="1" latinLnBrk="0" hangingPunct="1">
              <a:lnSpc>
                <a:spcPct val="80000"/>
              </a:lnSpc>
            </a:pPr>
            <a:r>
              <a:rPr lang="en-US"/>
              <a:t>Title Highlight</a:t>
            </a:r>
          </a:p>
        </p:txBody>
      </p:sp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E455D354-D220-CB46-9CAB-1571B9C5532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002638" y="2523738"/>
            <a:ext cx="4067837" cy="3819525"/>
          </a:xfrm>
          <a:prstGeom prst="rect">
            <a:avLst/>
          </a:prstGeom>
        </p:spPr>
        <p:txBody>
          <a:bodyPr lIns="0"/>
          <a:lstStyle>
            <a:lvl1pPr marL="285750" indent="-285750">
              <a:buFont typeface="Arial" panose="020B0604020202020204" pitchFamily="34" charset="0"/>
              <a:buChar char="•"/>
              <a:defRPr sz="1400" b="0" i="0">
                <a:solidFill>
                  <a:schemeClr val="bg1"/>
                </a:solidFill>
                <a:latin typeface="TeleNeo Office" panose="020B0504040202090203" pitchFamily="34" charset="77"/>
              </a:defRPr>
            </a:lvl1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, sed do </a:t>
            </a:r>
            <a:r>
              <a:rPr lang="en-US" err="1"/>
              <a:t>eiusmod</a:t>
            </a:r>
            <a:r>
              <a:rPr lang="en-US"/>
              <a:t> </a:t>
            </a:r>
            <a:r>
              <a:rPr lang="en-US" err="1"/>
              <a:t>tempor</a:t>
            </a:r>
            <a:r>
              <a:rPr lang="en-US"/>
              <a:t> </a:t>
            </a:r>
            <a:r>
              <a:rPr lang="en-US" err="1"/>
              <a:t>incididunt</a:t>
            </a:r>
            <a:r>
              <a:rPr lang="en-US"/>
              <a:t> </a:t>
            </a:r>
            <a:r>
              <a:rPr lang="en-US" err="1"/>
              <a:t>ut</a:t>
            </a:r>
            <a:r>
              <a:rPr lang="en-US"/>
              <a:t> </a:t>
            </a:r>
            <a:r>
              <a:rPr lang="en-US" err="1"/>
              <a:t>labore</a:t>
            </a:r>
            <a:r>
              <a:rPr lang="en-US"/>
              <a:t> et dolore magna </a:t>
            </a:r>
            <a:r>
              <a:rPr lang="en-US" err="1"/>
              <a:t>aliqua</a:t>
            </a:r>
            <a:r>
              <a:rPr lang="en-US"/>
              <a:t>.  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sit </a:t>
            </a:r>
            <a:r>
              <a:rPr lang="en-US" err="1"/>
              <a:t>amet</a:t>
            </a:r>
            <a:r>
              <a:rPr lang="en-US"/>
              <a:t>. </a:t>
            </a:r>
          </a:p>
          <a:p>
            <a:pPr lvl="0"/>
            <a:r>
              <a:rPr lang="en-US"/>
              <a:t>Lorem ipsum dolor sit </a:t>
            </a:r>
            <a:r>
              <a:rPr lang="en-US" err="1"/>
              <a:t>amet</a:t>
            </a:r>
            <a:r>
              <a:rPr lang="en-US"/>
              <a:t>. 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, sed do </a:t>
            </a:r>
            <a:r>
              <a:rPr lang="en-US" err="1"/>
              <a:t>eiusmod</a:t>
            </a:r>
            <a:r>
              <a:rPr lang="en-US"/>
              <a:t> </a:t>
            </a:r>
            <a:r>
              <a:rPr lang="en-US" err="1"/>
              <a:t>tempor</a:t>
            </a:r>
            <a:r>
              <a:rPr lang="en-US"/>
              <a:t> </a:t>
            </a:r>
            <a:r>
              <a:rPr lang="en-US" err="1"/>
              <a:t>incididunt</a:t>
            </a:r>
            <a:r>
              <a:rPr lang="en-US"/>
              <a:t> </a:t>
            </a:r>
            <a:r>
              <a:rPr lang="en-US" err="1"/>
              <a:t>ut</a:t>
            </a:r>
            <a:r>
              <a:rPr lang="en-US"/>
              <a:t> </a:t>
            </a:r>
            <a:r>
              <a:rPr lang="en-US" err="1"/>
              <a:t>labore</a:t>
            </a:r>
            <a:r>
              <a:rPr lang="en-US"/>
              <a:t> et dolore magna </a:t>
            </a:r>
            <a:r>
              <a:rPr lang="en-US" err="1"/>
              <a:t>aliqua</a:t>
            </a:r>
            <a:r>
              <a:rPr lang="en-US"/>
              <a:t>.  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sit </a:t>
            </a:r>
            <a:r>
              <a:rPr lang="en-US" err="1"/>
              <a:t>amet</a:t>
            </a:r>
            <a:r>
              <a:rPr lang="en-US"/>
              <a:t>. </a:t>
            </a:r>
          </a:p>
          <a:p>
            <a:pPr lvl="0"/>
            <a:r>
              <a:rPr lang="en-US"/>
              <a:t>Lorem ipsum dolor sit </a:t>
            </a:r>
            <a:r>
              <a:rPr lang="en-US" err="1"/>
              <a:t>amet</a:t>
            </a:r>
            <a:r>
              <a:rPr lang="en-US"/>
              <a:t>. 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, sed do </a:t>
            </a:r>
            <a:r>
              <a:rPr lang="en-US" err="1"/>
              <a:t>eiusmod</a:t>
            </a:r>
            <a:r>
              <a:rPr lang="en-US"/>
              <a:t> </a:t>
            </a:r>
            <a:r>
              <a:rPr lang="en-US" err="1"/>
              <a:t>tempor</a:t>
            </a:r>
            <a:r>
              <a:rPr lang="en-US"/>
              <a:t> </a:t>
            </a:r>
            <a:r>
              <a:rPr lang="en-US" err="1"/>
              <a:t>incididunt</a:t>
            </a:r>
            <a:r>
              <a:rPr lang="en-US"/>
              <a:t> </a:t>
            </a:r>
            <a:r>
              <a:rPr lang="en-US" err="1"/>
              <a:t>ut</a:t>
            </a:r>
            <a:r>
              <a:rPr lang="en-US"/>
              <a:t> </a:t>
            </a:r>
            <a:r>
              <a:rPr lang="en-US" err="1"/>
              <a:t>labore</a:t>
            </a:r>
            <a:r>
              <a:rPr lang="en-US"/>
              <a:t> et dolore magna </a:t>
            </a:r>
            <a:r>
              <a:rPr lang="en-US" err="1"/>
              <a:t>aliqua</a:t>
            </a:r>
            <a:r>
              <a:rPr lang="en-US"/>
              <a:t>.  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sit </a:t>
            </a:r>
            <a:r>
              <a:rPr lang="en-US" err="1"/>
              <a:t>amet</a:t>
            </a:r>
            <a:r>
              <a:rPr lang="en-US"/>
              <a:t>. Lorem ipsum dolor sit </a:t>
            </a:r>
            <a:r>
              <a:rPr lang="en-US" err="1"/>
              <a:t>amet</a:t>
            </a:r>
            <a:r>
              <a:rPr lang="en-US"/>
              <a:t>.</a:t>
            </a:r>
          </a:p>
        </p:txBody>
      </p:sp>
      <p:sp>
        <p:nvSpPr>
          <p:cNvPr id="25" name="Text Placeholder 14">
            <a:extLst>
              <a:ext uri="{FF2B5EF4-FFF2-40B4-BE49-F238E27FC236}">
                <a16:creationId xmlns:a16="http://schemas.microsoft.com/office/drawing/2014/main" id="{3987D8D1-1A96-1A43-8706-FEFBA6A3E75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119150" y="2523738"/>
            <a:ext cx="4090987" cy="3819525"/>
          </a:xfrm>
          <a:prstGeom prst="rect">
            <a:avLst/>
          </a:prstGeom>
        </p:spPr>
        <p:txBody>
          <a:bodyPr lIns="0"/>
          <a:lstStyle>
            <a:lvl1pPr marL="285750" indent="-285750">
              <a:buFont typeface="Arial" panose="020B0604020202020204" pitchFamily="34" charset="0"/>
              <a:buChar char="•"/>
              <a:defRPr sz="1400" b="0" i="0">
                <a:solidFill>
                  <a:schemeClr val="bg1"/>
                </a:solidFill>
                <a:latin typeface="TeleNeo Office" panose="020B0504040202090203" pitchFamily="34" charset="77"/>
              </a:defRPr>
            </a:lvl1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, sed do </a:t>
            </a:r>
            <a:r>
              <a:rPr lang="en-US" err="1"/>
              <a:t>eiusmod</a:t>
            </a:r>
            <a:r>
              <a:rPr lang="en-US"/>
              <a:t> </a:t>
            </a:r>
            <a:r>
              <a:rPr lang="en-US" err="1"/>
              <a:t>tempor</a:t>
            </a:r>
            <a:r>
              <a:rPr lang="en-US"/>
              <a:t> </a:t>
            </a:r>
            <a:r>
              <a:rPr lang="en-US" err="1"/>
              <a:t>incididunt</a:t>
            </a:r>
            <a:r>
              <a:rPr lang="en-US"/>
              <a:t> </a:t>
            </a:r>
            <a:r>
              <a:rPr lang="en-US" err="1"/>
              <a:t>ut</a:t>
            </a:r>
            <a:r>
              <a:rPr lang="en-US"/>
              <a:t> </a:t>
            </a:r>
            <a:r>
              <a:rPr lang="en-US" err="1"/>
              <a:t>labore</a:t>
            </a:r>
            <a:r>
              <a:rPr lang="en-US"/>
              <a:t> et dolore magna </a:t>
            </a:r>
            <a:r>
              <a:rPr lang="en-US" err="1"/>
              <a:t>aliqua</a:t>
            </a:r>
            <a:r>
              <a:rPr lang="en-US"/>
              <a:t>.  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sit </a:t>
            </a:r>
            <a:r>
              <a:rPr lang="en-US" err="1"/>
              <a:t>amet</a:t>
            </a:r>
            <a:r>
              <a:rPr lang="en-US"/>
              <a:t>. </a:t>
            </a:r>
          </a:p>
          <a:p>
            <a:pPr lvl="0"/>
            <a:r>
              <a:rPr lang="en-US"/>
              <a:t>Lorem ipsum dolor sit </a:t>
            </a:r>
            <a:r>
              <a:rPr lang="en-US" err="1"/>
              <a:t>amet</a:t>
            </a:r>
            <a:r>
              <a:rPr lang="en-US"/>
              <a:t>. 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, sed do </a:t>
            </a:r>
            <a:r>
              <a:rPr lang="en-US" err="1"/>
              <a:t>eiusmod</a:t>
            </a:r>
            <a:r>
              <a:rPr lang="en-US"/>
              <a:t> </a:t>
            </a:r>
            <a:r>
              <a:rPr lang="en-US" err="1"/>
              <a:t>tempor</a:t>
            </a:r>
            <a:r>
              <a:rPr lang="en-US"/>
              <a:t> </a:t>
            </a:r>
            <a:r>
              <a:rPr lang="en-US" err="1"/>
              <a:t>incididunt</a:t>
            </a:r>
            <a:r>
              <a:rPr lang="en-US"/>
              <a:t> </a:t>
            </a:r>
            <a:r>
              <a:rPr lang="en-US" err="1"/>
              <a:t>ut</a:t>
            </a:r>
            <a:r>
              <a:rPr lang="en-US"/>
              <a:t> </a:t>
            </a:r>
            <a:r>
              <a:rPr lang="en-US" err="1"/>
              <a:t>labore</a:t>
            </a:r>
            <a:r>
              <a:rPr lang="en-US"/>
              <a:t> et dolore magna </a:t>
            </a:r>
            <a:r>
              <a:rPr lang="en-US" err="1"/>
              <a:t>aliqua</a:t>
            </a:r>
            <a:r>
              <a:rPr lang="en-US"/>
              <a:t>.  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sit </a:t>
            </a:r>
            <a:r>
              <a:rPr lang="en-US" err="1"/>
              <a:t>amet</a:t>
            </a:r>
            <a:r>
              <a:rPr lang="en-US"/>
              <a:t>. </a:t>
            </a:r>
          </a:p>
          <a:p>
            <a:pPr lvl="0"/>
            <a:r>
              <a:rPr lang="en-US"/>
              <a:t>Lorem ipsum dolor sit </a:t>
            </a:r>
            <a:r>
              <a:rPr lang="en-US" err="1"/>
              <a:t>amet</a:t>
            </a:r>
            <a:r>
              <a:rPr lang="en-US"/>
              <a:t>. 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, sed do </a:t>
            </a:r>
            <a:r>
              <a:rPr lang="en-US" err="1"/>
              <a:t>eiusmod</a:t>
            </a:r>
            <a:r>
              <a:rPr lang="en-US"/>
              <a:t> </a:t>
            </a:r>
            <a:r>
              <a:rPr lang="en-US" err="1"/>
              <a:t>tempor</a:t>
            </a:r>
            <a:r>
              <a:rPr lang="en-US"/>
              <a:t> </a:t>
            </a:r>
            <a:r>
              <a:rPr lang="en-US" err="1"/>
              <a:t>incididunt</a:t>
            </a:r>
            <a:r>
              <a:rPr lang="en-US"/>
              <a:t> </a:t>
            </a:r>
            <a:r>
              <a:rPr lang="en-US" err="1"/>
              <a:t>ut</a:t>
            </a:r>
            <a:r>
              <a:rPr lang="en-US"/>
              <a:t> </a:t>
            </a:r>
            <a:r>
              <a:rPr lang="en-US" err="1"/>
              <a:t>labore</a:t>
            </a:r>
            <a:r>
              <a:rPr lang="en-US"/>
              <a:t> et dolore magna </a:t>
            </a:r>
            <a:r>
              <a:rPr lang="en-US" err="1"/>
              <a:t>aliqua</a:t>
            </a:r>
            <a:r>
              <a:rPr lang="en-US"/>
              <a:t>.  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sit </a:t>
            </a:r>
            <a:r>
              <a:rPr lang="en-US" err="1"/>
              <a:t>amet</a:t>
            </a:r>
            <a:r>
              <a:rPr lang="en-US"/>
              <a:t>. Lorem ipsum dolor sit </a:t>
            </a:r>
            <a:r>
              <a:rPr lang="en-US" err="1"/>
              <a:t>amet</a:t>
            </a:r>
            <a:r>
              <a:rPr lang="en-US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50522853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245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ext-Layouts_2-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6095999" y="3059084"/>
            <a:ext cx="5103813" cy="2944048"/>
          </a:xfrm>
          <a:prstGeom prst="rect">
            <a:avLst/>
          </a:prstGeom>
          <a:pattFill prst="pct5">
            <a:fgClr>
              <a:schemeClr val="tx1"/>
            </a:fgClr>
            <a:bgClr>
              <a:schemeClr val="bg1">
                <a:lumMod val="85000"/>
              </a:schemeClr>
            </a:bgClr>
          </a:pattFill>
          <a:effectLst/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/>
              <a:t>Drag &amp; Drop Image</a:t>
            </a:r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id="{B36E8C79-C42F-1F46-BBF9-F2497C91EC2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990600" y="3059084"/>
            <a:ext cx="5103813" cy="2944048"/>
          </a:xfrm>
          <a:prstGeom prst="rect">
            <a:avLst/>
          </a:prstGeom>
          <a:pattFill prst="pct5">
            <a:fgClr>
              <a:schemeClr val="tx1"/>
            </a:fgClr>
            <a:bgClr>
              <a:schemeClr val="bg1">
                <a:lumMod val="85000"/>
              </a:schemeClr>
            </a:bgClr>
          </a:pattFill>
          <a:effectLst/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/>
              <a:t>Drag &amp; Drop Image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4431537D-013D-DF47-97CC-AFDBFCA230E0}"/>
              </a:ext>
            </a:extLst>
          </p:cNvPr>
          <p:cNvCxnSpPr/>
          <p:nvPr userDrawn="1"/>
        </p:nvCxnSpPr>
        <p:spPr>
          <a:xfrm>
            <a:off x="977809" y="3040904"/>
            <a:ext cx="2041415" cy="0"/>
          </a:xfrm>
          <a:prstGeom prst="line">
            <a:avLst/>
          </a:prstGeom>
          <a:ln w="38100">
            <a:solidFill>
              <a:srgbClr val="E2007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Section Divider">
            <a:extLst>
              <a:ext uri="{FF2B5EF4-FFF2-40B4-BE49-F238E27FC236}">
                <a16:creationId xmlns:a16="http://schemas.microsoft.com/office/drawing/2014/main" id="{63539A77-BB76-6F4C-A5B0-E33AE1D1D8C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02638" y="1124119"/>
            <a:ext cx="8178800" cy="717248"/>
          </a:xfrm>
          <a:prstGeom prst="rect">
            <a:avLst/>
          </a:prstGeom>
        </p:spPr>
        <p:txBody>
          <a:bodyPr lIns="0">
            <a:spAutoFit/>
          </a:bodyPr>
          <a:lstStyle>
            <a:lvl1pPr marL="0" indent="0">
              <a:buNone/>
              <a:defRPr lang="en-US" sz="4800" b="1" kern="1200" dirty="0">
                <a:solidFill>
                  <a:schemeClr val="accent1"/>
                </a:solidFill>
                <a:latin typeface="TeleNeo Office ExtraBold" panose="020B0504040202090203" pitchFamily="34" charset="77"/>
                <a:ea typeface="Roboto Light" charset="0"/>
                <a:cs typeface="Roboto Light" charset="0"/>
              </a:defRPr>
            </a:lvl1pPr>
            <a:lvl2pPr marL="457200" indent="0">
              <a:buNone/>
              <a:defRPr/>
            </a:lvl2pPr>
          </a:lstStyle>
          <a:p>
            <a:pPr marL="0" lvl="0" algn="l" defTabSz="914400" rtl="0" eaLnBrk="1" latinLnBrk="0" hangingPunct="1">
              <a:lnSpc>
                <a:spcPct val="80000"/>
              </a:lnSpc>
            </a:pPr>
            <a:r>
              <a:rPr lang="en-US"/>
              <a:t>Title Highlight</a:t>
            </a:r>
          </a:p>
        </p:txBody>
      </p:sp>
      <p:sp>
        <p:nvSpPr>
          <p:cNvPr id="24" name="Text Placeholder 14">
            <a:extLst>
              <a:ext uri="{FF2B5EF4-FFF2-40B4-BE49-F238E27FC236}">
                <a16:creationId xmlns:a16="http://schemas.microsoft.com/office/drawing/2014/main" id="{19E6761C-B1D5-524D-B5C1-8A0F7849B44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002638" y="2156539"/>
            <a:ext cx="8155650" cy="644534"/>
          </a:xfrm>
          <a:prstGeom prst="rect">
            <a:avLst/>
          </a:prstGeom>
        </p:spPr>
        <p:txBody>
          <a:bodyPr lIns="0"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0" i="0">
                <a:solidFill>
                  <a:schemeClr val="tx1"/>
                </a:solidFill>
                <a:latin typeface="TeleNeo Office Medium" panose="020B0504040202090203" pitchFamily="34" charset="77"/>
              </a:defRPr>
            </a:lvl1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, sed do </a:t>
            </a:r>
            <a:r>
              <a:rPr lang="en-US" err="1"/>
              <a:t>eiusmod</a:t>
            </a:r>
            <a:r>
              <a:rPr lang="en-US"/>
              <a:t> </a:t>
            </a:r>
            <a:r>
              <a:rPr lang="en-US" err="1"/>
              <a:t>tempor</a:t>
            </a:r>
            <a:r>
              <a:rPr lang="en-US"/>
              <a:t> </a:t>
            </a:r>
            <a:r>
              <a:rPr lang="en-US" err="1"/>
              <a:t>incididunt</a:t>
            </a:r>
            <a:r>
              <a:rPr lang="en-US"/>
              <a:t> </a:t>
            </a:r>
            <a:r>
              <a:rPr lang="en-US" err="1"/>
              <a:t>ut</a:t>
            </a:r>
            <a:r>
              <a:rPr lang="en-US"/>
              <a:t> </a:t>
            </a:r>
            <a:r>
              <a:rPr lang="en-US" err="1"/>
              <a:t>labore</a:t>
            </a:r>
            <a:r>
              <a:rPr lang="en-US"/>
              <a:t> et dolore magna </a:t>
            </a:r>
            <a:r>
              <a:rPr lang="en-US" err="1"/>
              <a:t>aliqua</a:t>
            </a:r>
            <a:r>
              <a:rPr lang="en-US"/>
              <a:t>. 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, sed do </a:t>
            </a:r>
            <a:r>
              <a:rPr lang="en-US" err="1"/>
              <a:t>eiusmod</a:t>
            </a:r>
            <a:r>
              <a:rPr lang="en-US"/>
              <a:t>.</a:t>
            </a:r>
          </a:p>
          <a:p>
            <a:pPr lvl="0"/>
            <a:r>
              <a:rPr lang="en-U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16009209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ext-Layouts_Text-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23">
            <a:extLst>
              <a:ext uri="{FF2B5EF4-FFF2-40B4-BE49-F238E27FC236}">
                <a16:creationId xmlns:a16="http://schemas.microsoft.com/office/drawing/2014/main" id="{2C350198-13F7-1D4E-BAEE-42B6A6B783D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81855" y="1124119"/>
            <a:ext cx="3462823" cy="717248"/>
          </a:xfrm>
          <a:prstGeom prst="rect">
            <a:avLst/>
          </a:prstGeom>
        </p:spPr>
        <p:txBody>
          <a:bodyPr wrap="square" lIns="0" anchor="t" anchorCtr="0">
            <a:spAutoFit/>
          </a:bodyPr>
          <a:lstStyle>
            <a:lvl1pPr>
              <a:lnSpc>
                <a:spcPct val="80000"/>
              </a:lnSpc>
              <a:defRPr sz="4800">
                <a:solidFill>
                  <a:schemeClr val="accent1"/>
                </a:solidFill>
              </a:defRPr>
            </a:lvl1pPr>
          </a:lstStyle>
          <a:p>
            <a:r>
              <a:rPr lang="en-US"/>
              <a:t>Title</a:t>
            </a:r>
          </a:p>
        </p:txBody>
      </p:sp>
      <p:sp>
        <p:nvSpPr>
          <p:cNvPr id="17" name="Text Placeholder 14">
            <a:extLst>
              <a:ext uri="{FF2B5EF4-FFF2-40B4-BE49-F238E27FC236}">
                <a16:creationId xmlns:a16="http://schemas.microsoft.com/office/drawing/2014/main" id="{799AA8A6-E8DE-CF48-9286-A9EB40B6C56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81855" y="2659777"/>
            <a:ext cx="3499914" cy="2774221"/>
          </a:xfrm>
          <a:prstGeom prst="rect">
            <a:avLst/>
          </a:prstGeom>
        </p:spPr>
        <p:txBody>
          <a:bodyPr lIns="0">
            <a:spAutoFit/>
          </a:bodyPr>
          <a:lstStyle>
            <a:lvl1pPr marL="0" indent="0">
              <a:lnSpc>
                <a:spcPts val="2000"/>
              </a:lnSpc>
              <a:buFont typeface="Arial" panose="020B0604020202020204" pitchFamily="34" charset="0"/>
              <a:buNone/>
              <a:defRPr sz="1400" b="0" i="0">
                <a:latin typeface="TeleNeo Office" panose="020B0504040202090203" pitchFamily="34" charset="77"/>
              </a:defRPr>
            </a:lvl1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, sed do </a:t>
            </a:r>
            <a:r>
              <a:rPr lang="en-US" err="1"/>
              <a:t>eiusmod</a:t>
            </a:r>
            <a:r>
              <a:rPr lang="en-US"/>
              <a:t> </a:t>
            </a:r>
            <a:r>
              <a:rPr lang="en-US" err="1"/>
              <a:t>tempor</a:t>
            </a:r>
            <a:r>
              <a:rPr lang="en-US"/>
              <a:t> </a:t>
            </a:r>
            <a:r>
              <a:rPr lang="en-US" err="1"/>
              <a:t>incididunt</a:t>
            </a:r>
            <a:r>
              <a:rPr lang="en-US"/>
              <a:t> </a:t>
            </a:r>
            <a:r>
              <a:rPr lang="en-US" err="1"/>
              <a:t>ut</a:t>
            </a:r>
            <a:r>
              <a:rPr lang="en-US"/>
              <a:t> </a:t>
            </a:r>
            <a:r>
              <a:rPr lang="en-US" err="1"/>
              <a:t>labore</a:t>
            </a:r>
            <a:r>
              <a:rPr lang="en-US"/>
              <a:t> et dolore magna </a:t>
            </a:r>
            <a:r>
              <a:rPr lang="en-US" err="1"/>
              <a:t>aliqua</a:t>
            </a:r>
            <a:r>
              <a:rPr lang="en-US"/>
              <a:t>.  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sit </a:t>
            </a:r>
            <a:r>
              <a:rPr lang="en-US" err="1"/>
              <a:t>amet</a:t>
            </a:r>
            <a:r>
              <a:rPr lang="en-US"/>
              <a:t>. </a:t>
            </a:r>
          </a:p>
          <a:p>
            <a:pPr lvl="0"/>
            <a:r>
              <a:rPr lang="en-US"/>
              <a:t>Lorem ipsum dolor sit </a:t>
            </a:r>
            <a:r>
              <a:rPr lang="en-US" err="1"/>
              <a:t>amet</a:t>
            </a:r>
            <a:r>
              <a:rPr lang="en-US"/>
              <a:t>. 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, sed do </a:t>
            </a:r>
            <a:r>
              <a:rPr lang="en-US" err="1"/>
              <a:t>eiusmod</a:t>
            </a:r>
            <a:r>
              <a:rPr lang="en-US"/>
              <a:t> </a:t>
            </a:r>
            <a:r>
              <a:rPr lang="en-US" err="1"/>
              <a:t>tempor</a:t>
            </a:r>
            <a:r>
              <a:rPr lang="en-US"/>
              <a:t> </a:t>
            </a:r>
            <a:r>
              <a:rPr lang="en-US" err="1"/>
              <a:t>incididunt</a:t>
            </a:r>
            <a:r>
              <a:rPr lang="en-US"/>
              <a:t> </a:t>
            </a:r>
            <a:r>
              <a:rPr lang="en-US" err="1"/>
              <a:t>ut</a:t>
            </a:r>
            <a:r>
              <a:rPr lang="en-US"/>
              <a:t> </a:t>
            </a:r>
            <a:r>
              <a:rPr lang="en-US" err="1"/>
              <a:t>labore</a:t>
            </a:r>
            <a:r>
              <a:rPr lang="en-US"/>
              <a:t> et dolore magna </a:t>
            </a:r>
            <a:r>
              <a:rPr lang="en-US" err="1"/>
              <a:t>aliqua</a:t>
            </a:r>
            <a:r>
              <a:rPr lang="en-US"/>
              <a:t>.  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sit </a:t>
            </a:r>
            <a:r>
              <a:rPr lang="en-US" err="1"/>
              <a:t>amet</a:t>
            </a:r>
            <a:r>
              <a:rPr lang="en-US"/>
              <a:t>. </a:t>
            </a:r>
          </a:p>
        </p:txBody>
      </p:sp>
      <p:sp>
        <p:nvSpPr>
          <p:cNvPr id="18" name="Subtext">
            <a:extLst>
              <a:ext uri="{FF2B5EF4-FFF2-40B4-BE49-F238E27FC236}">
                <a16:creationId xmlns:a16="http://schemas.microsoft.com/office/drawing/2014/main" id="{9F3BC46D-55AC-834B-A8B1-05896F97029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81855" y="1765526"/>
            <a:ext cx="2455863" cy="248530"/>
          </a:xfrm>
          <a:prstGeom prst="rect">
            <a:avLst/>
          </a:prstGeom>
        </p:spPr>
        <p:txBody>
          <a:bodyPr lIns="0">
            <a:spAutoFit/>
          </a:bodyPr>
          <a:lstStyle>
            <a:lvl1pPr marL="0" indent="0">
              <a:buNone/>
              <a:defRPr lang="en-US" sz="1200" b="1" kern="1200" spc="300" dirty="0">
                <a:solidFill>
                  <a:schemeClr val="tx1"/>
                </a:solidFill>
                <a:latin typeface="TeleNeo Office ExtraBold" panose="020B0504040202090203" pitchFamily="34" charset="77"/>
                <a:ea typeface="Bebas Neue Bold" charset="0"/>
                <a:cs typeface="Bebas Neue Bold" charset="0"/>
              </a:defRPr>
            </a:lvl1pPr>
          </a:lstStyle>
          <a:p>
            <a:pPr marL="0" lvl="0" algn="l" defTabSz="914400" rtl="0" eaLnBrk="1" latinLnBrk="0" hangingPunct="1">
              <a:lnSpc>
                <a:spcPct val="80000"/>
              </a:lnSpc>
            </a:pPr>
            <a:r>
              <a:rPr lang="en-US"/>
              <a:t>SUBTEXT</a:t>
            </a:r>
          </a:p>
        </p:txBody>
      </p:sp>
      <p:pic>
        <p:nvPicPr>
          <p:cNvPr id="19" name="Picture Placeholder 2" descr="A picture containing sky, person, outdoor&#10;&#10;Description automatically generated">
            <a:extLst>
              <a:ext uri="{FF2B5EF4-FFF2-40B4-BE49-F238E27FC236}">
                <a16:creationId xmlns:a16="http://schemas.microsoft.com/office/drawing/2014/main" id="{B83FF132-813B-484C-B98C-1336BADCDFB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071466" y="861933"/>
            <a:ext cx="6134416" cy="5141199"/>
          </a:xfrm>
          <a:prstGeom prst="rect">
            <a:avLst/>
          </a:prstGeom>
        </p:spPr>
      </p:pic>
      <p:grpSp>
        <p:nvGrpSpPr>
          <p:cNvPr id="11" name="Group 10">
            <a:extLst>
              <a:ext uri="{FF2B5EF4-FFF2-40B4-BE49-F238E27FC236}">
                <a16:creationId xmlns:a16="http://schemas.microsoft.com/office/drawing/2014/main" id="{5A975F78-E301-49C9-94E7-4E72FAB8EFD2}"/>
              </a:ext>
            </a:extLst>
          </p:cNvPr>
          <p:cNvGrpSpPr/>
          <p:nvPr userDrawn="1"/>
        </p:nvGrpSpPr>
        <p:grpSpPr>
          <a:xfrm>
            <a:off x="11405017" y="0"/>
            <a:ext cx="786983" cy="786983"/>
            <a:chOff x="3962400" y="0"/>
            <a:chExt cx="786983" cy="786983"/>
          </a:xfrm>
        </p:grpSpPr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8DE09664-F119-4175-B5B9-8C790FF9997E}"/>
                </a:ext>
              </a:extLst>
            </p:cNvPr>
            <p:cNvSpPr/>
            <p:nvPr/>
          </p:nvSpPr>
          <p:spPr>
            <a:xfrm>
              <a:off x="3962400" y="0"/>
              <a:ext cx="786983" cy="78698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 spc="300">
                <a:latin typeface="linea-basic-10" charset="0"/>
                <a:ea typeface="linea-basic-10" charset="0"/>
                <a:cs typeface="linea-basic-10" charset="0"/>
              </a:endParaRPr>
            </a:p>
          </p:txBody>
        </p:sp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BDBAEF18-18FD-4FA6-8183-DC116C0F33E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160458" y="155747"/>
              <a:ext cx="390867" cy="475488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1561408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ext-Layouts_Text-Image_Magen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6FCAB2AE-A3D6-7347-89A8-D0A2F0DC9FD4}"/>
              </a:ext>
            </a:extLst>
          </p:cNvPr>
          <p:cNvSpPr/>
          <p:nvPr userDrawn="1"/>
        </p:nvSpPr>
        <p:spPr>
          <a:xfrm>
            <a:off x="0" y="0"/>
            <a:ext cx="5071466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Slide Number Placeholder 5">
            <a:extLst>
              <a:ext uri="{FF2B5EF4-FFF2-40B4-BE49-F238E27FC236}">
                <a16:creationId xmlns:a16="http://schemas.microsoft.com/office/drawing/2014/main" id="{AD85F8B8-7FEA-CD41-A9FE-644E89B2151F}"/>
              </a:ext>
            </a:extLst>
          </p:cNvPr>
          <p:cNvSpPr txBox="1">
            <a:spLocks/>
          </p:cNvSpPr>
          <p:nvPr userDrawn="1"/>
        </p:nvSpPr>
        <p:spPr>
          <a:xfrm>
            <a:off x="78952" y="6361009"/>
            <a:ext cx="629079" cy="489496"/>
          </a:xfrm>
          <a:prstGeom prst="rect">
            <a:avLst/>
          </a:prstGeom>
        </p:spPr>
        <p:txBody>
          <a:bodyPr vert="horz" wrap="none" lIns="121920" tIns="60960" rIns="121920" bIns="6096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400" b="1" i="0" smtClean="0">
                <a:solidFill>
                  <a:schemeClr val="bg1"/>
                </a:solidFill>
                <a:latin typeface="Bebas Neue Bold" charset="0"/>
                <a:ea typeface="Bebas Neue Bold" charset="0"/>
                <a:cs typeface="Bebas Neue Bold" charset="0"/>
              </a:rPr>
              <a:pPr algn="ctr"/>
              <a:t>‹#›</a:t>
            </a:fld>
            <a:endParaRPr lang="en-US" sz="1400" b="1" i="0">
              <a:solidFill>
                <a:schemeClr val="bg1"/>
              </a:solidFill>
              <a:latin typeface="Bebas Neue Bold" charset="0"/>
              <a:ea typeface="Bebas Neue Bold" charset="0"/>
              <a:cs typeface="Bebas Neue Bold" charset="0"/>
            </a:endParaRPr>
          </a:p>
        </p:txBody>
      </p:sp>
      <p:sp>
        <p:nvSpPr>
          <p:cNvPr id="17" name="Text Placeholder 14">
            <a:extLst>
              <a:ext uri="{FF2B5EF4-FFF2-40B4-BE49-F238E27FC236}">
                <a16:creationId xmlns:a16="http://schemas.microsoft.com/office/drawing/2014/main" id="{799AA8A6-E8DE-CF48-9286-A9EB40B6C56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81855" y="2659777"/>
            <a:ext cx="3499914" cy="2774221"/>
          </a:xfrm>
          <a:prstGeom prst="rect">
            <a:avLst/>
          </a:prstGeom>
        </p:spPr>
        <p:txBody>
          <a:bodyPr lIns="0">
            <a:spAutoFit/>
          </a:bodyPr>
          <a:lstStyle>
            <a:lvl1pPr marL="0" indent="0">
              <a:lnSpc>
                <a:spcPts val="2000"/>
              </a:lnSpc>
              <a:buFont typeface="Arial" panose="020B0604020202020204" pitchFamily="34" charset="0"/>
              <a:buNone/>
              <a:defRPr sz="1400" b="0" i="0">
                <a:solidFill>
                  <a:schemeClr val="bg1"/>
                </a:solidFill>
                <a:latin typeface="TeleNeo Office" panose="020B0504040202090203" pitchFamily="34" charset="77"/>
              </a:defRPr>
            </a:lvl1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, sed do </a:t>
            </a:r>
            <a:r>
              <a:rPr lang="en-US" err="1"/>
              <a:t>eiusmod</a:t>
            </a:r>
            <a:r>
              <a:rPr lang="en-US"/>
              <a:t> </a:t>
            </a:r>
            <a:r>
              <a:rPr lang="en-US" err="1"/>
              <a:t>tempor</a:t>
            </a:r>
            <a:r>
              <a:rPr lang="en-US"/>
              <a:t> </a:t>
            </a:r>
            <a:r>
              <a:rPr lang="en-US" err="1"/>
              <a:t>incididunt</a:t>
            </a:r>
            <a:r>
              <a:rPr lang="en-US"/>
              <a:t> </a:t>
            </a:r>
            <a:r>
              <a:rPr lang="en-US" err="1"/>
              <a:t>ut</a:t>
            </a:r>
            <a:r>
              <a:rPr lang="en-US"/>
              <a:t> </a:t>
            </a:r>
            <a:r>
              <a:rPr lang="en-US" err="1"/>
              <a:t>labore</a:t>
            </a:r>
            <a:r>
              <a:rPr lang="en-US"/>
              <a:t> et dolore magna </a:t>
            </a:r>
            <a:r>
              <a:rPr lang="en-US" err="1"/>
              <a:t>aliqua</a:t>
            </a:r>
            <a:r>
              <a:rPr lang="en-US"/>
              <a:t>.  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sit </a:t>
            </a:r>
            <a:r>
              <a:rPr lang="en-US" err="1"/>
              <a:t>amet</a:t>
            </a:r>
            <a:r>
              <a:rPr lang="en-US"/>
              <a:t>. </a:t>
            </a:r>
          </a:p>
          <a:p>
            <a:pPr lvl="0"/>
            <a:r>
              <a:rPr lang="en-US"/>
              <a:t>Lorem ipsum dolor sit </a:t>
            </a:r>
            <a:r>
              <a:rPr lang="en-US" err="1"/>
              <a:t>amet</a:t>
            </a:r>
            <a:r>
              <a:rPr lang="en-US"/>
              <a:t>. 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, sed do </a:t>
            </a:r>
            <a:r>
              <a:rPr lang="en-US" err="1"/>
              <a:t>eiusmod</a:t>
            </a:r>
            <a:r>
              <a:rPr lang="en-US"/>
              <a:t> </a:t>
            </a:r>
            <a:r>
              <a:rPr lang="en-US" err="1"/>
              <a:t>tempor</a:t>
            </a:r>
            <a:r>
              <a:rPr lang="en-US"/>
              <a:t> </a:t>
            </a:r>
            <a:r>
              <a:rPr lang="en-US" err="1"/>
              <a:t>incididunt</a:t>
            </a:r>
            <a:r>
              <a:rPr lang="en-US"/>
              <a:t> </a:t>
            </a:r>
            <a:r>
              <a:rPr lang="en-US" err="1"/>
              <a:t>ut</a:t>
            </a:r>
            <a:r>
              <a:rPr lang="en-US"/>
              <a:t> </a:t>
            </a:r>
            <a:r>
              <a:rPr lang="en-US" err="1"/>
              <a:t>labore</a:t>
            </a:r>
            <a:r>
              <a:rPr lang="en-US"/>
              <a:t> et dolore magna </a:t>
            </a:r>
            <a:r>
              <a:rPr lang="en-US" err="1"/>
              <a:t>aliqua</a:t>
            </a:r>
            <a:r>
              <a:rPr lang="en-US"/>
              <a:t>.  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sit </a:t>
            </a:r>
            <a:r>
              <a:rPr lang="en-US" err="1"/>
              <a:t>amet</a:t>
            </a:r>
            <a:r>
              <a:rPr lang="en-US"/>
              <a:t>. </a:t>
            </a:r>
          </a:p>
        </p:txBody>
      </p:sp>
      <p:sp>
        <p:nvSpPr>
          <p:cNvPr id="18" name="Subtext">
            <a:extLst>
              <a:ext uri="{FF2B5EF4-FFF2-40B4-BE49-F238E27FC236}">
                <a16:creationId xmlns:a16="http://schemas.microsoft.com/office/drawing/2014/main" id="{9F3BC46D-55AC-834B-A8B1-05896F97029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81855" y="1765526"/>
            <a:ext cx="2455863" cy="248530"/>
          </a:xfrm>
          <a:prstGeom prst="rect">
            <a:avLst/>
          </a:prstGeom>
        </p:spPr>
        <p:txBody>
          <a:bodyPr lIns="0">
            <a:spAutoFit/>
          </a:bodyPr>
          <a:lstStyle>
            <a:lvl1pPr marL="0" indent="0">
              <a:buNone/>
              <a:defRPr lang="en-US" sz="1200" b="1" kern="1200" spc="300" dirty="0">
                <a:solidFill>
                  <a:schemeClr val="bg1"/>
                </a:solidFill>
                <a:latin typeface="TeleNeo Office ExtraBold" panose="020B0504040202090203" pitchFamily="34" charset="77"/>
                <a:ea typeface="Bebas Neue Bold" charset="0"/>
                <a:cs typeface="Bebas Neue Bold" charset="0"/>
              </a:defRPr>
            </a:lvl1pPr>
          </a:lstStyle>
          <a:p>
            <a:pPr marL="0" lvl="0" algn="l" defTabSz="914400" rtl="0" eaLnBrk="1" latinLnBrk="0" hangingPunct="1">
              <a:lnSpc>
                <a:spcPct val="80000"/>
              </a:lnSpc>
            </a:pPr>
            <a:r>
              <a:rPr lang="en-US"/>
              <a:t>SUBTEXT</a:t>
            </a:r>
          </a:p>
        </p:txBody>
      </p:sp>
      <p:pic>
        <p:nvPicPr>
          <p:cNvPr id="19" name="Picture Placeholder 2" descr="A picture containing sky, person, outdoor&#10;&#10;Description automatically generated">
            <a:extLst>
              <a:ext uri="{FF2B5EF4-FFF2-40B4-BE49-F238E27FC236}">
                <a16:creationId xmlns:a16="http://schemas.microsoft.com/office/drawing/2014/main" id="{B83FF132-813B-484C-B98C-1336BADCDFB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071466" y="861933"/>
            <a:ext cx="6134416" cy="5141199"/>
          </a:xfrm>
          <a:prstGeom prst="rect">
            <a:avLst/>
          </a:prstGeom>
        </p:spPr>
      </p:pic>
      <p:sp>
        <p:nvSpPr>
          <p:cNvPr id="22" name="Title 23">
            <a:extLst>
              <a:ext uri="{FF2B5EF4-FFF2-40B4-BE49-F238E27FC236}">
                <a16:creationId xmlns:a16="http://schemas.microsoft.com/office/drawing/2014/main" id="{DFB36F33-DD46-604C-97E4-C11A9410B70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81855" y="1124119"/>
            <a:ext cx="3462823" cy="717248"/>
          </a:xfrm>
          <a:prstGeom prst="rect">
            <a:avLst/>
          </a:prstGeom>
        </p:spPr>
        <p:txBody>
          <a:bodyPr wrap="square" lIns="0" anchor="t" anchorCtr="0">
            <a:spAutoFit/>
          </a:bodyPr>
          <a:lstStyle>
            <a:lvl1pPr>
              <a:lnSpc>
                <a:spcPct val="80000"/>
              </a:lnSpc>
              <a:defRPr sz="4800">
                <a:solidFill>
                  <a:schemeClr val="bg1"/>
                </a:solidFill>
              </a:defRPr>
            </a:lvl1pPr>
          </a:lstStyle>
          <a:p>
            <a:r>
              <a:rPr lang="en-US"/>
              <a:t>Title</a:t>
            </a:r>
          </a:p>
        </p:txBody>
      </p:sp>
    </p:spTree>
    <p:extLst>
      <p:ext uri="{BB962C8B-B14F-4D97-AF65-F5344CB8AC3E}">
        <p14:creationId xmlns:p14="http://schemas.microsoft.com/office/powerpoint/2010/main" val="174158179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ext-Layouts_Text-Image-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/>
          <p:cNvSpPr/>
          <p:nvPr userDrawn="1"/>
        </p:nvSpPr>
        <p:spPr>
          <a:xfrm>
            <a:off x="3026661" y="0"/>
            <a:ext cx="9161075" cy="6858000"/>
          </a:xfrm>
          <a:prstGeom prst="rect">
            <a:avLst/>
          </a:prstGeom>
          <a:solidFill>
            <a:schemeClr val="tx1">
              <a:alpha val="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C889DF83-AE66-7043-BBA4-24C9476AE3E1}"/>
              </a:ext>
            </a:extLst>
          </p:cNvPr>
          <p:cNvCxnSpPr>
            <a:cxnSpLocks/>
          </p:cNvCxnSpPr>
          <p:nvPr userDrawn="1"/>
        </p:nvCxnSpPr>
        <p:spPr>
          <a:xfrm>
            <a:off x="7114478" y="2475632"/>
            <a:ext cx="572429" cy="0"/>
          </a:xfrm>
          <a:prstGeom prst="line">
            <a:avLst/>
          </a:prstGeom>
          <a:ln w="38100">
            <a:solidFill>
              <a:srgbClr val="E2007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itle 23">
            <a:extLst>
              <a:ext uri="{FF2B5EF4-FFF2-40B4-BE49-F238E27FC236}">
                <a16:creationId xmlns:a16="http://schemas.microsoft.com/office/drawing/2014/main" id="{1AAB145D-0F36-7848-A33F-7CAA46367E3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14478" y="1635512"/>
            <a:ext cx="3462823" cy="717248"/>
          </a:xfrm>
          <a:prstGeom prst="rect">
            <a:avLst/>
          </a:prstGeom>
        </p:spPr>
        <p:txBody>
          <a:bodyPr wrap="square" lIns="0" anchor="t" anchorCtr="0">
            <a:spAutoFit/>
          </a:bodyPr>
          <a:lstStyle>
            <a:lvl1pPr>
              <a:lnSpc>
                <a:spcPct val="80000"/>
              </a:lnSpc>
              <a:defRPr sz="4800">
                <a:solidFill>
                  <a:schemeClr val="accent1"/>
                </a:solidFill>
              </a:defRPr>
            </a:lvl1pPr>
          </a:lstStyle>
          <a:p>
            <a:r>
              <a:rPr lang="en-US"/>
              <a:t>Title</a:t>
            </a:r>
          </a:p>
        </p:txBody>
      </p:sp>
      <p:sp>
        <p:nvSpPr>
          <p:cNvPr id="14" name="Text Placeholder 14">
            <a:extLst>
              <a:ext uri="{FF2B5EF4-FFF2-40B4-BE49-F238E27FC236}">
                <a16:creationId xmlns:a16="http://schemas.microsoft.com/office/drawing/2014/main" id="{C7E84363-7DFC-AC45-B90D-4DB260A3956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114478" y="2659777"/>
            <a:ext cx="4084638" cy="1107098"/>
          </a:xfrm>
          <a:prstGeom prst="rect">
            <a:avLst/>
          </a:prstGeom>
        </p:spPr>
        <p:txBody>
          <a:bodyPr wrap="square" lIns="0" rIns="146304">
            <a:spAutoFit/>
          </a:bodyPr>
          <a:lstStyle>
            <a:lvl1pPr marL="0" indent="0">
              <a:lnSpc>
                <a:spcPts val="2000"/>
              </a:lnSpc>
              <a:buFont typeface="Arial" panose="020B0604020202020204" pitchFamily="34" charset="0"/>
              <a:buNone/>
              <a:defRPr sz="1400" b="0" i="0">
                <a:latin typeface="TeleNeo Office" panose="020B0504040202090203" pitchFamily="34" charset="77"/>
              </a:defRPr>
            </a:lvl1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, sed do </a:t>
            </a:r>
            <a:r>
              <a:rPr lang="en-US" err="1"/>
              <a:t>eiusmod</a:t>
            </a:r>
            <a:r>
              <a:rPr lang="en-US"/>
              <a:t> </a:t>
            </a:r>
            <a:r>
              <a:rPr lang="en-US" err="1"/>
              <a:t>tempor</a:t>
            </a:r>
            <a:r>
              <a:rPr lang="en-US"/>
              <a:t> </a:t>
            </a:r>
            <a:r>
              <a:rPr lang="en-US" err="1"/>
              <a:t>incididunt</a:t>
            </a:r>
            <a:r>
              <a:rPr lang="en-US"/>
              <a:t> </a:t>
            </a:r>
            <a:r>
              <a:rPr lang="en-US" err="1"/>
              <a:t>ut</a:t>
            </a:r>
            <a:r>
              <a:rPr lang="en-US"/>
              <a:t> </a:t>
            </a:r>
            <a:r>
              <a:rPr lang="en-US" err="1"/>
              <a:t>labore</a:t>
            </a:r>
            <a:r>
              <a:rPr lang="en-US"/>
              <a:t> et dolore magna </a:t>
            </a:r>
            <a:r>
              <a:rPr lang="en-US" err="1"/>
              <a:t>aliqua</a:t>
            </a:r>
            <a:r>
              <a:rPr lang="en-US"/>
              <a:t>.  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sit </a:t>
            </a:r>
            <a:r>
              <a:rPr lang="en-US" err="1"/>
              <a:t>amet</a:t>
            </a:r>
            <a:r>
              <a:rPr lang="en-US"/>
              <a:t>. </a:t>
            </a:r>
          </a:p>
        </p:txBody>
      </p:sp>
      <p:pic>
        <p:nvPicPr>
          <p:cNvPr id="18" name="Picture Placeholder 3" descr="A picture containing person, outdoor, tree, sky&#10;&#10;Description automatically generated">
            <a:extLst>
              <a:ext uri="{FF2B5EF4-FFF2-40B4-BE49-F238E27FC236}">
                <a16:creationId xmlns:a16="http://schemas.microsoft.com/office/drawing/2014/main" id="{0BB6D7DB-B73A-0243-8850-8A6DF3110E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81854" y="861933"/>
            <a:ext cx="4089612" cy="51411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9745512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ext-Layouts_Text-Image-Right_On-Magen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Slide Number Placeholder 5">
            <a:extLst>
              <a:ext uri="{FF2B5EF4-FFF2-40B4-BE49-F238E27FC236}">
                <a16:creationId xmlns:a16="http://schemas.microsoft.com/office/drawing/2014/main" id="{2EAC0B04-AB88-7340-B48E-3E355AE8AF83}"/>
              </a:ext>
            </a:extLst>
          </p:cNvPr>
          <p:cNvSpPr txBox="1">
            <a:spLocks/>
          </p:cNvSpPr>
          <p:nvPr userDrawn="1"/>
        </p:nvSpPr>
        <p:spPr>
          <a:xfrm>
            <a:off x="78952" y="6361009"/>
            <a:ext cx="629079" cy="489496"/>
          </a:xfrm>
          <a:prstGeom prst="rect">
            <a:avLst/>
          </a:prstGeom>
        </p:spPr>
        <p:txBody>
          <a:bodyPr vert="horz" wrap="none" lIns="121920" tIns="60960" rIns="121920" bIns="6096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400" b="1" i="0" smtClean="0">
                <a:solidFill>
                  <a:schemeClr val="bg1"/>
                </a:solidFill>
                <a:latin typeface="Bebas Neue Bold" charset="0"/>
                <a:ea typeface="Bebas Neue Bold" charset="0"/>
                <a:cs typeface="Bebas Neue Bold" charset="0"/>
              </a:rPr>
              <a:pPr algn="ctr"/>
              <a:t>‹#›</a:t>
            </a:fld>
            <a:endParaRPr lang="en-US" sz="1400" b="1" i="0">
              <a:solidFill>
                <a:schemeClr val="bg1"/>
              </a:solidFill>
              <a:latin typeface="Bebas Neue Bold" charset="0"/>
              <a:ea typeface="Bebas Neue Bold" charset="0"/>
              <a:cs typeface="Bebas Neue Bold" charset="0"/>
            </a:endParaRP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82719FFE-30C9-D349-8852-0B15361907C0}"/>
              </a:ext>
            </a:extLst>
          </p:cNvPr>
          <p:cNvCxnSpPr>
            <a:cxnSpLocks/>
          </p:cNvCxnSpPr>
          <p:nvPr userDrawn="1"/>
        </p:nvCxnSpPr>
        <p:spPr>
          <a:xfrm>
            <a:off x="977311" y="2679793"/>
            <a:ext cx="572429" cy="0"/>
          </a:xfrm>
          <a:prstGeom prst="line">
            <a:avLst/>
          </a:prstGeom>
          <a:ln w="381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" name="Picture Placeholder 3" descr="A picture containing person, outdoor, ground, beach&#10;&#10;Description automatically generated">
            <a:extLst>
              <a:ext uri="{FF2B5EF4-FFF2-40B4-BE49-F238E27FC236}">
                <a16:creationId xmlns:a16="http://schemas.microsoft.com/office/drawing/2014/main" id="{0A12B0FB-3E5A-0041-B073-553CF52D39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071464" y="0"/>
            <a:ext cx="7120531" cy="6858000"/>
          </a:xfrm>
          <a:prstGeom prst="rect">
            <a:avLst/>
          </a:prstGeom>
        </p:spPr>
      </p:pic>
      <p:sp>
        <p:nvSpPr>
          <p:cNvPr id="19" name="Text Placeholder 14">
            <a:extLst>
              <a:ext uri="{FF2B5EF4-FFF2-40B4-BE49-F238E27FC236}">
                <a16:creationId xmlns:a16="http://schemas.microsoft.com/office/drawing/2014/main" id="{82793954-D041-5F47-948C-175EE20DEA4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77311" y="3221697"/>
            <a:ext cx="2027092" cy="1363578"/>
          </a:xfrm>
          <a:prstGeom prst="rect">
            <a:avLst/>
          </a:prstGeom>
        </p:spPr>
        <p:txBody>
          <a:bodyPr wrap="square" lIns="0">
            <a:spAutoFit/>
          </a:bodyPr>
          <a:lstStyle>
            <a:lvl1pPr marL="0" indent="0">
              <a:lnSpc>
                <a:spcPts val="2000"/>
              </a:lnSpc>
              <a:buFont typeface="Arial" panose="020B0604020202020204" pitchFamily="34" charset="0"/>
              <a:buNone/>
              <a:defRPr sz="1400" b="0" i="0">
                <a:solidFill>
                  <a:schemeClr val="bg1"/>
                </a:solidFill>
                <a:latin typeface="TeleNeo Office" panose="020B0504040202090203" pitchFamily="34" charset="77"/>
              </a:defRPr>
            </a:lvl1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, sed do </a:t>
            </a:r>
            <a:r>
              <a:rPr lang="en-US" err="1"/>
              <a:t>eiusmod</a:t>
            </a:r>
            <a:r>
              <a:rPr lang="en-US"/>
              <a:t> </a:t>
            </a:r>
            <a:r>
              <a:rPr lang="en-US" err="1"/>
              <a:t>tempor</a:t>
            </a:r>
            <a:r>
              <a:rPr lang="en-US"/>
              <a:t> </a:t>
            </a:r>
            <a:r>
              <a:rPr lang="en-US" err="1"/>
              <a:t>incididunt</a:t>
            </a:r>
            <a:r>
              <a:rPr lang="en-US"/>
              <a:t> </a:t>
            </a:r>
            <a:r>
              <a:rPr lang="en-US" err="1"/>
              <a:t>ut</a:t>
            </a:r>
            <a:r>
              <a:rPr lang="en-US"/>
              <a:t> </a:t>
            </a:r>
            <a:r>
              <a:rPr lang="en-US" err="1"/>
              <a:t>labore</a:t>
            </a:r>
            <a:r>
              <a:rPr lang="en-US"/>
              <a:t> et dolore magna.</a:t>
            </a:r>
          </a:p>
        </p:txBody>
      </p:sp>
      <p:sp>
        <p:nvSpPr>
          <p:cNvPr id="20" name="Title 23">
            <a:extLst>
              <a:ext uri="{FF2B5EF4-FFF2-40B4-BE49-F238E27FC236}">
                <a16:creationId xmlns:a16="http://schemas.microsoft.com/office/drawing/2014/main" id="{5389FDE5-8D50-E74E-B81B-B56FC583F4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77311" y="1635512"/>
            <a:ext cx="3462823" cy="717248"/>
          </a:xfrm>
          <a:prstGeom prst="rect">
            <a:avLst/>
          </a:prstGeom>
        </p:spPr>
        <p:txBody>
          <a:bodyPr wrap="square" lIns="0" anchor="t" anchorCtr="0">
            <a:spAutoFit/>
          </a:bodyPr>
          <a:lstStyle>
            <a:lvl1pPr>
              <a:lnSpc>
                <a:spcPct val="80000"/>
              </a:lnSpc>
              <a:defRPr sz="4800">
                <a:solidFill>
                  <a:schemeClr val="bg1"/>
                </a:solidFill>
              </a:defRPr>
            </a:lvl1pPr>
          </a:lstStyle>
          <a:p>
            <a:r>
              <a:rPr lang="en-US"/>
              <a:t>Title</a:t>
            </a:r>
          </a:p>
        </p:txBody>
      </p:sp>
    </p:spTree>
    <p:extLst>
      <p:ext uri="{BB962C8B-B14F-4D97-AF65-F5344CB8AC3E}">
        <p14:creationId xmlns:p14="http://schemas.microsoft.com/office/powerpoint/2010/main" val="269549502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ext-Layouts_Gri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Picture Placeholder 20" descr="A picture containing table, indoor, wall, person&#10;&#10;Description automatically generated">
            <a:extLst>
              <a:ext uri="{FF2B5EF4-FFF2-40B4-BE49-F238E27FC236}">
                <a16:creationId xmlns:a16="http://schemas.microsoft.com/office/drawing/2014/main" id="{2242CC62-F691-7945-92BA-5FDF5BD93E8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30480" y="0"/>
            <a:ext cx="2044805" cy="1836295"/>
          </a:xfrm>
          <a:prstGeom prst="rect">
            <a:avLst/>
          </a:prstGeom>
        </p:spPr>
      </p:pic>
      <p:pic>
        <p:nvPicPr>
          <p:cNvPr id="23" name="Picture Placeholder 49" descr="A person and person standing in a field&#10;&#10;Description automatically generated with low confidence">
            <a:extLst>
              <a:ext uri="{FF2B5EF4-FFF2-40B4-BE49-F238E27FC236}">
                <a16:creationId xmlns:a16="http://schemas.microsoft.com/office/drawing/2014/main" id="{B049427C-875A-624C-8092-DD6396D3234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30480" y="1836295"/>
            <a:ext cx="2044805" cy="1836295"/>
          </a:xfrm>
          <a:prstGeom prst="rect">
            <a:avLst/>
          </a:prstGeom>
        </p:spPr>
      </p:pic>
      <p:pic>
        <p:nvPicPr>
          <p:cNvPr id="24" name="Picture Placeholder 51" descr="A group of people posing for a photo&#10;&#10;Description automatically generated with medium confidence">
            <a:extLst>
              <a:ext uri="{FF2B5EF4-FFF2-40B4-BE49-F238E27FC236}">
                <a16:creationId xmlns:a16="http://schemas.microsoft.com/office/drawing/2014/main" id="{549B0E37-43EE-8C4F-A2AD-AD9DBA5573A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014326" y="1836295"/>
            <a:ext cx="2044805" cy="1836295"/>
          </a:xfrm>
          <a:prstGeom prst="rect">
            <a:avLst/>
          </a:prstGeom>
        </p:spPr>
      </p:pic>
      <p:pic>
        <p:nvPicPr>
          <p:cNvPr id="25" name="Picture Placeholder 24" descr="A picture containing person, indoor, computer&#10;&#10;Description automatically generated">
            <a:extLst>
              <a:ext uri="{FF2B5EF4-FFF2-40B4-BE49-F238E27FC236}">
                <a16:creationId xmlns:a16="http://schemas.microsoft.com/office/drawing/2014/main" id="{F24ACC56-8D77-2546-B332-79C49F9A57F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059131" y="0"/>
            <a:ext cx="2044805" cy="1836295"/>
          </a:xfrm>
          <a:prstGeom prst="rect">
            <a:avLst/>
          </a:prstGeom>
        </p:spPr>
      </p:pic>
      <p:pic>
        <p:nvPicPr>
          <p:cNvPr id="26" name="Picture Placeholder 53" descr="A picture containing person, outdoor&#10;&#10;Description automatically generated">
            <a:extLst>
              <a:ext uri="{FF2B5EF4-FFF2-40B4-BE49-F238E27FC236}">
                <a16:creationId xmlns:a16="http://schemas.microsoft.com/office/drawing/2014/main" id="{D2012B53-C677-B945-8BFD-31CA99696D7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059131" y="1836295"/>
            <a:ext cx="2044805" cy="1836295"/>
          </a:xfrm>
          <a:prstGeom prst="rect">
            <a:avLst/>
          </a:prstGeom>
        </p:spPr>
      </p:pic>
      <p:pic>
        <p:nvPicPr>
          <p:cNvPr id="27" name="Picture Placeholder 5" descr="A group of people posing for a photo&#10;&#10;Description automatically generated with medium confidence">
            <a:extLst>
              <a:ext uri="{FF2B5EF4-FFF2-40B4-BE49-F238E27FC236}">
                <a16:creationId xmlns:a16="http://schemas.microsoft.com/office/drawing/2014/main" id="{3870FC4A-86B6-574D-A6F0-09600EF6D49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103936" y="0"/>
            <a:ext cx="2044805" cy="1836295"/>
          </a:xfrm>
          <a:prstGeom prst="rect">
            <a:avLst/>
          </a:prstGeom>
        </p:spPr>
      </p:pic>
      <p:pic>
        <p:nvPicPr>
          <p:cNvPr id="28" name="Picture Placeholder 55" descr="A group of people posing for a photo&#10;&#10;Description automatically generated">
            <a:extLst>
              <a:ext uri="{FF2B5EF4-FFF2-40B4-BE49-F238E27FC236}">
                <a16:creationId xmlns:a16="http://schemas.microsoft.com/office/drawing/2014/main" id="{A2E0CB6C-76E4-5F4B-9FE9-779142CD8ED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103936" y="1836295"/>
            <a:ext cx="2044805" cy="1836295"/>
          </a:xfrm>
          <a:prstGeom prst="rect">
            <a:avLst/>
          </a:prstGeom>
        </p:spPr>
      </p:pic>
      <p:pic>
        <p:nvPicPr>
          <p:cNvPr id="29" name="Picture Placeholder 28">
            <a:extLst>
              <a:ext uri="{FF2B5EF4-FFF2-40B4-BE49-F238E27FC236}">
                <a16:creationId xmlns:a16="http://schemas.microsoft.com/office/drawing/2014/main" id="{C6F7F326-0C38-2C49-9195-D4EFC1A96DD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8148740" y="0"/>
            <a:ext cx="2044805" cy="1836295"/>
          </a:xfrm>
          <a:prstGeom prst="rect">
            <a:avLst/>
          </a:prstGeom>
        </p:spPr>
      </p:pic>
      <p:pic>
        <p:nvPicPr>
          <p:cNvPr id="30" name="Picture Placeholder 47" descr="A group of women sitting on a bench&#10;&#10;Description automatically generated with medium confidence">
            <a:extLst>
              <a:ext uri="{FF2B5EF4-FFF2-40B4-BE49-F238E27FC236}">
                <a16:creationId xmlns:a16="http://schemas.microsoft.com/office/drawing/2014/main" id="{97CAC2CD-75B8-9149-B9D1-DED0BD68F29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193548" y="0"/>
            <a:ext cx="2044805" cy="1836295"/>
          </a:xfrm>
          <a:prstGeom prst="rect">
            <a:avLst/>
          </a:prstGeom>
        </p:spPr>
      </p:pic>
      <p:pic>
        <p:nvPicPr>
          <p:cNvPr id="31" name="Picture Placeholder 10" descr="A picture containing outdoor, person, crowd&#10;&#10;Description automatically generated">
            <a:extLst>
              <a:ext uri="{FF2B5EF4-FFF2-40B4-BE49-F238E27FC236}">
                <a16:creationId xmlns:a16="http://schemas.microsoft.com/office/drawing/2014/main" id="{F945703C-6C1A-D342-8905-170B352AC03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8148740" y="1836295"/>
            <a:ext cx="2044805" cy="1836295"/>
          </a:xfrm>
          <a:prstGeom prst="rect">
            <a:avLst/>
          </a:prstGeom>
        </p:spPr>
      </p:pic>
      <p:pic>
        <p:nvPicPr>
          <p:cNvPr id="32" name="Picture Placeholder 6">
            <a:extLst>
              <a:ext uri="{FF2B5EF4-FFF2-40B4-BE49-F238E27FC236}">
                <a16:creationId xmlns:a16="http://schemas.microsoft.com/office/drawing/2014/main" id="{D78ADB99-66BA-4149-A412-F8DDEFB9FD0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10193338" y="1836295"/>
            <a:ext cx="2044700" cy="1836738"/>
          </a:xfrm>
          <a:prstGeom prst="rect">
            <a:avLst/>
          </a:prstGeom>
        </p:spPr>
      </p:pic>
      <p:pic>
        <p:nvPicPr>
          <p:cNvPr id="33" name="Picture Placeholder 11" descr="A couple of women sitting at a table with food&#10;&#10;Description automatically generated with low confidence">
            <a:extLst>
              <a:ext uri="{FF2B5EF4-FFF2-40B4-BE49-F238E27FC236}">
                <a16:creationId xmlns:a16="http://schemas.microsoft.com/office/drawing/2014/main" id="{9DBC2B69-DB87-9542-8046-9D9D34C1012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2014538" y="-443"/>
            <a:ext cx="2044700" cy="1836738"/>
          </a:xfrm>
          <a:prstGeom prst="rect">
            <a:avLst/>
          </a:prstGeom>
        </p:spPr>
      </p:pic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04701253-D84B-424B-9D4F-BBB6E4723F8D}"/>
              </a:ext>
            </a:extLst>
          </p:cNvPr>
          <p:cNvCxnSpPr>
            <a:cxnSpLocks/>
          </p:cNvCxnSpPr>
          <p:nvPr/>
        </p:nvCxnSpPr>
        <p:spPr>
          <a:xfrm>
            <a:off x="3026659" y="4886712"/>
            <a:ext cx="343990" cy="0"/>
          </a:xfrm>
          <a:prstGeom prst="line">
            <a:avLst/>
          </a:prstGeom>
          <a:ln w="25400">
            <a:solidFill>
              <a:srgbClr val="E2007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itle 23">
            <a:extLst>
              <a:ext uri="{FF2B5EF4-FFF2-40B4-BE49-F238E27FC236}">
                <a16:creationId xmlns:a16="http://schemas.microsoft.com/office/drawing/2014/main" id="{44E57321-5020-E449-88E0-AD8597A36B5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79488" y="4179171"/>
            <a:ext cx="2047875" cy="717248"/>
          </a:xfrm>
          <a:prstGeom prst="rect">
            <a:avLst/>
          </a:prstGeom>
        </p:spPr>
        <p:txBody>
          <a:bodyPr wrap="square" lIns="0" anchor="t" anchorCtr="0">
            <a:spAutoFit/>
          </a:bodyPr>
          <a:lstStyle>
            <a:lvl1pPr>
              <a:lnSpc>
                <a:spcPct val="80000"/>
              </a:lnSpc>
              <a:defRPr sz="4800">
                <a:solidFill>
                  <a:schemeClr val="accent1"/>
                </a:solidFill>
              </a:defRPr>
            </a:lvl1pPr>
          </a:lstStyle>
          <a:p>
            <a:r>
              <a:rPr lang="en-US"/>
              <a:t>Title</a:t>
            </a:r>
          </a:p>
        </p:txBody>
      </p:sp>
      <p:sp>
        <p:nvSpPr>
          <p:cNvPr id="38" name="Text Placeholder 14">
            <a:extLst>
              <a:ext uri="{FF2B5EF4-FFF2-40B4-BE49-F238E27FC236}">
                <a16:creationId xmlns:a16="http://schemas.microsoft.com/office/drawing/2014/main" id="{2348B009-998D-794E-B5CA-031D62518AC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027363" y="5069108"/>
            <a:ext cx="3499914" cy="642997"/>
          </a:xfrm>
          <a:prstGeom prst="rect">
            <a:avLst/>
          </a:prstGeom>
        </p:spPr>
        <p:txBody>
          <a:bodyPr lIns="0" tIns="0" rIns="0" bIns="0">
            <a:spAutoFit/>
          </a:bodyPr>
          <a:lstStyle>
            <a:lvl1pPr marL="0" marR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200" b="0" i="0">
                <a:latin typeface="TeleNeo Office" panose="020B0504040202090203" pitchFamily="34" charset="77"/>
              </a:defRPr>
            </a:lvl1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ts val="2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.</a:t>
            </a:r>
          </a:p>
        </p:txBody>
      </p:sp>
      <p:sp>
        <p:nvSpPr>
          <p:cNvPr id="39" name="Subtext">
            <a:extLst>
              <a:ext uri="{FF2B5EF4-FFF2-40B4-BE49-F238E27FC236}">
                <a16:creationId xmlns:a16="http://schemas.microsoft.com/office/drawing/2014/main" id="{C3CFF7EE-EB71-0141-A2E2-8938E1055E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79488" y="4820578"/>
            <a:ext cx="1823673" cy="248530"/>
          </a:xfrm>
          <a:prstGeom prst="rect">
            <a:avLst/>
          </a:prstGeom>
        </p:spPr>
        <p:txBody>
          <a:bodyPr wrap="square" lIns="0">
            <a:spAutoFit/>
          </a:bodyPr>
          <a:lstStyle>
            <a:lvl1pPr marL="0" indent="0">
              <a:buNone/>
              <a:defRPr lang="en-US" sz="1200" b="1" kern="1200" spc="300" dirty="0">
                <a:solidFill>
                  <a:schemeClr val="tx1"/>
                </a:solidFill>
                <a:latin typeface="TeleNeo Office ExtraBold" panose="020B0504040202090203" pitchFamily="34" charset="77"/>
                <a:ea typeface="Bebas Neue Bold" charset="0"/>
                <a:cs typeface="Bebas Neue Bold" charset="0"/>
              </a:defRPr>
            </a:lvl1pPr>
          </a:lstStyle>
          <a:p>
            <a:pPr marL="0" lvl="0" algn="l" defTabSz="914400" rtl="0" eaLnBrk="1" latinLnBrk="0" hangingPunct="1">
              <a:lnSpc>
                <a:spcPct val="80000"/>
              </a:lnSpc>
            </a:pPr>
            <a:r>
              <a:rPr lang="en-US"/>
              <a:t>SUBTEXT</a:t>
            </a:r>
          </a:p>
        </p:txBody>
      </p:sp>
      <p:sp>
        <p:nvSpPr>
          <p:cNvPr id="43" name="Text Placeholder 14">
            <a:extLst>
              <a:ext uri="{FF2B5EF4-FFF2-40B4-BE49-F238E27FC236}">
                <a16:creationId xmlns:a16="http://schemas.microsoft.com/office/drawing/2014/main" id="{DE7A9276-8365-C745-9679-AA84949E880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027363" y="4174318"/>
            <a:ext cx="3499914" cy="492443"/>
          </a:xfrm>
          <a:prstGeom prst="rect">
            <a:avLst/>
          </a:prstGeom>
        </p:spPr>
        <p:txBody>
          <a:bodyPr lIns="0" tIns="0" rIns="0" bIns="0">
            <a:sp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i="0">
                <a:latin typeface="TeleNeo Office" panose="020B0504040202090203" pitchFamily="34" charset="77"/>
              </a:defRPr>
            </a:lvl1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Lorem ipsum dolor sit </a:t>
            </a:r>
            <a:r>
              <a:rPr lang="en-US" err="1"/>
              <a:t>amet</a:t>
            </a:r>
            <a:r>
              <a:rPr lang="en-US"/>
              <a:t>, </a:t>
            </a:r>
            <a:br>
              <a:rPr lang="en-US"/>
            </a:b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.</a:t>
            </a:r>
          </a:p>
        </p:txBody>
      </p: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C9968AC5-4C33-7B4B-AA59-69F6B7E9FB46}"/>
              </a:ext>
            </a:extLst>
          </p:cNvPr>
          <p:cNvCxnSpPr>
            <a:cxnSpLocks/>
          </p:cNvCxnSpPr>
          <p:nvPr userDrawn="1"/>
        </p:nvCxnSpPr>
        <p:spPr>
          <a:xfrm>
            <a:off x="7114471" y="4886712"/>
            <a:ext cx="343990" cy="0"/>
          </a:xfrm>
          <a:prstGeom prst="line">
            <a:avLst/>
          </a:prstGeom>
          <a:ln w="25400">
            <a:solidFill>
              <a:srgbClr val="E2007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Text Placeholder 14">
            <a:extLst>
              <a:ext uri="{FF2B5EF4-FFF2-40B4-BE49-F238E27FC236}">
                <a16:creationId xmlns:a16="http://schemas.microsoft.com/office/drawing/2014/main" id="{89D4DE28-CF60-724C-A5B1-BA08B5392DDC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114471" y="5069108"/>
            <a:ext cx="3499914" cy="642997"/>
          </a:xfrm>
          <a:prstGeom prst="rect">
            <a:avLst/>
          </a:prstGeom>
        </p:spPr>
        <p:txBody>
          <a:bodyPr lIns="0" tIns="0" rIns="0" bIns="0">
            <a:spAutoFit/>
          </a:bodyPr>
          <a:lstStyle>
            <a:lvl1pPr marL="0" marR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200" b="0" i="0">
                <a:latin typeface="TeleNeo Office" panose="020B0504040202090203" pitchFamily="34" charset="77"/>
              </a:defRPr>
            </a:lvl1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ts val="2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.</a:t>
            </a:r>
          </a:p>
        </p:txBody>
      </p:sp>
      <p:sp>
        <p:nvSpPr>
          <p:cNvPr id="46" name="Text Placeholder 14">
            <a:extLst>
              <a:ext uri="{FF2B5EF4-FFF2-40B4-BE49-F238E27FC236}">
                <a16:creationId xmlns:a16="http://schemas.microsoft.com/office/drawing/2014/main" id="{1F572C28-437E-FB47-A3A0-DDE2ABA0DD6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114471" y="4174318"/>
            <a:ext cx="3499914" cy="492443"/>
          </a:xfrm>
          <a:prstGeom prst="rect">
            <a:avLst/>
          </a:prstGeom>
        </p:spPr>
        <p:txBody>
          <a:bodyPr lIns="0" tIns="0" rIns="0" bIns="0">
            <a:sp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i="0">
                <a:latin typeface="TeleNeo Office" panose="020B0504040202090203" pitchFamily="34" charset="77"/>
              </a:defRPr>
            </a:lvl1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Lorem ipsum dolor sit </a:t>
            </a:r>
            <a:r>
              <a:rPr lang="en-US" err="1"/>
              <a:t>amet</a:t>
            </a:r>
            <a:r>
              <a:rPr lang="en-US"/>
              <a:t>, </a:t>
            </a:r>
            <a:br>
              <a:rPr lang="en-US"/>
            </a:b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.</a:t>
            </a:r>
          </a:p>
        </p:txBody>
      </p:sp>
      <p:sp>
        <p:nvSpPr>
          <p:cNvPr id="35" name="Footer Placeholder 4">
            <a:extLst>
              <a:ext uri="{FF2B5EF4-FFF2-40B4-BE49-F238E27FC236}">
                <a16:creationId xmlns:a16="http://schemas.microsoft.com/office/drawing/2014/main" id="{7DED2033-B10B-4004-8216-51157ECD292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899" y="6563298"/>
            <a:ext cx="1482450" cy="226838"/>
          </a:xfrm>
          <a:prstGeom prst="rect">
            <a:avLst/>
          </a:prstGeom>
          <a:ln>
            <a:noFill/>
          </a:ln>
        </p:spPr>
        <p:txBody>
          <a:bodyPr vert="horz" lIns="68681" tIns="34340" rIns="68681" bIns="34340" rtlCol="0" anchor="ctr"/>
          <a:lstStyle>
            <a:lvl1pPr algn="r">
              <a:defRPr sz="1200" b="0" i="0">
                <a:solidFill>
                  <a:schemeClr val="accent1"/>
                </a:solidFill>
                <a:latin typeface="Tele-GroteskHal" pitchFamily="2" charset="0"/>
                <a:cs typeface="Tele-GroteskHal" pitchFamily="2" charset="0"/>
              </a:defRPr>
            </a:lvl1pPr>
          </a:lstStyle>
          <a:p>
            <a:r>
              <a:rPr lang="en-US" dirty="0"/>
              <a:t>T-Mobile Confidential</a:t>
            </a:r>
          </a:p>
        </p:txBody>
      </p:sp>
    </p:spTree>
    <p:extLst>
      <p:ext uri="{BB962C8B-B14F-4D97-AF65-F5344CB8AC3E}">
        <p14:creationId xmlns:p14="http://schemas.microsoft.com/office/powerpoint/2010/main" val="329985909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image" Target="../media/image2.png"/><Relationship Id="rId5" Type="http://schemas.openxmlformats.org/officeDocument/2006/relationships/slideLayout" Target="../slideLayouts/slideLayout5.xml"/><Relationship Id="rId10" Type="http://schemas.openxmlformats.org/officeDocument/2006/relationships/image" Target="../media/image1.png"/><Relationship Id="rId4" Type="http://schemas.openxmlformats.org/officeDocument/2006/relationships/slideLayout" Target="../slideLayouts/slideLayout4.xml"/><Relationship Id="rId9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B61312D7-627D-4028-9ABE-72503F98245B}"/>
              </a:ext>
            </a:extLst>
          </p:cNvPr>
          <p:cNvSpPr/>
          <p:nvPr userDrawn="1"/>
        </p:nvSpPr>
        <p:spPr>
          <a:xfrm>
            <a:off x="10674387" y="6635712"/>
            <a:ext cx="1517613" cy="21756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dirty="0">
                <a:solidFill>
                  <a:schemeClr val="accent1"/>
                </a:solidFill>
                <a:latin typeface="TeleNeo Office Medium" panose="020B0604040202090203" pitchFamily="34" charset="0"/>
              </a:rPr>
              <a:t>Device &amp; Technology</a:t>
            </a:r>
          </a:p>
        </p:txBody>
      </p:sp>
      <p:pic>
        <p:nvPicPr>
          <p:cNvPr id="5" name="Picture 4" descr="A picture containing text, clock, gauge&#10;&#10;Description automatically generated">
            <a:extLst>
              <a:ext uri="{FF2B5EF4-FFF2-40B4-BE49-F238E27FC236}">
                <a16:creationId xmlns:a16="http://schemas.microsoft.com/office/drawing/2014/main" id="{51BEFBA9-7055-4B87-B5B7-EE17D5245BBB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57410" y="222288"/>
            <a:ext cx="400462" cy="436615"/>
          </a:xfrm>
          <a:prstGeom prst="rect">
            <a:avLst/>
          </a:prstGeom>
        </p:spPr>
      </p:pic>
      <p:pic>
        <p:nvPicPr>
          <p:cNvPr id="6" name="Picture 5" descr="A picture containing text, clock, gauge&#10;&#10;Description automatically generated">
            <a:extLst>
              <a:ext uri="{FF2B5EF4-FFF2-40B4-BE49-F238E27FC236}">
                <a16:creationId xmlns:a16="http://schemas.microsoft.com/office/drawing/2014/main" id="{7FA6A61D-E6C9-4171-9D5A-53DA8D62F490}"/>
              </a:ext>
            </a:extLst>
          </p:cNvPr>
          <p:cNvPicPr>
            <a:picLocks noChangeAspect="1"/>
          </p:cNvPicPr>
          <p:nvPr userDrawn="1"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08513" y="6428091"/>
            <a:ext cx="849359" cy="207621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E7C11D56-20E7-4753-AFE1-CF59926BBD47}"/>
              </a:ext>
            </a:extLst>
          </p:cNvPr>
          <p:cNvSpPr txBox="1"/>
          <p:nvPr userDrawn="1"/>
        </p:nvSpPr>
        <p:spPr>
          <a:xfrm>
            <a:off x="0" y="6599356"/>
            <a:ext cx="2225964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050" dirty="0">
                <a:solidFill>
                  <a:srgbClr val="E20074"/>
                </a:solidFill>
                <a:latin typeface="TeleNeo Office Medium" panose="020B0604040202090203" pitchFamily="34" charset="0"/>
              </a:rPr>
              <a:t>Confidential</a:t>
            </a:r>
          </a:p>
        </p:txBody>
      </p:sp>
    </p:spTree>
    <p:extLst>
      <p:ext uri="{BB962C8B-B14F-4D97-AF65-F5344CB8AC3E}">
        <p14:creationId xmlns:p14="http://schemas.microsoft.com/office/powerpoint/2010/main" val="31777733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6200" b="1" i="0" kern="1200">
          <a:solidFill>
            <a:schemeClr val="tx1"/>
          </a:solidFill>
          <a:latin typeface="TeleNeo Office ExtraBold" panose="020B0504040202090203" pitchFamily="34" charset="77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/>
        <a:buChar char="•"/>
        <a:defRPr sz="6200" b="1" i="0" kern="1200">
          <a:solidFill>
            <a:schemeClr val="tx1"/>
          </a:solidFill>
          <a:latin typeface="TeleNeo Office ExtraBold" panose="020B0504040202090203" pitchFamily="34" charset="77"/>
          <a:ea typeface="+mn-ea"/>
          <a:cs typeface="+mn-cs"/>
        </a:defRPr>
      </a:lvl1pPr>
      <a:lvl2pPr marL="685800" marR="0" indent="-228600" algn="l" defTabSz="914400" rtl="0" eaLnBrk="1" fontAlgn="auto" latinLnBrk="0" hangingPunct="1">
        <a:lnSpc>
          <a:spcPct val="90000"/>
        </a:lnSpc>
        <a:spcBef>
          <a:spcPts val="500"/>
        </a:spcBef>
        <a:spcAft>
          <a:spcPts val="0"/>
        </a:spcAft>
        <a:buClrTx/>
        <a:buSzTx/>
        <a:buFont typeface="Arial"/>
        <a:buChar char="•"/>
        <a:tabLst/>
        <a:defRPr sz="4800" b="1" i="0" kern="1200" spc="0">
          <a:solidFill>
            <a:schemeClr val="tx1"/>
          </a:solidFill>
          <a:latin typeface="TeleNeo Office ExtraBold" panose="020B0504040202090203" pitchFamily="34" charset="77"/>
          <a:ea typeface="+mn-ea"/>
          <a:cs typeface="+mn-cs"/>
        </a:defRPr>
      </a:lvl2pPr>
      <a:lvl3pPr marL="1143000" marR="0" indent="-228600" algn="l" defTabSz="914400" rtl="0" eaLnBrk="1" fontAlgn="auto" latinLnBrk="0" hangingPunct="1">
        <a:lnSpc>
          <a:spcPct val="90000"/>
        </a:lnSpc>
        <a:spcBef>
          <a:spcPts val="500"/>
        </a:spcBef>
        <a:spcAft>
          <a:spcPts val="0"/>
        </a:spcAft>
        <a:buClrTx/>
        <a:buSzTx/>
        <a:buFont typeface="Arial"/>
        <a:buChar char="•"/>
        <a:tabLst/>
        <a:defRPr sz="1200" b="1" i="0" kern="1200" spc="300">
          <a:solidFill>
            <a:schemeClr val="tx1"/>
          </a:solidFill>
          <a:latin typeface="TeleNeo Office ExtraBold" panose="020B0504040202090203" pitchFamily="34" charset="77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400" b="0" i="0" kern="1200">
          <a:solidFill>
            <a:schemeClr val="tx1"/>
          </a:solidFill>
          <a:latin typeface="TeleNeo Office" panose="020B0504040202090203" pitchFamily="34" charset="77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2" pos="617">
          <p15:clr>
            <a:srgbClr val="F26B43"/>
          </p15:clr>
        </p15:guide>
        <p15:guide id="3" pos="4482">
          <p15:clr>
            <a:srgbClr val="F26B43"/>
          </p15:clr>
        </p15:guide>
        <p15:guide id="4" pos="7055">
          <p15:clr>
            <a:srgbClr val="F26B43"/>
          </p15:clr>
        </p15:guide>
        <p15:guide id="5" pos="1907">
          <p15:clr>
            <a:srgbClr val="F26B43"/>
          </p15:clr>
        </p15:guide>
        <p15:guide id="6" pos="3194">
          <p15:clr>
            <a:srgbClr val="F26B43"/>
          </p15:clr>
        </p15:guide>
        <p15:guide id="7" pos="5769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hyperlink" Target="https://tmap.t-mobile.com/portals/ayibw7iw/OEMToolkit" TargetMode="External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hyperlink" Target="https://tmap.t-mobile.com/portals/ayibw7iw/OEMToolkit" TargetMode="External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hyperlink" Target="https://tmap.t-mobile.com/portals/ayibw7iw/OEMToolkit" TargetMode="External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hyperlink" Target="https://tmap.t-mobile.com/portals/ayibw7iw/OEMToolkit" TargetMode="External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metropcs.mobi/en/home" TargetMode="External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hyperlink" Target="https://tmap.t-mobile.com/portals/ayibw7iw/OEMToolkit" TargetMode="External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metropcs.mobi/en/home" TargetMode="External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hyperlink" Target="https://tmap.t-mobile.com/portals/ayibw7iw/OEMToolkit" TargetMode="External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metropcs.mobi/en/home" TargetMode="External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hyperlink" Target="https://tmap.t-mobile.com/portals/ayibw7iw/OEMToolkit" TargetMode="External"/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hyperlink" Target="https://tmap.t-mobile.com/portals/ayibw7iw/OEMToolkit" TargetMode="External"/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hyperlink" Target="https://tmap.t-mobile.com/portals/ayibw7iw/OEMToolkit" TargetMode="External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metropcs.mobi/en/home" TargetMode="External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hyperlink" Target="https://tmap.t-mobile.com/portals/ayibw7iw/OEMToolkit" TargetMode="External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metropcs.mobi/en/home" TargetMode="External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B6406095-DCB4-4288-B97D-DE80623D1682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002638" y="1124119"/>
            <a:ext cx="10011538" cy="947750"/>
          </a:xfrm>
        </p:spPr>
        <p:txBody>
          <a:bodyPr>
            <a:normAutofit fontScale="92500"/>
          </a:bodyPr>
          <a:lstStyle/>
          <a:p>
            <a:r>
              <a:rPr lang="en-US" dirty="0"/>
              <a:t>PRELOAD LAYOUT APPROVAL TEMPLATE 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0E15AC4-E93E-44B9-8941-971D37435F9B}"/>
              </a:ext>
            </a:extLst>
          </p:cNvPr>
          <p:cNvSpPr txBox="1"/>
          <p:nvPr/>
        </p:nvSpPr>
        <p:spPr>
          <a:xfrm>
            <a:off x="1002638" y="1879540"/>
            <a:ext cx="638157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V5.3 </a:t>
            </a:r>
            <a:r>
              <a:rPr lang="en-US"/>
              <a:t>– 1/</a:t>
            </a:r>
            <a:r>
              <a:rPr lang="en-US" dirty="0"/>
              <a:t>8</a:t>
            </a:r>
            <a:r>
              <a:rPr lang="en-US"/>
              <a:t>/2026</a:t>
            </a:r>
            <a:endParaRPr lang="en-US" dirty="0"/>
          </a:p>
          <a:p>
            <a:endParaRPr lang="en-US" dirty="0"/>
          </a:p>
          <a:p>
            <a:endParaRPr lang="en-US" i="1" dirty="0"/>
          </a:p>
        </p:txBody>
      </p:sp>
    </p:spTree>
    <p:extLst>
      <p:ext uri="{BB962C8B-B14F-4D97-AF65-F5344CB8AC3E}">
        <p14:creationId xmlns:p14="http://schemas.microsoft.com/office/powerpoint/2010/main" val="43832381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extBox 13">
            <a:extLst>
              <a:ext uri="{FF2B5EF4-FFF2-40B4-BE49-F238E27FC236}">
                <a16:creationId xmlns:a16="http://schemas.microsoft.com/office/drawing/2014/main" id="{C7D1AC7C-ECC1-433A-8F2F-2781AE3E8554}"/>
              </a:ext>
            </a:extLst>
          </p:cNvPr>
          <p:cNvSpPr txBox="1"/>
          <p:nvPr/>
        </p:nvSpPr>
        <p:spPr>
          <a:xfrm>
            <a:off x="153090" y="202740"/>
            <a:ext cx="431960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E20074"/>
                </a:solidFill>
                <a:effectLst/>
                <a:uLnTx/>
                <a:uFillTx/>
                <a:latin typeface="TeleGrotesk Next Medium"/>
                <a:ea typeface="+mn-ea"/>
                <a:cs typeface="+mn-cs"/>
              </a:rPr>
              <a:t>OEM INSTRUCTIONS</a:t>
            </a:r>
          </a:p>
        </p:txBody>
      </p:sp>
      <p:graphicFrame>
        <p:nvGraphicFramePr>
          <p:cNvPr id="18" name="Table 17">
            <a:extLst>
              <a:ext uri="{FF2B5EF4-FFF2-40B4-BE49-F238E27FC236}">
                <a16:creationId xmlns:a16="http://schemas.microsoft.com/office/drawing/2014/main" id="{07EEC1A7-A953-4532-865E-E1F278818D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4397505"/>
              </p:ext>
            </p:extLst>
          </p:nvPr>
        </p:nvGraphicFramePr>
        <p:xfrm>
          <a:off x="53503" y="951841"/>
          <a:ext cx="12084994" cy="5200334"/>
        </p:xfrm>
        <a:graphic>
          <a:graphicData uri="http://schemas.openxmlformats.org/drawingml/2006/table">
            <a:tbl>
              <a:tblPr/>
              <a:tblGrid>
                <a:gridCol w="1779872">
                  <a:extLst>
                    <a:ext uri="{9D8B030D-6E8A-4147-A177-3AD203B41FA5}">
                      <a16:colId xmlns:a16="http://schemas.microsoft.com/office/drawing/2014/main" val="916125074"/>
                    </a:ext>
                  </a:extLst>
                </a:gridCol>
                <a:gridCol w="10305122">
                  <a:extLst>
                    <a:ext uri="{9D8B030D-6E8A-4147-A177-3AD203B41FA5}">
                      <a16:colId xmlns:a16="http://schemas.microsoft.com/office/drawing/2014/main" val="1508330814"/>
                    </a:ext>
                  </a:extLst>
                </a:gridCol>
              </a:tblGrid>
              <a:tr h="34453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STEP 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E2EF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610551"/>
                  </a:ext>
                </a:extLst>
              </a:tr>
              <a:tr h="245531">
                <a:tc>
                  <a:txBody>
                    <a:bodyPr/>
                    <a:lstStyle/>
                    <a:p>
                      <a:pPr algn="l" fontAlgn="b"/>
                      <a:endParaRPr lang="en-US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 Once your device is ranged, your TAM will create a JIRA Project for your device,  within the JIRA project they will create a JIRA issue called - SERVICE CONFIGURATION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9561348"/>
                  </a:ext>
                </a:extLst>
              </a:tr>
              <a:tr h="122765">
                <a:tc>
                  <a:txBody>
                    <a:bodyPr/>
                    <a:lstStyle/>
                    <a:p>
                      <a:pPr algn="l" fontAlgn="b"/>
                      <a:endParaRPr lang="en-US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 The OEM will download the latest Blueprint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9687784"/>
                  </a:ext>
                </a:extLst>
              </a:tr>
              <a:tr h="221770">
                <a:tc>
                  <a:txBody>
                    <a:bodyPr/>
                    <a:lstStyle/>
                    <a:p>
                      <a:pPr algn="l" fontAlgn="b"/>
                      <a:endParaRPr lang="en-US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a. OEM Will fill out the </a:t>
                      </a:r>
                      <a:r>
                        <a:rPr lang="en-US" sz="1200" b="1" i="0" u="none" strike="noStrike" dirty="0">
                          <a:solidFill>
                            <a:srgbClr val="CC0000"/>
                          </a:solidFill>
                          <a:effectLst/>
                          <a:latin typeface="Calibri" panose="020F0502020204030204" pitchFamily="34" charset="0"/>
                        </a:rPr>
                        <a:t>DEVICE INFORMATION TAB</a:t>
                      </a:r>
                      <a:endParaRPr 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9370544"/>
                  </a:ext>
                </a:extLst>
              </a:tr>
              <a:tr h="245531">
                <a:tc>
                  <a:txBody>
                    <a:bodyPr/>
                    <a:lstStyle/>
                    <a:p>
                      <a:pPr algn="l" fontAlgn="b"/>
                      <a:endParaRPr lang="en-US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b. OEM Will fill in the </a:t>
                      </a:r>
                      <a:r>
                        <a:rPr lang="en-US" sz="1200" b="1" i="0" u="none" strike="noStrike" dirty="0">
                          <a:solidFill>
                            <a:srgbClr val="CC0000"/>
                          </a:solidFill>
                          <a:effectLst/>
                          <a:latin typeface="Calibri" panose="020F0502020204030204" pitchFamily="34" charset="0"/>
                        </a:rPr>
                        <a:t>OEM APPS AND GMS QUESTIONAIRE TAB</a:t>
                      </a: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, list all OEM preloads and related information as well as all the GMS apps your preloading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177626"/>
                  </a:ext>
                </a:extLst>
              </a:tr>
              <a:tr h="245531">
                <a:tc>
                  <a:txBody>
                    <a:bodyPr/>
                    <a:lstStyle/>
                    <a:p>
                      <a:pPr algn="l" fontAlgn="b"/>
                      <a:endParaRPr lang="en-US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c. </a:t>
                      </a: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OEM will select compliance status for each application listed in the </a:t>
                      </a:r>
                      <a:r>
                        <a:rPr lang="en-US" sz="1200" b="1" i="0" u="none" strike="noStrike" dirty="0">
                          <a:solidFill>
                            <a:srgbClr val="CC0000"/>
                          </a:solidFill>
                          <a:effectLst/>
                          <a:latin typeface="Calibri" panose="020F0502020204030204" pitchFamily="34" charset="0"/>
                        </a:rPr>
                        <a:t>BRAND PRELOAD BLUEPRINT TAB</a:t>
                      </a: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, for non-comply or partial comply use the comments section to indicate why</a:t>
                      </a:r>
                      <a:endParaRPr lang="en-US" sz="12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673149"/>
                  </a:ext>
                </a:extLst>
              </a:tr>
              <a:tr h="198009">
                <a:tc>
                  <a:txBody>
                    <a:bodyPr/>
                    <a:lstStyle/>
                    <a:p>
                      <a:pPr algn="l" fontAlgn="b"/>
                      <a:endParaRPr lang="en-US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</a:t>
                      </a:r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ALLOWLIST TAB</a:t>
                      </a: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- OEM must support the Whitelist and Application Pre-Grant requirements listed here</a:t>
                      </a:r>
                      <a:endParaRPr lang="en-US" sz="12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95331893"/>
                  </a:ext>
                </a:extLst>
              </a:tr>
              <a:tr h="209890">
                <a:tc>
                  <a:txBody>
                    <a:bodyPr/>
                    <a:lstStyle/>
                    <a:p>
                      <a:pPr algn="l" fontAlgn="b"/>
                      <a:endParaRPr lang="en-US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 The OEM will upload the completed Blueprint to the SERVICE CONFIGURATION ISSUE in JIRA and assign the ticket to Preload Blueprint Lead (PBL)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9537045"/>
                  </a:ext>
                </a:extLst>
              </a:tr>
              <a:tr h="205929">
                <a:tc>
                  <a:txBody>
                    <a:bodyPr/>
                    <a:lstStyle/>
                    <a:p>
                      <a:pPr algn="l" fontAlgn="b"/>
                      <a:endParaRPr lang="en-US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 The PBL will provide feedback in the ticket for any changes or discussion needed, when Service Config. is approved, the PBL will update the JIRA issue with APPROVED Status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34934327"/>
                  </a:ext>
                </a:extLst>
              </a:tr>
              <a:tr h="122765">
                <a:tc>
                  <a:txBody>
                    <a:bodyPr/>
                    <a:lstStyle/>
                    <a:p>
                      <a:pPr algn="l" fontAlgn="b"/>
                      <a:endParaRPr lang="en-US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2463368"/>
                  </a:ext>
                </a:extLst>
              </a:tr>
              <a:tr h="34453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STEP 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2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E2EF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217022"/>
                  </a:ext>
                </a:extLst>
              </a:tr>
              <a:tr h="122765">
                <a:tc>
                  <a:txBody>
                    <a:bodyPr/>
                    <a:lstStyle/>
                    <a:p>
                      <a:pPr algn="l" fontAlgn="b"/>
                      <a:endParaRPr lang="en-US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21038191"/>
                  </a:ext>
                </a:extLst>
              </a:tr>
              <a:tr h="178207">
                <a:tc>
                  <a:txBody>
                    <a:bodyPr/>
                    <a:lstStyle/>
                    <a:p>
                      <a:pPr algn="l" fontAlgn="b"/>
                      <a:endParaRPr lang="en-US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 OEM will download the matching preload layout template from confluence and select appropriate size (4x5 or 5x5), for each brand.  Delete the Xx5 slides you are not using.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69412089"/>
                  </a:ext>
                </a:extLst>
              </a:tr>
              <a:tr h="237610">
                <a:tc>
                  <a:txBody>
                    <a:bodyPr/>
                    <a:lstStyle/>
                    <a:p>
                      <a:pPr algn="l" fontAlgn="b"/>
                      <a:endParaRPr lang="en-US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 OEM will edit each brand page to populate planned layout and SAVE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3143386"/>
                  </a:ext>
                </a:extLst>
              </a:tr>
              <a:tr h="221770">
                <a:tc>
                  <a:txBody>
                    <a:bodyPr/>
                    <a:lstStyle/>
                    <a:p>
                      <a:pPr algn="l" fontAlgn="ctr"/>
                      <a:endParaRPr lang="en-US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 OEM will attach the completed .ppt to the SERVICE CONFIGURATION JIRA Issue and assign to their Product Manager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2547390"/>
                  </a:ext>
                </a:extLst>
              </a:tr>
              <a:tr h="221770">
                <a:tc>
                  <a:txBody>
                    <a:bodyPr/>
                    <a:lstStyle/>
                    <a:p>
                      <a:pPr algn="l" fontAlgn="b"/>
                      <a:endParaRPr lang="en-US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 Any changes needed, or feedback will be entered by the PM into the JIRA issue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45176031"/>
                  </a:ext>
                </a:extLst>
              </a:tr>
              <a:tr h="217810">
                <a:tc>
                  <a:txBody>
                    <a:bodyPr/>
                    <a:lstStyle/>
                    <a:p>
                      <a:pPr algn="l" fontAlgn="ctr"/>
                      <a:endParaRPr lang="en-US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 Once the layout is approved the Product Manager will update the ticket with APPROVED Status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0125770"/>
                  </a:ext>
                </a:extLst>
              </a:tr>
              <a:tr h="198009">
                <a:tc>
                  <a:txBody>
                    <a:bodyPr/>
                    <a:lstStyle/>
                    <a:p>
                      <a:pPr algn="l" fontAlgn="b"/>
                      <a:endParaRPr lang="en-US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14870179"/>
                  </a:ext>
                </a:extLst>
              </a:tr>
              <a:tr h="34453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STEP 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2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E2EF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3304423"/>
                  </a:ext>
                </a:extLst>
              </a:tr>
              <a:tr h="178207">
                <a:tc>
                  <a:txBody>
                    <a:bodyPr/>
                    <a:lstStyle/>
                    <a:p>
                      <a:pPr algn="l" fontAlgn="b"/>
                      <a:endParaRPr lang="en-US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 Once the Service Configuration Ticket is approved, the Mobile Solutions Team will load the IP Pack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860017"/>
                  </a:ext>
                </a:extLst>
              </a:tr>
            </a:tbl>
          </a:graphicData>
        </a:graphic>
      </p:graphicFrame>
      <p:pic>
        <p:nvPicPr>
          <p:cNvPr id="19" name="Picture 18">
            <a:extLst>
              <a:ext uri="{FF2B5EF4-FFF2-40B4-BE49-F238E27FC236}">
                <a16:creationId xmlns:a16="http://schemas.microsoft.com/office/drawing/2014/main" id="{86A8B46D-643C-43C9-8235-E69AA3F1ABA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4334" y="1512063"/>
            <a:ext cx="1608475" cy="1489588"/>
          </a:xfrm>
          <a:prstGeom prst="rect">
            <a:avLst/>
          </a:prstGeom>
        </p:spPr>
      </p:pic>
      <p:pic>
        <p:nvPicPr>
          <p:cNvPr id="20" name="Picture 19">
            <a:extLst>
              <a:ext uri="{FF2B5EF4-FFF2-40B4-BE49-F238E27FC236}">
                <a16:creationId xmlns:a16="http://schemas.microsoft.com/office/drawing/2014/main" id="{99B41C71-3F97-4F78-ABC2-B64595F7C63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647" y="4092311"/>
            <a:ext cx="1608475" cy="14268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3843309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BF6CE8F3-90E9-41EA-B85D-3E81EDBE84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8773810"/>
              </p:ext>
            </p:extLst>
          </p:nvPr>
        </p:nvGraphicFramePr>
        <p:xfrm>
          <a:off x="643467" y="1198686"/>
          <a:ext cx="10905066" cy="4460637"/>
        </p:xfrm>
        <a:graphic>
          <a:graphicData uri="http://schemas.openxmlformats.org/drawingml/2006/table">
            <a:tbl>
              <a:tblPr firstRow="1" bandRow="1"/>
              <a:tblGrid>
                <a:gridCol w="3891295">
                  <a:extLst>
                    <a:ext uri="{9D8B030D-6E8A-4147-A177-3AD203B41FA5}">
                      <a16:colId xmlns:a16="http://schemas.microsoft.com/office/drawing/2014/main" val="1068975568"/>
                    </a:ext>
                  </a:extLst>
                </a:gridCol>
                <a:gridCol w="7013771">
                  <a:extLst>
                    <a:ext uri="{9D8B030D-6E8A-4147-A177-3AD203B41FA5}">
                      <a16:colId xmlns:a16="http://schemas.microsoft.com/office/drawing/2014/main" val="1854465672"/>
                    </a:ext>
                  </a:extLst>
                </a:gridCol>
              </a:tblGrid>
              <a:tr h="882937">
                <a:tc gridSpan="2">
                  <a:txBody>
                    <a:bodyPr/>
                    <a:lstStyle/>
                    <a:p>
                      <a:pPr algn="ctr" fontAlgn="b"/>
                      <a:r>
                        <a:rPr lang="en-US" sz="55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DEVICE INFORMATION</a:t>
                      </a:r>
                    </a:p>
                  </a:txBody>
                  <a:tcPr marL="11776" marR="11776" marT="1177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91315581"/>
                  </a:ext>
                </a:extLst>
              </a:tr>
              <a:tr h="357770">
                <a:tc>
                  <a:txBody>
                    <a:bodyPr/>
                    <a:lstStyle/>
                    <a:p>
                      <a:pPr algn="l" fontAlgn="b"/>
                      <a:r>
                        <a:rPr lang="en-US" sz="20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DEVICE OEM</a:t>
                      </a:r>
                    </a:p>
                  </a:txBody>
                  <a:tcPr marL="11776" marR="11776" marT="1177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11776" marR="11776" marT="1177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4703193"/>
                  </a:ext>
                </a:extLst>
              </a:tr>
              <a:tr h="357770">
                <a:tc>
                  <a:txBody>
                    <a:bodyPr/>
                    <a:lstStyle/>
                    <a:p>
                      <a:pPr algn="l" fontAlgn="b"/>
                      <a:r>
                        <a:rPr lang="en-US" sz="20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PROJECT NAME</a:t>
                      </a:r>
                    </a:p>
                  </a:txBody>
                  <a:tcPr marL="11776" marR="11776" marT="1177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11776" marR="11776" marT="1177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8132166"/>
                  </a:ext>
                </a:extLst>
              </a:tr>
              <a:tr h="357770">
                <a:tc>
                  <a:txBody>
                    <a:bodyPr/>
                    <a:lstStyle/>
                    <a:p>
                      <a:pPr algn="l" fontAlgn="b"/>
                      <a:r>
                        <a:rPr lang="en-US" sz="20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DEVICE MODEL NUMBER</a:t>
                      </a:r>
                      <a:endParaRPr lang="en-US" sz="20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11776" marR="11776" marT="1177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11776" marR="11776" marT="1177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8679889"/>
                  </a:ext>
                </a:extLst>
              </a:tr>
              <a:tr h="357770">
                <a:tc>
                  <a:txBody>
                    <a:bodyPr/>
                    <a:lstStyle/>
                    <a:p>
                      <a:pPr algn="l" fontAlgn="b"/>
                      <a:r>
                        <a:rPr lang="en-US" sz="20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LAUNCH DATE</a:t>
                      </a:r>
                    </a:p>
                  </a:txBody>
                  <a:tcPr marL="11776" marR="11776" marT="1177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11776" marR="11776" marT="1177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1724334"/>
                  </a:ext>
                </a:extLst>
              </a:tr>
              <a:tr h="357770">
                <a:tc>
                  <a:txBody>
                    <a:bodyPr/>
                    <a:lstStyle/>
                    <a:p>
                      <a:pPr algn="l" fontAlgn="b"/>
                      <a:r>
                        <a:rPr lang="en-US" sz="20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OPERATING SYSTEM</a:t>
                      </a:r>
                    </a:p>
                  </a:txBody>
                  <a:tcPr marL="11776" marR="11776" marT="1177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11776" marR="11776" marT="1177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0450148"/>
                  </a:ext>
                </a:extLst>
              </a:tr>
              <a:tr h="357770">
                <a:tc>
                  <a:txBody>
                    <a:bodyPr/>
                    <a:lstStyle/>
                    <a:p>
                      <a:pPr algn="l" fontAlgn="b"/>
                      <a:r>
                        <a:rPr lang="en-US" sz="20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OPERATING SYSTEM VERSION</a:t>
                      </a:r>
                    </a:p>
                  </a:txBody>
                  <a:tcPr marL="11776" marR="11776" marT="1177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11776" marR="11776" marT="1177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44316369"/>
                  </a:ext>
                </a:extLst>
              </a:tr>
              <a:tr h="357770">
                <a:tc>
                  <a:txBody>
                    <a:bodyPr/>
                    <a:lstStyle/>
                    <a:p>
                      <a:pPr algn="l" fontAlgn="b"/>
                      <a:r>
                        <a:rPr lang="en-US" sz="20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MEMORY CONFIGURATION</a:t>
                      </a:r>
                    </a:p>
                  </a:txBody>
                  <a:tcPr marL="11776" marR="11776" marT="1177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11776" marR="11776" marT="1177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2953223"/>
                  </a:ext>
                </a:extLst>
              </a:tr>
              <a:tr h="357770">
                <a:tc>
                  <a:txBody>
                    <a:bodyPr/>
                    <a:lstStyle/>
                    <a:p>
                      <a:pPr algn="l" fontAlgn="b"/>
                      <a:r>
                        <a:rPr lang="en-US" sz="20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OTHER SPECIAL NOTES</a:t>
                      </a:r>
                    </a:p>
                  </a:txBody>
                  <a:tcPr marL="11776" marR="11776" marT="1177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11776" marR="11776" marT="1177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8706912"/>
                  </a:ext>
                </a:extLst>
              </a:tr>
              <a:tr h="357770">
                <a:tc>
                  <a:txBody>
                    <a:bodyPr/>
                    <a:lstStyle/>
                    <a:p>
                      <a:pPr algn="l" fontAlgn="b"/>
                      <a:r>
                        <a:rPr lang="en-US" sz="20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LAUNCHING BRANDS</a:t>
                      </a:r>
                    </a:p>
                  </a:txBody>
                  <a:tcPr marL="11776" marR="11776" marT="1177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11776" marR="11776" marT="1177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7125541"/>
                  </a:ext>
                </a:extLst>
              </a:tr>
              <a:tr h="357770">
                <a:tc>
                  <a:txBody>
                    <a:bodyPr/>
                    <a:lstStyle/>
                    <a:p>
                      <a:pPr algn="l" fontAlgn="b"/>
                      <a:r>
                        <a:rPr lang="en-US" sz="20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OEM AUTHOR OF THIS DOCUMENT</a:t>
                      </a:r>
                    </a:p>
                  </a:txBody>
                  <a:tcPr marL="11776" marR="11776" marT="1177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endParaRPr lang="en-US" sz="2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11776" marR="11776" marT="1177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873522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231187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3123DC44-F3F4-49E8-9281-BD4E386D9AF0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958188" y="2481250"/>
            <a:ext cx="5273279" cy="947750"/>
          </a:xfrm>
          <a:ln w="28575">
            <a:solidFill>
              <a:schemeClr val="bg1"/>
            </a:solidFill>
          </a:ln>
        </p:spPr>
        <p:txBody>
          <a:bodyPr>
            <a:normAutofit/>
          </a:bodyPr>
          <a:lstStyle/>
          <a:p>
            <a:r>
              <a:rPr lang="en-US" sz="6000" dirty="0"/>
              <a:t> SMARTPHONES</a:t>
            </a:r>
          </a:p>
        </p:txBody>
      </p:sp>
    </p:spTree>
    <p:extLst>
      <p:ext uri="{BB962C8B-B14F-4D97-AF65-F5344CB8AC3E}">
        <p14:creationId xmlns:p14="http://schemas.microsoft.com/office/powerpoint/2010/main" val="129861729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6A4DEF40-9FAA-488A-8DC3-B93DDD0D686A}"/>
              </a:ext>
            </a:extLst>
          </p:cNvPr>
          <p:cNvSpPr txBox="1"/>
          <p:nvPr/>
        </p:nvSpPr>
        <p:spPr>
          <a:xfrm>
            <a:off x="372381" y="2776301"/>
            <a:ext cx="8241041" cy="523220"/>
          </a:xfrm>
          <a:prstGeom prst="rect">
            <a:avLst/>
          </a:prstGeom>
          <a:noFill/>
          <a:ln w="28575">
            <a:solidFill>
              <a:schemeClr val="accent1"/>
            </a:solidFill>
          </a:ln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E20074"/>
                </a:solidFill>
                <a:effectLst/>
                <a:uLnTx/>
                <a:uFillTx/>
                <a:latin typeface="TeleGrotesk Next Medium"/>
                <a:ea typeface="+mn-ea"/>
                <a:cs typeface="+mn-cs"/>
              </a:rPr>
              <a:t>SMARTPHONE - T-MOBILE 5X5 SCREEN SIZE TEMPLATE</a:t>
            </a:r>
          </a:p>
        </p:txBody>
      </p:sp>
    </p:spTree>
    <p:extLst>
      <p:ext uri="{BB962C8B-B14F-4D97-AF65-F5344CB8AC3E}">
        <p14:creationId xmlns:p14="http://schemas.microsoft.com/office/powerpoint/2010/main" val="244145527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9F60FE-6B2E-EC68-D359-8E680CEE47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F0340E9D-86A3-30F5-F8B5-625D2F24B9FC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4484" y="31799"/>
            <a:ext cx="10750998" cy="947750"/>
          </a:xfrm>
        </p:spPr>
        <p:txBody>
          <a:bodyPr>
            <a:normAutofit/>
          </a:bodyPr>
          <a:lstStyle/>
          <a:p>
            <a:r>
              <a:rPr lang="en-US" sz="3200" dirty="0"/>
              <a:t>T-Mobile Brand 5x5 (Lock +Unlock)</a:t>
            </a:r>
          </a:p>
        </p:txBody>
      </p:sp>
      <p:pic>
        <p:nvPicPr>
          <p:cNvPr id="243" name="Picture 242">
            <a:extLst>
              <a:ext uri="{FF2B5EF4-FFF2-40B4-BE49-F238E27FC236}">
                <a16:creationId xmlns:a16="http://schemas.microsoft.com/office/drawing/2014/main" id="{C1539B8F-90FB-234B-97F6-A1F400C8739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51647" y="31799"/>
            <a:ext cx="2163469" cy="652204"/>
          </a:xfrm>
          <a:prstGeom prst="rect">
            <a:avLst/>
          </a:prstGeom>
        </p:spPr>
      </p:pic>
      <p:sp>
        <p:nvSpPr>
          <p:cNvPr id="20" name="TextBox 11">
            <a:extLst>
              <a:ext uri="{FF2B5EF4-FFF2-40B4-BE49-F238E27FC236}">
                <a16:creationId xmlns:a16="http://schemas.microsoft.com/office/drawing/2014/main" id="{6B37A6B1-4439-6CAE-1E14-73871185B8A9}"/>
              </a:ext>
            </a:extLst>
          </p:cNvPr>
          <p:cNvSpPr txBox="1"/>
          <p:nvPr/>
        </p:nvSpPr>
        <p:spPr>
          <a:xfrm>
            <a:off x="864286" y="11823712"/>
            <a:ext cx="1463073" cy="272348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/>
              <a:t>Google Discover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8AA22D90-F0E9-DF1F-5338-82902A1614B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8729778"/>
              </p:ext>
            </p:extLst>
          </p:nvPr>
        </p:nvGraphicFramePr>
        <p:xfrm>
          <a:off x="460753" y="666025"/>
          <a:ext cx="4285417" cy="4537282"/>
        </p:xfrm>
        <a:graphic>
          <a:graphicData uri="http://schemas.openxmlformats.org/drawingml/2006/table">
            <a:tbl>
              <a:tblPr/>
              <a:tblGrid>
                <a:gridCol w="323199">
                  <a:extLst>
                    <a:ext uri="{9D8B030D-6E8A-4147-A177-3AD203B41FA5}">
                      <a16:colId xmlns:a16="http://schemas.microsoft.com/office/drawing/2014/main" val="122851149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38574171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1034406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765835962"/>
                    </a:ext>
                  </a:extLst>
                </a:gridCol>
                <a:gridCol w="227994">
                  <a:extLst>
                    <a:ext uri="{9D8B030D-6E8A-4147-A177-3AD203B41FA5}">
                      <a16:colId xmlns:a16="http://schemas.microsoft.com/office/drawing/2014/main" val="3032794130"/>
                    </a:ext>
                  </a:extLst>
                </a:gridCol>
                <a:gridCol w="276517">
                  <a:extLst>
                    <a:ext uri="{9D8B030D-6E8A-4147-A177-3AD203B41FA5}">
                      <a16:colId xmlns:a16="http://schemas.microsoft.com/office/drawing/2014/main" val="541524318"/>
                    </a:ext>
                  </a:extLst>
                </a:gridCol>
                <a:gridCol w="243662">
                  <a:extLst>
                    <a:ext uri="{9D8B030D-6E8A-4147-A177-3AD203B41FA5}">
                      <a16:colId xmlns:a16="http://schemas.microsoft.com/office/drawing/2014/main" val="147404175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87507260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136874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18794909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42879882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2678500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5382073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72920100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415853704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86910272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558557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255814577"/>
                    </a:ext>
                  </a:extLst>
                </a:gridCol>
                <a:gridCol w="323199">
                  <a:extLst>
                    <a:ext uri="{9D8B030D-6E8A-4147-A177-3AD203B41FA5}">
                      <a16:colId xmlns:a16="http://schemas.microsoft.com/office/drawing/2014/main" val="650234665"/>
                    </a:ext>
                  </a:extLst>
                </a:gridCol>
              </a:tblGrid>
              <a:tr h="205879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Lock Screen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0995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704942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6546747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1761008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238531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8044488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9239566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7918914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8934769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496596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2743560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6333289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9844401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28475292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3377790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5461106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8258329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6355017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6054402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746340574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2335085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9395224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428589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3035375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6969364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6587648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0832905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4509624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7078814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58620133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1655012"/>
                  </a:ext>
                </a:extLst>
              </a:tr>
              <a:tr h="13485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242736861"/>
                  </a:ext>
                </a:extLst>
              </a:tr>
            </a:tbl>
          </a:graphicData>
        </a:graphic>
      </p:graphicFrame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CE680AB4-5062-3659-8D45-2A30CDDCB7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154242"/>
              </p:ext>
            </p:extLst>
          </p:nvPr>
        </p:nvGraphicFramePr>
        <p:xfrm>
          <a:off x="5358006" y="684003"/>
          <a:ext cx="4285417" cy="4537282"/>
        </p:xfrm>
        <a:graphic>
          <a:graphicData uri="http://schemas.openxmlformats.org/drawingml/2006/table">
            <a:tbl>
              <a:tblPr/>
              <a:tblGrid>
                <a:gridCol w="323199">
                  <a:extLst>
                    <a:ext uri="{9D8B030D-6E8A-4147-A177-3AD203B41FA5}">
                      <a16:colId xmlns:a16="http://schemas.microsoft.com/office/drawing/2014/main" val="122851149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38574171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1034406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765835962"/>
                    </a:ext>
                  </a:extLst>
                </a:gridCol>
                <a:gridCol w="227994">
                  <a:extLst>
                    <a:ext uri="{9D8B030D-6E8A-4147-A177-3AD203B41FA5}">
                      <a16:colId xmlns:a16="http://schemas.microsoft.com/office/drawing/2014/main" val="3032794130"/>
                    </a:ext>
                  </a:extLst>
                </a:gridCol>
                <a:gridCol w="276517">
                  <a:extLst>
                    <a:ext uri="{9D8B030D-6E8A-4147-A177-3AD203B41FA5}">
                      <a16:colId xmlns:a16="http://schemas.microsoft.com/office/drawing/2014/main" val="541524318"/>
                    </a:ext>
                  </a:extLst>
                </a:gridCol>
                <a:gridCol w="243662">
                  <a:extLst>
                    <a:ext uri="{9D8B030D-6E8A-4147-A177-3AD203B41FA5}">
                      <a16:colId xmlns:a16="http://schemas.microsoft.com/office/drawing/2014/main" val="147404175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87507260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136874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18794909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42879882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2678500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5382073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72920100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415853704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86910272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558557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255814577"/>
                    </a:ext>
                  </a:extLst>
                </a:gridCol>
                <a:gridCol w="323199">
                  <a:extLst>
                    <a:ext uri="{9D8B030D-6E8A-4147-A177-3AD203B41FA5}">
                      <a16:colId xmlns:a16="http://schemas.microsoft.com/office/drawing/2014/main" val="650234665"/>
                    </a:ext>
                  </a:extLst>
                </a:gridCol>
              </a:tblGrid>
              <a:tr h="205879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Unlock Screen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0995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704942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gridSpan="15">
                  <a:txBody>
                    <a:bodyPr/>
                    <a:lstStyle/>
                    <a:p>
                      <a:pPr algn="ctr" fontAlgn="ctr"/>
                      <a:r>
                        <a:rPr lang="en-US" sz="20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T-Play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8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6546747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1761008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238531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8044488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9239566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7918914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8934769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496596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2743560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6333289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9844401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28475292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3377790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5461106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8258329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6355017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6054402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746340574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2335085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9395224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428589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3035375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6969364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6587648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0832905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4509624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7078814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58620133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1655012"/>
                  </a:ext>
                </a:extLst>
              </a:tr>
              <a:tr h="13485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24273686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CC82B8A1-8E00-744A-D59A-A2FD3C56BA07}"/>
              </a:ext>
            </a:extLst>
          </p:cNvPr>
          <p:cNvSpPr txBox="1"/>
          <p:nvPr/>
        </p:nvSpPr>
        <p:spPr>
          <a:xfrm>
            <a:off x="606558" y="5206856"/>
            <a:ext cx="6050561" cy="646331"/>
          </a:xfrm>
          <a:prstGeom prst="rect">
            <a:avLst/>
          </a:prstGeom>
          <a:noFill/>
        </p:spPr>
        <p:txBody>
          <a:bodyPr wrap="square" lIns="91440" tIns="45720" rIns="91440" bIns="45720" anchor="t">
            <a:spAutoFit/>
          </a:bodyPr>
          <a:lstStyle/>
          <a:p>
            <a:pPr fontAlgn="b"/>
            <a:r>
              <a:rPr lang="en-US" sz="1200" b="1" i="0" u="none" strike="noStrike" dirty="0">
                <a:solidFill>
                  <a:srgbClr val="000000"/>
                </a:solidFill>
                <a:effectLst/>
                <a:latin typeface="Calibri"/>
                <a:ea typeface="Calibri"/>
                <a:cs typeface="Calibri"/>
              </a:rPr>
              <a:t>OEM Instructions: </a:t>
            </a:r>
            <a:r>
              <a:rPr lang="en-US" sz="1200" b="1" i="0" u="sng" strike="noStrike" dirty="0">
                <a:solidFill>
                  <a:srgbClr val="4472C4"/>
                </a:solidFill>
                <a:effectLst/>
                <a:latin typeface="Calibri"/>
                <a:ea typeface="Calibri"/>
                <a:cs typeface="Calibri"/>
              </a:rPr>
              <a:t> </a:t>
            </a:r>
            <a:br>
              <a:rPr lang="en-US" sz="1200" b="0" i="0" u="none" strike="noStrike" dirty="0"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/>
                <a:ea typeface="Calibri"/>
                <a:cs typeface="Calibri"/>
              </a:rPr>
              <a:t>Please provid</a:t>
            </a:r>
            <a:r>
              <a:rPr lang="en-US" sz="1200" dirty="0">
                <a:solidFill>
                  <a:srgbClr val="000000"/>
                </a:solidFill>
                <a:latin typeface="Calibri"/>
                <a:ea typeface="Calibri"/>
                <a:cs typeface="Calibri"/>
              </a:rPr>
              <a:t>e the mapping or the device’s Lock and Unlock screen. Please feel free to </a:t>
            </a:r>
            <a:r>
              <a:rPr lang="en-US" sz="1200">
                <a:solidFill>
                  <a:srgbClr val="000000"/>
                </a:solidFill>
                <a:latin typeface="Calibri"/>
                <a:ea typeface="Calibri"/>
                <a:cs typeface="Calibri"/>
              </a:rPr>
              <a:t>populate the screens as you would with any other device screen. </a:t>
            </a:r>
            <a:endParaRPr lang="en-US" sz="1200" b="0" i="0" u="none" strike="noStrike">
              <a:solidFill>
                <a:srgbClr val="000000"/>
              </a:solidFill>
              <a:effectLst/>
              <a:latin typeface="Calibri" panose="020F0502020204030204" pitchFamily="34" charset="0"/>
              <a:ea typeface="Calibri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17543831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B4DFBEA-C9E3-485D-B4A5-063CDD28548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4484" y="31799"/>
            <a:ext cx="10750998" cy="947750"/>
          </a:xfrm>
        </p:spPr>
        <p:txBody>
          <a:bodyPr>
            <a:normAutofit/>
          </a:bodyPr>
          <a:lstStyle/>
          <a:p>
            <a:r>
              <a:rPr lang="en-US" sz="3200" dirty="0"/>
              <a:t>T-Mobile Brand 5x5 (Homescreen + Panel Layout)</a:t>
            </a:r>
          </a:p>
        </p:txBody>
      </p:sp>
      <p:graphicFrame>
        <p:nvGraphicFramePr>
          <p:cNvPr id="19" name="Table 18">
            <a:extLst>
              <a:ext uri="{FF2B5EF4-FFF2-40B4-BE49-F238E27FC236}">
                <a16:creationId xmlns:a16="http://schemas.microsoft.com/office/drawing/2014/main" id="{AAD0F211-FFC4-4F1C-923B-89EDE72049F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0785098"/>
              </p:ext>
            </p:extLst>
          </p:nvPr>
        </p:nvGraphicFramePr>
        <p:xfrm>
          <a:off x="64484" y="625597"/>
          <a:ext cx="9795332" cy="3683259"/>
        </p:xfrm>
        <a:graphic>
          <a:graphicData uri="http://schemas.openxmlformats.org/drawingml/2006/table">
            <a:tbl>
              <a:tblPr/>
              <a:tblGrid>
                <a:gridCol w="144049">
                  <a:extLst>
                    <a:ext uri="{9D8B030D-6E8A-4147-A177-3AD203B41FA5}">
                      <a16:colId xmlns:a16="http://schemas.microsoft.com/office/drawing/2014/main" val="3071111857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623677469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48716641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4044309697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750007557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099927867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226768189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921051827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54597712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871625582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558289915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673157173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260138138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460564891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733339954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248094881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365985886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989115922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007713424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128947910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416913702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417477919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4107779801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384427051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845993024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948865215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957569019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03838601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420514926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904930650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781636351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073796850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287178883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741730575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17393428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704514165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953734618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114119610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605420853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55870444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175345973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906364282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400887310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955617698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850564099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058040480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633912755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118834690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193136720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241186973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760623977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428224695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639861738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922218412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501705582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452422698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956087343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867613887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330752843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723304971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850943611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796671220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351651579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646792315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059382126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494441929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76888278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622769583"/>
                    </a:ext>
                  </a:extLst>
                </a:gridCol>
              </a:tblGrid>
              <a:tr h="131337">
                <a:tc>
                  <a:txBody>
                    <a:bodyPr/>
                    <a:lstStyle/>
                    <a:p>
                      <a:pPr algn="ctr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52159612"/>
                  </a:ext>
                </a:extLst>
              </a:tr>
              <a:tr h="136020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1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1L - Minus One Screen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1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Home- Screen 0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1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1R - Plus One Screen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  <a:prstDash val="solid"/>
                    </a:lnL>
                    <a:lnT w="12700" cmpd="sng">
                      <a:noFill/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5987631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2525403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24" gridSpan="19">
                  <a:txBody>
                    <a:bodyPr/>
                    <a:lstStyle/>
                    <a:p>
                      <a:pPr algn="ctr" fontAlgn="b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Assistant &amp; T-Mobile Play                                (-1 Minus One) page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19"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Search (5x1)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4433484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2023216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1473031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7121741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3928693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84537911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1215583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2681579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7806445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7383923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1537393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77478757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04191207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4747715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1885527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8766548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FOLDER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PLAYSTORE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GOOGLE ASSISTANT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PHOTOS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T-MOBILE FOLDER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Email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Gallery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Amazon Shopping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 Life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TikTok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398952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74393948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39221277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30030379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206237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Phone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Messages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Contacts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Chrome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Phone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</a:t>
                      </a:r>
                    </a:p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Messages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Contacts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Chrome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0059374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8431673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8602093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9571015"/>
                  </a:ext>
                </a:extLst>
              </a:tr>
            </a:tbl>
          </a:graphicData>
        </a:graphic>
      </p:graphicFrame>
      <p:cxnSp>
        <p:nvCxnSpPr>
          <p:cNvPr id="212" name="Straight Connector 211">
            <a:extLst>
              <a:ext uri="{FF2B5EF4-FFF2-40B4-BE49-F238E27FC236}">
                <a16:creationId xmlns:a16="http://schemas.microsoft.com/office/drawing/2014/main" id="{5E9FBB07-CA2F-4F04-8D07-256E73ADB63A}"/>
              </a:ext>
            </a:extLst>
          </p:cNvPr>
          <p:cNvCxnSpPr>
            <a:cxnSpLocks/>
          </p:cNvCxnSpPr>
          <p:nvPr/>
        </p:nvCxnSpPr>
        <p:spPr>
          <a:xfrm>
            <a:off x="1611390" y="1031997"/>
            <a:ext cx="0" cy="689748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214" name="TextBox 4">
            <a:extLst>
              <a:ext uri="{FF2B5EF4-FFF2-40B4-BE49-F238E27FC236}">
                <a16:creationId xmlns:a16="http://schemas.microsoft.com/office/drawing/2014/main" id="{529360FF-3277-42AE-BDD2-D6A853A668D8}"/>
              </a:ext>
            </a:extLst>
          </p:cNvPr>
          <p:cNvSpPr txBox="1"/>
          <p:nvPr/>
        </p:nvSpPr>
        <p:spPr>
          <a:xfrm>
            <a:off x="364859" y="1031998"/>
            <a:ext cx="1167988" cy="355600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 dirty="0"/>
              <a:t>Google Discover</a:t>
            </a:r>
          </a:p>
        </p:txBody>
      </p:sp>
      <p:sp>
        <p:nvSpPr>
          <p:cNvPr id="215" name="TextBox 5">
            <a:extLst>
              <a:ext uri="{FF2B5EF4-FFF2-40B4-BE49-F238E27FC236}">
                <a16:creationId xmlns:a16="http://schemas.microsoft.com/office/drawing/2014/main" id="{2D9499AB-111A-404A-B5AB-E769C643A71E}"/>
              </a:ext>
            </a:extLst>
          </p:cNvPr>
          <p:cNvSpPr txBox="1"/>
          <p:nvPr/>
        </p:nvSpPr>
        <p:spPr>
          <a:xfrm>
            <a:off x="1689933" y="1031997"/>
            <a:ext cx="1398333" cy="355600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/>
              <a:t>T-Mobile Play</a:t>
            </a:r>
          </a:p>
        </p:txBody>
      </p:sp>
      <p:graphicFrame>
        <p:nvGraphicFramePr>
          <p:cNvPr id="219" name="Table 218">
            <a:extLst>
              <a:ext uri="{FF2B5EF4-FFF2-40B4-BE49-F238E27FC236}">
                <a16:creationId xmlns:a16="http://schemas.microsoft.com/office/drawing/2014/main" id="{8B5D9A88-0849-46A4-A3CF-1F96880BBC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8407879"/>
              </p:ext>
            </p:extLst>
          </p:nvPr>
        </p:nvGraphicFramePr>
        <p:xfrm>
          <a:off x="10073047" y="3722902"/>
          <a:ext cx="1669768" cy="2655570"/>
        </p:xfrm>
        <a:graphic>
          <a:graphicData uri="http://schemas.openxmlformats.org/drawingml/2006/table">
            <a:tbl>
              <a:tblPr/>
              <a:tblGrid>
                <a:gridCol w="199196">
                  <a:extLst>
                    <a:ext uri="{9D8B030D-6E8A-4147-A177-3AD203B41FA5}">
                      <a16:colId xmlns:a16="http://schemas.microsoft.com/office/drawing/2014/main" val="3072099247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2660851657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4051570774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841299941"/>
                    </a:ext>
                  </a:extLst>
                </a:gridCol>
                <a:gridCol w="76200">
                  <a:extLst>
                    <a:ext uri="{9D8B030D-6E8A-4147-A177-3AD203B41FA5}">
                      <a16:colId xmlns:a16="http://schemas.microsoft.com/office/drawing/2014/main" val="2697608583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2261431747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2738975599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54138011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3602541442"/>
                    </a:ext>
                  </a:extLst>
                </a:gridCol>
              </a:tblGrid>
              <a:tr h="163674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T-Mobile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007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83593485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05454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T-Mobile Play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8629493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159240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2367054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705827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Visual Voicemail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8681097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0357925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5990450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885689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142577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9782762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6073934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0527355"/>
                  </a:ext>
                </a:extLst>
              </a:tr>
              <a:tr h="129615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CM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24319942"/>
                  </a:ext>
                </a:extLst>
              </a:tr>
            </a:tbl>
          </a:graphicData>
        </a:graphic>
      </p:graphicFrame>
      <p:cxnSp>
        <p:nvCxnSpPr>
          <p:cNvPr id="221" name="Connector: Elbow 220">
            <a:extLst>
              <a:ext uri="{FF2B5EF4-FFF2-40B4-BE49-F238E27FC236}">
                <a16:creationId xmlns:a16="http://schemas.microsoft.com/office/drawing/2014/main" id="{3C3CAFFA-D35E-488C-AC17-5656F52B2BBC}"/>
              </a:ext>
            </a:extLst>
          </p:cNvPr>
          <p:cNvCxnSpPr>
            <a:cxnSpLocks/>
            <a:endCxn id="219" idx="1"/>
          </p:cNvCxnSpPr>
          <p:nvPr/>
        </p:nvCxnSpPr>
        <p:spPr>
          <a:xfrm>
            <a:off x="6413326" y="3356330"/>
            <a:ext cx="3659721" cy="1694357"/>
          </a:xfrm>
          <a:prstGeom prst="bentConnector3">
            <a:avLst>
              <a:gd name="adj1" fmla="val 9099"/>
            </a:avLst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30" name="Table 229">
            <a:extLst>
              <a:ext uri="{FF2B5EF4-FFF2-40B4-BE49-F238E27FC236}">
                <a16:creationId xmlns:a16="http://schemas.microsoft.com/office/drawing/2014/main" id="{FD363AB1-CF80-413A-83A3-E3976F48C9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90895911"/>
              </p:ext>
            </p:extLst>
          </p:nvPr>
        </p:nvGraphicFramePr>
        <p:xfrm>
          <a:off x="242910" y="4674430"/>
          <a:ext cx="4842150" cy="1959610"/>
        </p:xfrm>
        <a:graphic>
          <a:graphicData uri="http://schemas.openxmlformats.org/drawingml/2006/table">
            <a:tbl>
              <a:tblPr/>
              <a:tblGrid>
                <a:gridCol w="193686">
                  <a:extLst>
                    <a:ext uri="{9D8B030D-6E8A-4147-A177-3AD203B41FA5}">
                      <a16:colId xmlns:a16="http://schemas.microsoft.com/office/drawing/2014/main" val="3668995254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2298855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347258237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887936937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31880910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69528032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47022183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21668264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355972019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57865640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2311707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32040150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1610574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428869703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882220615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809203488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97926968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073156503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469739955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67735331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783650352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043479574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599976022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942200419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114388392"/>
                    </a:ext>
                  </a:extLst>
                </a:gridCol>
              </a:tblGrid>
              <a:tr h="63404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90249396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759617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Calendar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Wallet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Chrome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14018275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736548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5294176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089445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Home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One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Search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8432401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834597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045608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1047355"/>
                  </a:ext>
                </a:extLst>
              </a:tr>
              <a:tr h="121273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OEM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65572867"/>
                  </a:ext>
                </a:extLst>
              </a:tr>
            </a:tbl>
          </a:graphicData>
        </a:graphic>
      </p:graphicFrame>
      <p:cxnSp>
        <p:nvCxnSpPr>
          <p:cNvPr id="239" name="Connector: Elbow 238">
            <a:extLst>
              <a:ext uri="{FF2B5EF4-FFF2-40B4-BE49-F238E27FC236}">
                <a16:creationId xmlns:a16="http://schemas.microsoft.com/office/drawing/2014/main" id="{7E592D28-9836-4A22-9374-6878C0E2F011}"/>
              </a:ext>
            </a:extLst>
          </p:cNvPr>
          <p:cNvCxnSpPr>
            <a:cxnSpLocks/>
          </p:cNvCxnSpPr>
          <p:nvPr/>
        </p:nvCxnSpPr>
        <p:spPr>
          <a:xfrm rot="5400000">
            <a:off x="3052306" y="3758117"/>
            <a:ext cx="1057501" cy="558569"/>
          </a:xfrm>
          <a:prstGeom prst="bentConnector3">
            <a:avLst>
              <a:gd name="adj1" fmla="val 21438"/>
            </a:avLst>
          </a:prstGeom>
          <a:ln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43" name="Picture 242">
            <a:extLst>
              <a:ext uri="{FF2B5EF4-FFF2-40B4-BE49-F238E27FC236}">
                <a16:creationId xmlns:a16="http://schemas.microsoft.com/office/drawing/2014/main" id="{16DAAD4E-E7A0-4A13-90CE-032F71D27A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51647" y="31799"/>
            <a:ext cx="2163469" cy="652204"/>
          </a:xfrm>
          <a:prstGeom prst="rect">
            <a:avLst/>
          </a:prstGeom>
        </p:spPr>
      </p:pic>
      <p:sp>
        <p:nvSpPr>
          <p:cNvPr id="247" name="TextBox 246">
            <a:extLst>
              <a:ext uri="{FF2B5EF4-FFF2-40B4-BE49-F238E27FC236}">
                <a16:creationId xmlns:a16="http://schemas.microsoft.com/office/drawing/2014/main" id="{A4710452-B09F-4F8F-8E11-86E4710A50BC}"/>
              </a:ext>
            </a:extLst>
          </p:cNvPr>
          <p:cNvSpPr txBox="1"/>
          <p:nvPr/>
        </p:nvSpPr>
        <p:spPr>
          <a:xfrm>
            <a:off x="5828250" y="5128039"/>
            <a:ext cx="6050561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fontAlgn="b"/>
            <a:r>
              <a:rPr lang="en-US" sz="1200" b="1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Customization Files may be found here: 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1" i="0" u="sng" strike="noStrike" dirty="0">
                <a:solidFill>
                  <a:srgbClr val="4472C4"/>
                </a:solidFill>
                <a:effectLst/>
                <a:latin typeface="Calibri" panose="020F0502020204030204" pitchFamily="34" charset="0"/>
                <a:hlinkClick r:id="rId3"/>
              </a:rPr>
              <a:t>https://tmap.t-mobile.com/portals/ayibw7iw/OEMToolkit</a:t>
            </a:r>
            <a:r>
              <a:rPr lang="en-US" sz="1200" b="1" i="0" u="sng" strike="noStrike" dirty="0">
                <a:solidFill>
                  <a:srgbClr val="4472C4"/>
                </a:solidFill>
                <a:effectLst/>
                <a:latin typeface="Calibri" panose="020F0502020204030204" pitchFamily="34" charset="0"/>
              </a:rPr>
              <a:t>  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This includes brand specific: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      •Power Up / Boot File animation and mnemonic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      •Ringtones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      •T-Mobile / Metro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05D6D6A0-8FDF-6D1B-8FF6-8898482E93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3678309"/>
              </p:ext>
            </p:extLst>
          </p:nvPr>
        </p:nvGraphicFramePr>
        <p:xfrm>
          <a:off x="10019870" y="759035"/>
          <a:ext cx="1669767" cy="207939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69767">
                  <a:extLst>
                    <a:ext uri="{9D8B030D-6E8A-4147-A177-3AD203B41FA5}">
                      <a16:colId xmlns:a16="http://schemas.microsoft.com/office/drawing/2014/main" val="4009581341"/>
                    </a:ext>
                  </a:extLst>
                </a:gridCol>
              </a:tblGrid>
              <a:tr h="321267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Plus – One Applications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05086144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T-Life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58167358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Amazon Shopping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37964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TikTok (AS)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80852661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Facebook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4242014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Instagram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07362174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WhatsApp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6023750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4A8A040E-F5CA-CAA7-B359-EBEFB0CA602A}"/>
              </a:ext>
            </a:extLst>
          </p:cNvPr>
          <p:cNvSpPr txBox="1"/>
          <p:nvPr/>
        </p:nvSpPr>
        <p:spPr>
          <a:xfrm>
            <a:off x="10073047" y="2876118"/>
            <a:ext cx="171141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900" dirty="0"/>
              <a:t>* Plus-One Applications will follow first available.</a:t>
            </a:r>
          </a:p>
        </p:txBody>
      </p:sp>
    </p:spTree>
    <p:extLst>
      <p:ext uri="{BB962C8B-B14F-4D97-AF65-F5344CB8AC3E}">
        <p14:creationId xmlns:p14="http://schemas.microsoft.com/office/powerpoint/2010/main" val="312477894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B4DFBEA-C9E3-485D-B4A5-063CDD28548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4484" y="31799"/>
            <a:ext cx="10750998" cy="947750"/>
          </a:xfrm>
        </p:spPr>
        <p:txBody>
          <a:bodyPr>
            <a:normAutofit/>
          </a:bodyPr>
          <a:lstStyle/>
          <a:p>
            <a:r>
              <a:rPr lang="en-US" sz="3200" dirty="0"/>
              <a:t>T-Mobile Brand 5x5 (APP TRAY)</a:t>
            </a:r>
          </a:p>
        </p:txBody>
      </p:sp>
      <p:pic>
        <p:nvPicPr>
          <p:cNvPr id="243" name="Picture 242">
            <a:extLst>
              <a:ext uri="{FF2B5EF4-FFF2-40B4-BE49-F238E27FC236}">
                <a16:creationId xmlns:a16="http://schemas.microsoft.com/office/drawing/2014/main" id="{16DAAD4E-E7A0-4A13-90CE-032F71D27A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652013" y="52139"/>
            <a:ext cx="2163469" cy="652204"/>
          </a:xfrm>
          <a:prstGeom prst="rect">
            <a:avLst/>
          </a:prstGeom>
        </p:spPr>
      </p:pic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38F4E4A3-E4CD-46AE-B1E5-76B711CE023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2794300"/>
              </p:ext>
            </p:extLst>
          </p:nvPr>
        </p:nvGraphicFramePr>
        <p:xfrm>
          <a:off x="274558" y="704343"/>
          <a:ext cx="3025029" cy="3551922"/>
        </p:xfrm>
        <a:graphic>
          <a:graphicData uri="http://schemas.openxmlformats.org/drawingml/2006/table">
            <a:tbl>
              <a:tblPr/>
              <a:tblGrid>
                <a:gridCol w="144049">
                  <a:extLst>
                    <a:ext uri="{9D8B030D-6E8A-4147-A177-3AD203B41FA5}">
                      <a16:colId xmlns:a16="http://schemas.microsoft.com/office/drawing/2014/main" val="933355095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267368618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42086605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323389816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772806366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118362772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118775345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430771499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87205455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698692008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938746542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697758905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899468884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451287081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665319986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65822108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4268323559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781504376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173086051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768083835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166772097"/>
                    </a:ext>
                  </a:extLst>
                </a:gridCol>
              </a:tblGrid>
              <a:tr h="136020">
                <a:tc gridSpan="21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APP TRAY 1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06057446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2534380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55437204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5099256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8939036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5840780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2026271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49715882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9140929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6200388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7022493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74664731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6194731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36654993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80629522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33556220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7607468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6841080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6030770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9153463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61995223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963671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567714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Phone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Messages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Contacts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Chrome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87908622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28047077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1201237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7453659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781F2800-9BAE-4CD3-8B8D-CE91A41284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860521"/>
              </p:ext>
            </p:extLst>
          </p:nvPr>
        </p:nvGraphicFramePr>
        <p:xfrm>
          <a:off x="3505990" y="704343"/>
          <a:ext cx="3025029" cy="3551922"/>
        </p:xfrm>
        <a:graphic>
          <a:graphicData uri="http://schemas.openxmlformats.org/drawingml/2006/table">
            <a:tbl>
              <a:tblPr/>
              <a:tblGrid>
                <a:gridCol w="144049">
                  <a:extLst>
                    <a:ext uri="{9D8B030D-6E8A-4147-A177-3AD203B41FA5}">
                      <a16:colId xmlns:a16="http://schemas.microsoft.com/office/drawing/2014/main" val="933355095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267368618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42086605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323389816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772806366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118362772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118775345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430771499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87205455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698692008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938746542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697758905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899468884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451287081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665319986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65822108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4268323559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781504376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173086051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768083835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166772097"/>
                    </a:ext>
                  </a:extLst>
                </a:gridCol>
              </a:tblGrid>
              <a:tr h="136020">
                <a:tc gridSpan="21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APP TRAY 2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06057446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2534380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55437204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5099256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8939036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5840780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2026271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49715882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9140929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6200388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7022493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74664731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6194731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36654993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80629522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33556220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7607468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6841080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6030770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9153463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61995223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963671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567714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Phone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Messages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Contacts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Chrome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87908622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28047077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1201237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7453659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084BD0EE-3F05-478F-935E-D48024FC8E7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9785471"/>
              </p:ext>
            </p:extLst>
          </p:nvPr>
        </p:nvGraphicFramePr>
        <p:xfrm>
          <a:off x="8393462" y="3669378"/>
          <a:ext cx="1298732" cy="2159016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298732">
                  <a:extLst>
                    <a:ext uri="{9D8B030D-6E8A-4147-A177-3AD203B41FA5}">
                      <a16:colId xmlns:a16="http://schemas.microsoft.com/office/drawing/2014/main" val="4283747700"/>
                    </a:ext>
                  </a:extLst>
                </a:gridCol>
              </a:tblGrid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OEM FOLDER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214296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5456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2397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7691460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25063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905200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2070764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6544440"/>
                  </a:ext>
                </a:extLst>
              </a:tr>
            </a:tbl>
          </a:graphicData>
        </a:graphic>
      </p:graphicFrame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D82C608A-E4A4-4FE4-83C8-D28C151694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74184"/>
              </p:ext>
            </p:extLst>
          </p:nvPr>
        </p:nvGraphicFramePr>
        <p:xfrm>
          <a:off x="9733747" y="3669378"/>
          <a:ext cx="1223344" cy="2159016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223344">
                  <a:extLst>
                    <a:ext uri="{9D8B030D-6E8A-4147-A177-3AD203B41FA5}">
                      <a16:colId xmlns:a16="http://schemas.microsoft.com/office/drawing/2014/main" val="4283747700"/>
                    </a:ext>
                  </a:extLst>
                </a:gridCol>
              </a:tblGrid>
              <a:tr h="273476">
                <a:tc>
                  <a:txBody>
                    <a:bodyPr/>
                    <a:lstStyle/>
                    <a:p>
                      <a:r>
                        <a:rPr lang="en-US" sz="1100" dirty="0"/>
                        <a:t> OTHER FOLDER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214296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5456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2397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7691460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25063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905200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2070764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6544440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FB103680-3495-417B-9674-4F78F99BBE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37046"/>
              </p:ext>
            </p:extLst>
          </p:nvPr>
        </p:nvGraphicFramePr>
        <p:xfrm>
          <a:off x="6641116" y="3669378"/>
          <a:ext cx="1669768" cy="2655570"/>
        </p:xfrm>
        <a:graphic>
          <a:graphicData uri="http://schemas.openxmlformats.org/drawingml/2006/table">
            <a:tbl>
              <a:tblPr/>
              <a:tblGrid>
                <a:gridCol w="199196">
                  <a:extLst>
                    <a:ext uri="{9D8B030D-6E8A-4147-A177-3AD203B41FA5}">
                      <a16:colId xmlns:a16="http://schemas.microsoft.com/office/drawing/2014/main" val="3072099247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2660851657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4051570774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841299941"/>
                    </a:ext>
                  </a:extLst>
                </a:gridCol>
                <a:gridCol w="76200">
                  <a:extLst>
                    <a:ext uri="{9D8B030D-6E8A-4147-A177-3AD203B41FA5}">
                      <a16:colId xmlns:a16="http://schemas.microsoft.com/office/drawing/2014/main" val="2697608583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2261431747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2738975599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54138011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3602541442"/>
                    </a:ext>
                  </a:extLst>
                </a:gridCol>
              </a:tblGrid>
              <a:tr h="163674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T-Mobile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007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83593485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05454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T-Mobile Play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8629493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159240"/>
                  </a:ext>
                </a:extLst>
              </a:tr>
              <a:tr h="10412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2367054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705827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Visual Voicemail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8681097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0357925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5990450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885689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142577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9782762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6073934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0527355"/>
                  </a:ext>
                </a:extLst>
              </a:tr>
              <a:tr h="129615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CM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24319942"/>
                  </a:ext>
                </a:extLst>
              </a:tr>
            </a:tbl>
          </a:graphicData>
        </a:graphic>
      </p:graphicFrame>
      <p:graphicFrame>
        <p:nvGraphicFramePr>
          <p:cNvPr id="18" name="Table 17">
            <a:extLst>
              <a:ext uri="{FF2B5EF4-FFF2-40B4-BE49-F238E27FC236}">
                <a16:creationId xmlns:a16="http://schemas.microsoft.com/office/drawing/2014/main" id="{365C2058-AF86-4C1C-B095-AD6AFDE77C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391952"/>
              </p:ext>
            </p:extLst>
          </p:nvPr>
        </p:nvGraphicFramePr>
        <p:xfrm>
          <a:off x="274558" y="4443714"/>
          <a:ext cx="4842150" cy="1959610"/>
        </p:xfrm>
        <a:graphic>
          <a:graphicData uri="http://schemas.openxmlformats.org/drawingml/2006/table">
            <a:tbl>
              <a:tblPr/>
              <a:tblGrid>
                <a:gridCol w="193686">
                  <a:extLst>
                    <a:ext uri="{9D8B030D-6E8A-4147-A177-3AD203B41FA5}">
                      <a16:colId xmlns:a16="http://schemas.microsoft.com/office/drawing/2014/main" val="3668995254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2298855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347258237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887936937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31880910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69528032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47022183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21668264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355972019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57865640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2311707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32040150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1610574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428869703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882220615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809203488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97926968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073156503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469739955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67735331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783650352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043479574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599976022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942200419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114388392"/>
                    </a:ext>
                  </a:extLst>
                </a:gridCol>
              </a:tblGrid>
              <a:tr h="63404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90249396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759617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Calendar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Wallet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</a:t>
                      </a:r>
                    </a:p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Chrome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14018275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736548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5294176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089445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Home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One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Google Search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8432401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834597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045608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1047355"/>
                  </a:ext>
                </a:extLst>
              </a:tr>
              <a:tr h="121273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OEM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65572867"/>
                  </a:ext>
                </a:extLst>
              </a:tr>
            </a:tbl>
          </a:graphicData>
        </a:graphic>
      </p:graphicFrame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DF962F25-8B5C-43DF-AC72-F5F522C4BF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327551"/>
              </p:ext>
            </p:extLst>
          </p:nvPr>
        </p:nvGraphicFramePr>
        <p:xfrm>
          <a:off x="6641116" y="729902"/>
          <a:ext cx="4839684" cy="2749550"/>
        </p:xfrm>
        <a:graphic>
          <a:graphicData uri="http://schemas.openxmlformats.org/drawingml/2006/table">
            <a:tbl>
              <a:tblPr/>
              <a:tblGrid>
                <a:gridCol w="4839684">
                  <a:extLst>
                    <a:ext uri="{9D8B030D-6E8A-4147-A177-3AD203B41FA5}">
                      <a16:colId xmlns:a16="http://schemas.microsoft.com/office/drawing/2014/main" val="52211753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l" fontAlgn="t"/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For App Tray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a. </a:t>
                      </a:r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</a:t>
                      </a: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applications should be placed in </a:t>
                      </a:r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</a:t>
                      </a: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folder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b. Ensure Google One is preloaded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c. OEM applications should be placed in OEM folder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d. OEM applications must be reviewed and approved prior to RC1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e. Applications okay to appear in app tray (not in folder)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Calculator</a:t>
                      </a:r>
                    </a:p>
                    <a:p>
                      <a:pPr algn="l" fontAlgn="t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Calendar</a:t>
                      </a:r>
                    </a:p>
                    <a:p>
                      <a:pPr algn="l" fontAlgn="t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Camera</a:t>
                      </a:r>
                    </a:p>
                    <a:p>
                      <a:pPr algn="l" fontAlgn="t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Clock </a:t>
                      </a:r>
                    </a:p>
                    <a:p>
                      <a:pPr algn="l" fontAlgn="t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Contacts</a:t>
                      </a:r>
                    </a:p>
                    <a:p>
                      <a:pPr algn="l" fontAlgn="t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Files</a:t>
                      </a:r>
                    </a:p>
                    <a:p>
                      <a:pPr algn="l" fontAlgn="t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Android Messages</a:t>
                      </a:r>
                    </a:p>
                    <a:p>
                      <a:pPr algn="l" fontAlgn="t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Phone</a:t>
                      </a:r>
                    </a:p>
                    <a:p>
                      <a:pPr algn="l" fontAlgn="t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Settings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9223971"/>
                  </a:ext>
                </a:extLst>
              </a:tr>
            </a:tbl>
          </a:graphicData>
        </a:graphic>
      </p:graphicFrame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4EF12BDC-6C96-7F47-E4B6-0AA9393D7B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6237534"/>
              </p:ext>
            </p:extLst>
          </p:nvPr>
        </p:nvGraphicFramePr>
        <p:xfrm>
          <a:off x="10998644" y="3669378"/>
          <a:ext cx="1141209" cy="2556100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141209">
                  <a:extLst>
                    <a:ext uri="{9D8B030D-6E8A-4147-A177-3AD203B41FA5}">
                      <a16:colId xmlns:a16="http://schemas.microsoft.com/office/drawing/2014/main" val="4283747700"/>
                    </a:ext>
                  </a:extLst>
                </a:gridCol>
              </a:tblGrid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App Tray</a:t>
                      </a:r>
                    </a:p>
                    <a:p>
                      <a:pPr algn="ctr"/>
                      <a:r>
                        <a:rPr lang="en-US" sz="800" dirty="0"/>
                        <a:t>Based on placement order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214296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T-Life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5456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Amazon Shopping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2397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TikTok (AS)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7691460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Facebook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25063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Instagram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905200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WhatsApp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2070764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65444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1783655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6A4DEF40-9FAA-488A-8DC3-B93DDD0D686A}"/>
              </a:ext>
            </a:extLst>
          </p:cNvPr>
          <p:cNvSpPr txBox="1"/>
          <p:nvPr/>
        </p:nvSpPr>
        <p:spPr>
          <a:xfrm>
            <a:off x="391431" y="2782651"/>
            <a:ext cx="8244569" cy="523220"/>
          </a:xfrm>
          <a:prstGeom prst="rect">
            <a:avLst/>
          </a:prstGeom>
          <a:noFill/>
          <a:ln w="28575">
            <a:solidFill>
              <a:schemeClr val="accent1"/>
            </a:solidFill>
          </a:ln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chemeClr val="accent1"/>
                </a:solidFill>
              </a:rPr>
              <a:t>SMARTPHONE - T-MOBILE 4X5 SCREEN SIZE TEMPLATE</a:t>
            </a:r>
          </a:p>
        </p:txBody>
      </p:sp>
    </p:spTree>
    <p:extLst>
      <p:ext uri="{BB962C8B-B14F-4D97-AF65-F5344CB8AC3E}">
        <p14:creationId xmlns:p14="http://schemas.microsoft.com/office/powerpoint/2010/main" val="306579210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0E3429-7D77-5654-FC4C-5BEEB8CE98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85BA1EFB-95CA-A410-9C0B-60397B8D64C5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4484" y="31799"/>
            <a:ext cx="10750998" cy="947750"/>
          </a:xfrm>
        </p:spPr>
        <p:txBody>
          <a:bodyPr>
            <a:normAutofit/>
          </a:bodyPr>
          <a:lstStyle/>
          <a:p>
            <a:r>
              <a:rPr lang="en-US" sz="3200" dirty="0"/>
              <a:t>T-Mobile Brand 4x5 (Lock +Unlock)</a:t>
            </a:r>
          </a:p>
        </p:txBody>
      </p:sp>
      <p:pic>
        <p:nvPicPr>
          <p:cNvPr id="243" name="Picture 242">
            <a:extLst>
              <a:ext uri="{FF2B5EF4-FFF2-40B4-BE49-F238E27FC236}">
                <a16:creationId xmlns:a16="http://schemas.microsoft.com/office/drawing/2014/main" id="{7E382782-0C05-60C3-C3DA-CAA6E657F5F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51647" y="31799"/>
            <a:ext cx="2163469" cy="652204"/>
          </a:xfrm>
          <a:prstGeom prst="rect">
            <a:avLst/>
          </a:prstGeom>
        </p:spPr>
      </p:pic>
      <p:sp>
        <p:nvSpPr>
          <p:cNvPr id="20" name="TextBox 11">
            <a:extLst>
              <a:ext uri="{FF2B5EF4-FFF2-40B4-BE49-F238E27FC236}">
                <a16:creationId xmlns:a16="http://schemas.microsoft.com/office/drawing/2014/main" id="{290DC5FB-98C5-38F5-AC61-5DFF9CB2B996}"/>
              </a:ext>
            </a:extLst>
          </p:cNvPr>
          <p:cNvSpPr txBox="1"/>
          <p:nvPr/>
        </p:nvSpPr>
        <p:spPr>
          <a:xfrm>
            <a:off x="864286" y="11823712"/>
            <a:ext cx="1463073" cy="272348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/>
              <a:t>Google Discover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33FEDE4E-AFFD-7A69-E34A-A23CA7B6A4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7513575"/>
              </p:ext>
            </p:extLst>
          </p:nvPr>
        </p:nvGraphicFramePr>
        <p:xfrm>
          <a:off x="460753" y="666025"/>
          <a:ext cx="4285417" cy="4537282"/>
        </p:xfrm>
        <a:graphic>
          <a:graphicData uri="http://schemas.openxmlformats.org/drawingml/2006/table">
            <a:tbl>
              <a:tblPr/>
              <a:tblGrid>
                <a:gridCol w="323199">
                  <a:extLst>
                    <a:ext uri="{9D8B030D-6E8A-4147-A177-3AD203B41FA5}">
                      <a16:colId xmlns:a16="http://schemas.microsoft.com/office/drawing/2014/main" val="122851149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38574171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1034406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765835962"/>
                    </a:ext>
                  </a:extLst>
                </a:gridCol>
                <a:gridCol w="227994">
                  <a:extLst>
                    <a:ext uri="{9D8B030D-6E8A-4147-A177-3AD203B41FA5}">
                      <a16:colId xmlns:a16="http://schemas.microsoft.com/office/drawing/2014/main" val="3032794130"/>
                    </a:ext>
                  </a:extLst>
                </a:gridCol>
                <a:gridCol w="276517">
                  <a:extLst>
                    <a:ext uri="{9D8B030D-6E8A-4147-A177-3AD203B41FA5}">
                      <a16:colId xmlns:a16="http://schemas.microsoft.com/office/drawing/2014/main" val="541524318"/>
                    </a:ext>
                  </a:extLst>
                </a:gridCol>
                <a:gridCol w="243662">
                  <a:extLst>
                    <a:ext uri="{9D8B030D-6E8A-4147-A177-3AD203B41FA5}">
                      <a16:colId xmlns:a16="http://schemas.microsoft.com/office/drawing/2014/main" val="147404175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87507260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136874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18794909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42879882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2678500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5382073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72920100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415853704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86910272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558557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255814577"/>
                    </a:ext>
                  </a:extLst>
                </a:gridCol>
                <a:gridCol w="323199">
                  <a:extLst>
                    <a:ext uri="{9D8B030D-6E8A-4147-A177-3AD203B41FA5}">
                      <a16:colId xmlns:a16="http://schemas.microsoft.com/office/drawing/2014/main" val="650234665"/>
                    </a:ext>
                  </a:extLst>
                </a:gridCol>
              </a:tblGrid>
              <a:tr h="205879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Lock Screen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0995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704942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6546747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1761008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238531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8044488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9239566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7918914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8934769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496596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2743560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6333289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9844401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28475292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3377790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5461106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8258329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6355017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6054402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746340574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2335085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9395224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428589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3035375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6969364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6587648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0832905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4509624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7078814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58620133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1655012"/>
                  </a:ext>
                </a:extLst>
              </a:tr>
              <a:tr h="13485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242736861"/>
                  </a:ext>
                </a:extLst>
              </a:tr>
            </a:tbl>
          </a:graphicData>
        </a:graphic>
      </p:graphicFrame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C7553B8-4B9B-C62A-DAA5-0E76937C5E09}"/>
              </a:ext>
            </a:extLst>
          </p:cNvPr>
          <p:cNvGraphicFramePr>
            <a:graphicFrameLocks noGrp="1"/>
          </p:cNvGraphicFramePr>
          <p:nvPr/>
        </p:nvGraphicFramePr>
        <p:xfrm>
          <a:off x="5358006" y="684003"/>
          <a:ext cx="4285417" cy="4537282"/>
        </p:xfrm>
        <a:graphic>
          <a:graphicData uri="http://schemas.openxmlformats.org/drawingml/2006/table">
            <a:tbl>
              <a:tblPr/>
              <a:tblGrid>
                <a:gridCol w="323199">
                  <a:extLst>
                    <a:ext uri="{9D8B030D-6E8A-4147-A177-3AD203B41FA5}">
                      <a16:colId xmlns:a16="http://schemas.microsoft.com/office/drawing/2014/main" val="122851149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38574171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1034406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765835962"/>
                    </a:ext>
                  </a:extLst>
                </a:gridCol>
                <a:gridCol w="227994">
                  <a:extLst>
                    <a:ext uri="{9D8B030D-6E8A-4147-A177-3AD203B41FA5}">
                      <a16:colId xmlns:a16="http://schemas.microsoft.com/office/drawing/2014/main" val="3032794130"/>
                    </a:ext>
                  </a:extLst>
                </a:gridCol>
                <a:gridCol w="276517">
                  <a:extLst>
                    <a:ext uri="{9D8B030D-6E8A-4147-A177-3AD203B41FA5}">
                      <a16:colId xmlns:a16="http://schemas.microsoft.com/office/drawing/2014/main" val="541524318"/>
                    </a:ext>
                  </a:extLst>
                </a:gridCol>
                <a:gridCol w="243662">
                  <a:extLst>
                    <a:ext uri="{9D8B030D-6E8A-4147-A177-3AD203B41FA5}">
                      <a16:colId xmlns:a16="http://schemas.microsoft.com/office/drawing/2014/main" val="147404175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87507260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136874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18794909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42879882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2678500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5382073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72920100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415853704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86910272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558557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255814577"/>
                    </a:ext>
                  </a:extLst>
                </a:gridCol>
                <a:gridCol w="323199">
                  <a:extLst>
                    <a:ext uri="{9D8B030D-6E8A-4147-A177-3AD203B41FA5}">
                      <a16:colId xmlns:a16="http://schemas.microsoft.com/office/drawing/2014/main" val="650234665"/>
                    </a:ext>
                  </a:extLst>
                </a:gridCol>
              </a:tblGrid>
              <a:tr h="205879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Unlock Screen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0995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704942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gridSpan="15">
                  <a:txBody>
                    <a:bodyPr/>
                    <a:lstStyle/>
                    <a:p>
                      <a:pPr algn="ctr" fontAlgn="ctr"/>
                      <a:r>
                        <a:rPr lang="en-US" sz="20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T-Play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8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6546747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1761008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238531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8044488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9239566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7918914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8934769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496596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2743560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6333289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9844401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28475292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3377790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5461106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8258329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6355017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6054402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746340574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2335085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9395224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428589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3035375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6969364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6587648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0832905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4509624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7078814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58620133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1655012"/>
                  </a:ext>
                </a:extLst>
              </a:tr>
              <a:tr h="13485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24273686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18E1C3E3-103E-D8C1-FA39-919D839F94F8}"/>
              </a:ext>
            </a:extLst>
          </p:cNvPr>
          <p:cNvSpPr txBox="1"/>
          <p:nvPr/>
        </p:nvSpPr>
        <p:spPr>
          <a:xfrm>
            <a:off x="606558" y="5206856"/>
            <a:ext cx="6050561" cy="646331"/>
          </a:xfrm>
          <a:prstGeom prst="rect">
            <a:avLst/>
          </a:prstGeom>
          <a:noFill/>
        </p:spPr>
        <p:txBody>
          <a:bodyPr wrap="square" lIns="91440" tIns="45720" rIns="91440" bIns="45720" anchor="t">
            <a:spAutoFit/>
          </a:bodyPr>
          <a:lstStyle/>
          <a:p>
            <a:pPr fontAlgn="b"/>
            <a:r>
              <a:rPr lang="en-US" sz="1200" b="1" i="0" u="none" strike="noStrike" dirty="0">
                <a:solidFill>
                  <a:srgbClr val="000000"/>
                </a:solidFill>
                <a:effectLst/>
                <a:latin typeface="Calibri"/>
                <a:ea typeface="Calibri"/>
                <a:cs typeface="Calibri"/>
              </a:rPr>
              <a:t>OEM Instructions: </a:t>
            </a:r>
            <a:r>
              <a:rPr lang="en-US" sz="1200" b="1" i="0" u="sng" strike="noStrike" dirty="0">
                <a:solidFill>
                  <a:srgbClr val="4472C4"/>
                </a:solidFill>
                <a:effectLst/>
                <a:latin typeface="Calibri"/>
                <a:ea typeface="Calibri"/>
                <a:cs typeface="Calibri"/>
              </a:rPr>
              <a:t> </a:t>
            </a:r>
            <a:br>
              <a:rPr lang="en-US" sz="1200" b="0" i="0" u="none" strike="noStrike" dirty="0"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/>
                <a:ea typeface="Calibri"/>
                <a:cs typeface="Calibri"/>
              </a:rPr>
              <a:t>Please provid</a:t>
            </a:r>
            <a:r>
              <a:rPr lang="en-US" sz="1200" dirty="0">
                <a:solidFill>
                  <a:srgbClr val="000000"/>
                </a:solidFill>
                <a:latin typeface="Calibri"/>
                <a:ea typeface="Calibri"/>
                <a:cs typeface="Calibri"/>
              </a:rPr>
              <a:t>e the mapping or the device’s Lock and Unlock screen. Please feel free to </a:t>
            </a:r>
            <a:r>
              <a:rPr lang="en-US" sz="1200">
                <a:solidFill>
                  <a:srgbClr val="000000"/>
                </a:solidFill>
                <a:latin typeface="Calibri"/>
                <a:ea typeface="Calibri"/>
                <a:cs typeface="Calibri"/>
              </a:rPr>
              <a:t>populate the screens as you would with any other device screen. </a:t>
            </a:r>
            <a:endParaRPr lang="en-US" sz="1200" b="0" i="0" u="none" strike="noStrike">
              <a:solidFill>
                <a:srgbClr val="000000"/>
              </a:solidFill>
              <a:effectLst/>
              <a:latin typeface="Calibri" panose="020F0502020204030204" pitchFamily="34" charset="0"/>
              <a:ea typeface="Calibri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27553983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8AEC0161-37B8-4239-94D4-D51FBC3CE5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7554259"/>
              </p:ext>
            </p:extLst>
          </p:nvPr>
        </p:nvGraphicFramePr>
        <p:xfrm>
          <a:off x="64484" y="743412"/>
          <a:ext cx="8267160" cy="3274155"/>
        </p:xfrm>
        <a:graphic>
          <a:graphicData uri="http://schemas.openxmlformats.org/drawingml/2006/table">
            <a:tbl>
              <a:tblPr/>
              <a:tblGrid>
                <a:gridCol w="312152">
                  <a:extLst>
                    <a:ext uri="{9D8B030D-6E8A-4147-A177-3AD203B41FA5}">
                      <a16:colId xmlns:a16="http://schemas.microsoft.com/office/drawing/2014/main" val="2319421680"/>
                    </a:ext>
                  </a:extLst>
                </a:gridCol>
                <a:gridCol w="25400">
                  <a:extLst>
                    <a:ext uri="{9D8B030D-6E8A-4147-A177-3AD203B41FA5}">
                      <a16:colId xmlns:a16="http://schemas.microsoft.com/office/drawing/2014/main" val="2487212139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3258749514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3688824913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730968431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311244628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1395468240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1248365158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2671526487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2663460518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2530145382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905296186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898293556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3419694876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3088438126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2953334433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2396912946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2094209283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2503090355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2699471188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134062529"/>
                    </a:ext>
                  </a:extLst>
                </a:gridCol>
                <a:gridCol w="27182">
                  <a:extLst>
                    <a:ext uri="{9D8B030D-6E8A-4147-A177-3AD203B41FA5}">
                      <a16:colId xmlns:a16="http://schemas.microsoft.com/office/drawing/2014/main" val="99170023"/>
                    </a:ext>
                  </a:extLst>
                </a:gridCol>
                <a:gridCol w="310370">
                  <a:extLst>
                    <a:ext uri="{9D8B030D-6E8A-4147-A177-3AD203B41FA5}">
                      <a16:colId xmlns:a16="http://schemas.microsoft.com/office/drawing/2014/main" val="3555223420"/>
                    </a:ext>
                  </a:extLst>
                </a:gridCol>
                <a:gridCol w="205964">
                  <a:extLst>
                    <a:ext uri="{9D8B030D-6E8A-4147-A177-3AD203B41FA5}">
                      <a16:colId xmlns:a16="http://schemas.microsoft.com/office/drawing/2014/main" val="1379327508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3149334977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1482904265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2526262848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3244952669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3045248005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2805736153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2367213290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3153737210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3501711133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4127103117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2922930108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2911570229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639499143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1398237310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3348019073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372267440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315873548"/>
                    </a:ext>
                  </a:extLst>
                </a:gridCol>
                <a:gridCol w="205964">
                  <a:extLst>
                    <a:ext uri="{9D8B030D-6E8A-4147-A177-3AD203B41FA5}">
                      <a16:colId xmlns:a16="http://schemas.microsoft.com/office/drawing/2014/main" val="1228511495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2385741718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1103440694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1765835962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3032794130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541524318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1474041755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1875072607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3713687494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3187949098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2428798827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3226785004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3253820735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2729201000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4158537040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869102720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375585570"/>
                    </a:ext>
                  </a:extLst>
                </a:gridCol>
                <a:gridCol w="131588">
                  <a:extLst>
                    <a:ext uri="{9D8B030D-6E8A-4147-A177-3AD203B41FA5}">
                      <a16:colId xmlns:a16="http://schemas.microsoft.com/office/drawing/2014/main" val="2255814577"/>
                    </a:ext>
                  </a:extLst>
                </a:gridCol>
                <a:gridCol w="205964">
                  <a:extLst>
                    <a:ext uri="{9D8B030D-6E8A-4147-A177-3AD203B41FA5}">
                      <a16:colId xmlns:a16="http://schemas.microsoft.com/office/drawing/2014/main" val="650234665"/>
                    </a:ext>
                  </a:extLst>
                </a:gridCol>
              </a:tblGrid>
              <a:tr h="16946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1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1L - Minus One Screen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Home- Screen 0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1R - Plus One Screen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099500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7049428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24" gridSpan="19">
                  <a:txBody>
                    <a:bodyPr/>
                    <a:lstStyle/>
                    <a:p>
                      <a:pPr algn="ctr" fontAlgn="b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Assistant &amp; T-Mobile Play                                (-1 Minus One) page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15"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Search (4x1)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5467476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17610089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853100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444886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2395665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9189148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47693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84965967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27435607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33328931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8444015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8475292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33777908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4611063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2583297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3550175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FOLDER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PLAYSTORE</a:t>
                      </a:r>
                      <a:endParaRPr lang="en-US" sz="8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ASSIST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T-MOBILE FOLDER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Email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Amazon Shopping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 Life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4285896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0353757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6936431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8764831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329055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Phone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Messages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Chrome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Phone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Messages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Chrome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5096240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0788147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6201339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81655012"/>
                  </a:ext>
                </a:extLst>
              </a:tr>
              <a:tr h="111000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42736861"/>
                  </a:ext>
                </a:extLst>
              </a:tr>
            </a:tbl>
          </a:graphicData>
        </a:graphic>
      </p:graphicFrame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B4DFBEA-C9E3-485D-B4A5-063CDD28548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4484" y="31799"/>
            <a:ext cx="10750998" cy="947750"/>
          </a:xfrm>
        </p:spPr>
        <p:txBody>
          <a:bodyPr>
            <a:normAutofit/>
          </a:bodyPr>
          <a:lstStyle/>
          <a:p>
            <a:r>
              <a:rPr lang="en-US" sz="3200" dirty="0"/>
              <a:t>T-Mobile Brand 4x5 (Homescreen + Panel Layout)</a:t>
            </a:r>
          </a:p>
        </p:txBody>
      </p:sp>
      <p:cxnSp>
        <p:nvCxnSpPr>
          <p:cNvPr id="212" name="Straight Connector 211">
            <a:extLst>
              <a:ext uri="{FF2B5EF4-FFF2-40B4-BE49-F238E27FC236}">
                <a16:creationId xmlns:a16="http://schemas.microsoft.com/office/drawing/2014/main" id="{5E9FBB07-CA2F-4F04-8D07-256E73ADB63A}"/>
              </a:ext>
            </a:extLst>
          </p:cNvPr>
          <p:cNvCxnSpPr>
            <a:cxnSpLocks/>
          </p:cNvCxnSpPr>
          <p:nvPr/>
        </p:nvCxnSpPr>
        <p:spPr>
          <a:xfrm>
            <a:off x="1611390" y="1031997"/>
            <a:ext cx="0" cy="689748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214" name="TextBox 4">
            <a:extLst>
              <a:ext uri="{FF2B5EF4-FFF2-40B4-BE49-F238E27FC236}">
                <a16:creationId xmlns:a16="http://schemas.microsoft.com/office/drawing/2014/main" id="{529360FF-3277-42AE-BDD2-D6A853A668D8}"/>
              </a:ext>
            </a:extLst>
          </p:cNvPr>
          <p:cNvSpPr txBox="1"/>
          <p:nvPr/>
        </p:nvSpPr>
        <p:spPr>
          <a:xfrm>
            <a:off x="426424" y="1031997"/>
            <a:ext cx="1167988" cy="355600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100" dirty="0"/>
              <a:t>Google Discover</a:t>
            </a:r>
          </a:p>
        </p:txBody>
      </p:sp>
      <p:sp>
        <p:nvSpPr>
          <p:cNvPr id="215" name="TextBox 5">
            <a:extLst>
              <a:ext uri="{FF2B5EF4-FFF2-40B4-BE49-F238E27FC236}">
                <a16:creationId xmlns:a16="http://schemas.microsoft.com/office/drawing/2014/main" id="{2D9499AB-111A-404A-B5AB-E769C643A71E}"/>
              </a:ext>
            </a:extLst>
          </p:cNvPr>
          <p:cNvSpPr txBox="1"/>
          <p:nvPr/>
        </p:nvSpPr>
        <p:spPr>
          <a:xfrm>
            <a:off x="1625372" y="1031997"/>
            <a:ext cx="1258506" cy="355600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100" dirty="0"/>
              <a:t>T-Mobile Play</a:t>
            </a:r>
          </a:p>
        </p:txBody>
      </p:sp>
      <p:graphicFrame>
        <p:nvGraphicFramePr>
          <p:cNvPr id="219" name="Table 218">
            <a:extLst>
              <a:ext uri="{FF2B5EF4-FFF2-40B4-BE49-F238E27FC236}">
                <a16:creationId xmlns:a16="http://schemas.microsoft.com/office/drawing/2014/main" id="{8B5D9A88-0849-46A4-A3CF-1F96880BBC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435901"/>
              </p:ext>
            </p:extLst>
          </p:nvPr>
        </p:nvGraphicFramePr>
        <p:xfrm>
          <a:off x="10125634" y="3290928"/>
          <a:ext cx="1669768" cy="2655570"/>
        </p:xfrm>
        <a:graphic>
          <a:graphicData uri="http://schemas.openxmlformats.org/drawingml/2006/table">
            <a:tbl>
              <a:tblPr/>
              <a:tblGrid>
                <a:gridCol w="199196">
                  <a:extLst>
                    <a:ext uri="{9D8B030D-6E8A-4147-A177-3AD203B41FA5}">
                      <a16:colId xmlns:a16="http://schemas.microsoft.com/office/drawing/2014/main" val="3072099247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2660851657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4051570774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841299941"/>
                    </a:ext>
                  </a:extLst>
                </a:gridCol>
                <a:gridCol w="76200">
                  <a:extLst>
                    <a:ext uri="{9D8B030D-6E8A-4147-A177-3AD203B41FA5}">
                      <a16:colId xmlns:a16="http://schemas.microsoft.com/office/drawing/2014/main" val="2697608583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2261431747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2738975599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54138011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3602541442"/>
                    </a:ext>
                  </a:extLst>
                </a:gridCol>
              </a:tblGrid>
              <a:tr h="163674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T-Mobile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007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83593485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05454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T-Mobile Play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8629493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159240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2367054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705827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Visual Voicemail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sngStrike" kern="1200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8681097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0357925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5990450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885689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142577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9782762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6073934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0527355"/>
                  </a:ext>
                </a:extLst>
              </a:tr>
              <a:tr h="129615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CM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24319942"/>
                  </a:ext>
                </a:extLst>
              </a:tr>
            </a:tbl>
          </a:graphicData>
        </a:graphic>
      </p:graphicFrame>
      <p:cxnSp>
        <p:nvCxnSpPr>
          <p:cNvPr id="221" name="Connector: Elbow 220">
            <a:extLst>
              <a:ext uri="{FF2B5EF4-FFF2-40B4-BE49-F238E27FC236}">
                <a16:creationId xmlns:a16="http://schemas.microsoft.com/office/drawing/2014/main" id="{3C3CAFFA-D35E-488C-AC17-5656F52B2BBC}"/>
              </a:ext>
            </a:extLst>
          </p:cNvPr>
          <p:cNvCxnSpPr>
            <a:cxnSpLocks/>
            <a:endCxn id="219" idx="2"/>
          </p:cNvCxnSpPr>
          <p:nvPr/>
        </p:nvCxnSpPr>
        <p:spPr>
          <a:xfrm>
            <a:off x="5555293" y="3058942"/>
            <a:ext cx="5405225" cy="2887556"/>
          </a:xfrm>
          <a:prstGeom prst="bentConnector4">
            <a:avLst>
              <a:gd name="adj1" fmla="val 4967"/>
              <a:gd name="adj2" fmla="val 107917"/>
            </a:avLst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30" name="Table 229">
            <a:extLst>
              <a:ext uri="{FF2B5EF4-FFF2-40B4-BE49-F238E27FC236}">
                <a16:creationId xmlns:a16="http://schemas.microsoft.com/office/drawing/2014/main" id="{FD363AB1-CF80-413A-83A3-E3976F48C9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368099"/>
              </p:ext>
            </p:extLst>
          </p:nvPr>
        </p:nvGraphicFramePr>
        <p:xfrm>
          <a:off x="324401" y="4358960"/>
          <a:ext cx="4842150" cy="1959610"/>
        </p:xfrm>
        <a:graphic>
          <a:graphicData uri="http://schemas.openxmlformats.org/drawingml/2006/table">
            <a:tbl>
              <a:tblPr/>
              <a:tblGrid>
                <a:gridCol w="193686">
                  <a:extLst>
                    <a:ext uri="{9D8B030D-6E8A-4147-A177-3AD203B41FA5}">
                      <a16:colId xmlns:a16="http://schemas.microsoft.com/office/drawing/2014/main" val="3668995254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2298855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347258237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887936937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31880910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69528032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47022183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21668264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355972019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57865640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2311707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32040150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1610574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428869703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882220615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809203488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97926968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073156503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469739955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67735331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783650352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043479574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599976022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942200419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114388392"/>
                    </a:ext>
                  </a:extLst>
                </a:gridCol>
              </a:tblGrid>
              <a:tr h="63404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90249396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759617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Calendar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Wallet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Chrome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14018275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736548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5294176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089445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Home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One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Search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8432401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834597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045608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1047355"/>
                  </a:ext>
                </a:extLst>
              </a:tr>
              <a:tr h="121273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OEM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65572867"/>
                  </a:ext>
                </a:extLst>
              </a:tr>
            </a:tbl>
          </a:graphicData>
        </a:graphic>
      </p:graphicFrame>
      <p:cxnSp>
        <p:nvCxnSpPr>
          <p:cNvPr id="239" name="Connector: Elbow 238">
            <a:extLst>
              <a:ext uri="{FF2B5EF4-FFF2-40B4-BE49-F238E27FC236}">
                <a16:creationId xmlns:a16="http://schemas.microsoft.com/office/drawing/2014/main" id="{7E592D28-9836-4A22-9374-6878C0E2F011}"/>
              </a:ext>
            </a:extLst>
          </p:cNvPr>
          <p:cNvCxnSpPr>
            <a:cxnSpLocks/>
          </p:cNvCxnSpPr>
          <p:nvPr/>
        </p:nvCxnSpPr>
        <p:spPr>
          <a:xfrm rot="5400000">
            <a:off x="2953005" y="3476763"/>
            <a:ext cx="1057501" cy="558569"/>
          </a:xfrm>
          <a:prstGeom prst="bentConnector3">
            <a:avLst>
              <a:gd name="adj1" fmla="val 13613"/>
            </a:avLst>
          </a:prstGeom>
          <a:ln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43" name="Picture 242">
            <a:extLst>
              <a:ext uri="{FF2B5EF4-FFF2-40B4-BE49-F238E27FC236}">
                <a16:creationId xmlns:a16="http://schemas.microsoft.com/office/drawing/2014/main" id="{16DAAD4E-E7A0-4A13-90CE-032F71D27A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51647" y="31799"/>
            <a:ext cx="2163469" cy="652204"/>
          </a:xfrm>
          <a:prstGeom prst="rect">
            <a:avLst/>
          </a:prstGeom>
        </p:spPr>
      </p:pic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AA9CFF15-0E84-4576-8410-A2577D0E445B}"/>
              </a:ext>
            </a:extLst>
          </p:cNvPr>
          <p:cNvCxnSpPr>
            <a:cxnSpLocks/>
          </p:cNvCxnSpPr>
          <p:nvPr/>
        </p:nvCxnSpPr>
        <p:spPr>
          <a:xfrm>
            <a:off x="2745476" y="11682424"/>
            <a:ext cx="28" cy="508149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20" name="TextBox 11">
            <a:extLst>
              <a:ext uri="{FF2B5EF4-FFF2-40B4-BE49-F238E27FC236}">
                <a16:creationId xmlns:a16="http://schemas.microsoft.com/office/drawing/2014/main" id="{2FF09C95-3D1A-43DA-B8C1-971FF82A1A15}"/>
              </a:ext>
            </a:extLst>
          </p:cNvPr>
          <p:cNvSpPr txBox="1"/>
          <p:nvPr/>
        </p:nvSpPr>
        <p:spPr>
          <a:xfrm>
            <a:off x="864286" y="11823712"/>
            <a:ext cx="1463073" cy="272348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/>
              <a:t>Google Discover</a:t>
            </a:r>
          </a:p>
        </p:txBody>
      </p:sp>
      <p:sp>
        <p:nvSpPr>
          <p:cNvPr id="21" name="TextBox 12">
            <a:extLst>
              <a:ext uri="{FF2B5EF4-FFF2-40B4-BE49-F238E27FC236}">
                <a16:creationId xmlns:a16="http://schemas.microsoft.com/office/drawing/2014/main" id="{066D3A9B-B4F6-4B28-AFFD-E0182F468E54}"/>
              </a:ext>
            </a:extLst>
          </p:cNvPr>
          <p:cNvSpPr txBox="1"/>
          <p:nvPr/>
        </p:nvSpPr>
        <p:spPr>
          <a:xfrm>
            <a:off x="864287" y="11823712"/>
            <a:ext cx="1460251" cy="268812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/>
              <a:t>Google Discover</a:t>
            </a:r>
          </a:p>
        </p:txBody>
      </p:sp>
      <p:sp>
        <p:nvSpPr>
          <p:cNvPr id="22" name="TextBox 13">
            <a:extLst>
              <a:ext uri="{FF2B5EF4-FFF2-40B4-BE49-F238E27FC236}">
                <a16:creationId xmlns:a16="http://schemas.microsoft.com/office/drawing/2014/main" id="{7E56E24B-2A55-4DF5-A2BC-23AFD286585C}"/>
              </a:ext>
            </a:extLst>
          </p:cNvPr>
          <p:cNvSpPr txBox="1"/>
          <p:nvPr/>
        </p:nvSpPr>
        <p:spPr>
          <a:xfrm>
            <a:off x="3104250" y="11834823"/>
            <a:ext cx="1460250" cy="260559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/>
              <a:t>T-Mobile Play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CC4E75D1-7307-4468-B470-B3FD7D96899D}"/>
              </a:ext>
            </a:extLst>
          </p:cNvPr>
          <p:cNvSpPr txBox="1"/>
          <p:nvPr/>
        </p:nvSpPr>
        <p:spPr>
          <a:xfrm>
            <a:off x="5979252" y="4914259"/>
            <a:ext cx="6050561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fontAlgn="b"/>
            <a:r>
              <a:rPr lang="en-US" sz="1200" b="1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Customization Files may be found here: 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1" i="0" u="sng" strike="noStrike" dirty="0">
                <a:solidFill>
                  <a:srgbClr val="4472C4"/>
                </a:solidFill>
                <a:effectLst/>
                <a:latin typeface="Calibri" panose="020F0502020204030204" pitchFamily="34" charset="0"/>
                <a:hlinkClick r:id="rId3"/>
              </a:rPr>
              <a:t>https://tmap.t-mobile.com/portals/ayibw7iw/OEMToolkit</a:t>
            </a:r>
            <a:r>
              <a:rPr lang="en-US" sz="1200" b="1" i="0" u="sng" strike="noStrike" dirty="0">
                <a:solidFill>
                  <a:srgbClr val="4472C4"/>
                </a:solidFill>
                <a:effectLst/>
                <a:latin typeface="Calibri" panose="020F0502020204030204" pitchFamily="34" charset="0"/>
              </a:rPr>
              <a:t> 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This includes brand specific: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      •Power Up / Boot File animation and mnemonic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      •Ringtones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      •T-Mobile / Metro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03812DDA-46E9-58D2-0E0B-DD80856AB0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7326034"/>
              </p:ext>
            </p:extLst>
          </p:nvPr>
        </p:nvGraphicFramePr>
        <p:xfrm>
          <a:off x="8257905" y="729220"/>
          <a:ext cx="1669767" cy="207939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69767">
                  <a:extLst>
                    <a:ext uri="{9D8B030D-6E8A-4147-A177-3AD203B41FA5}">
                      <a16:colId xmlns:a16="http://schemas.microsoft.com/office/drawing/2014/main" val="4009581341"/>
                    </a:ext>
                  </a:extLst>
                </a:gridCol>
              </a:tblGrid>
              <a:tr h="321267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Plus – One Applications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05086144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T-Life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58167358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Amazon Shopping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37964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TikTok (AS)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80852661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Facebook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89322102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Instagram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91141794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WhatsApp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6102866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B49766B7-750A-A7E7-560D-FC1AAA15CCBD}"/>
              </a:ext>
            </a:extLst>
          </p:cNvPr>
          <p:cNvSpPr txBox="1"/>
          <p:nvPr/>
        </p:nvSpPr>
        <p:spPr>
          <a:xfrm>
            <a:off x="8216261" y="2778638"/>
            <a:ext cx="171141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900" dirty="0"/>
              <a:t>* Plus-One Applications will follow first available.</a:t>
            </a:r>
          </a:p>
        </p:txBody>
      </p:sp>
    </p:spTree>
    <p:extLst>
      <p:ext uri="{BB962C8B-B14F-4D97-AF65-F5344CB8AC3E}">
        <p14:creationId xmlns:p14="http://schemas.microsoft.com/office/powerpoint/2010/main" val="222962337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B4DFBEA-C9E3-485D-B4A5-063CDD28548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4484" y="31799"/>
            <a:ext cx="10750998" cy="947750"/>
          </a:xfrm>
        </p:spPr>
        <p:txBody>
          <a:bodyPr>
            <a:normAutofit/>
          </a:bodyPr>
          <a:lstStyle/>
          <a:p>
            <a:r>
              <a:rPr lang="en-US" sz="3200" dirty="0"/>
              <a:t>T-Mobile Brand 4x5 (APP TRAY)</a:t>
            </a:r>
          </a:p>
        </p:txBody>
      </p:sp>
      <p:pic>
        <p:nvPicPr>
          <p:cNvPr id="243" name="Picture 242">
            <a:extLst>
              <a:ext uri="{FF2B5EF4-FFF2-40B4-BE49-F238E27FC236}">
                <a16:creationId xmlns:a16="http://schemas.microsoft.com/office/drawing/2014/main" id="{16DAAD4E-E7A0-4A13-90CE-032F71D27A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652013" y="52139"/>
            <a:ext cx="2163469" cy="652204"/>
          </a:xfrm>
          <a:prstGeom prst="rect">
            <a:avLst/>
          </a:prstGeom>
        </p:spPr>
      </p:pic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084BD0EE-3F05-478F-935E-D48024FC8E7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7280662"/>
              </p:ext>
            </p:extLst>
          </p:nvPr>
        </p:nvGraphicFramePr>
        <p:xfrm>
          <a:off x="7182070" y="3826820"/>
          <a:ext cx="1298732" cy="2159016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298732">
                  <a:extLst>
                    <a:ext uri="{9D8B030D-6E8A-4147-A177-3AD203B41FA5}">
                      <a16:colId xmlns:a16="http://schemas.microsoft.com/office/drawing/2014/main" val="4283747700"/>
                    </a:ext>
                  </a:extLst>
                </a:gridCol>
              </a:tblGrid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OEM FOLDER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214296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5456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2397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7691460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25063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905200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2070764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6544440"/>
                  </a:ext>
                </a:extLst>
              </a:tr>
            </a:tbl>
          </a:graphicData>
        </a:graphic>
      </p:graphicFrame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D82C608A-E4A4-4FE4-83C8-D28C151694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2673888"/>
              </p:ext>
            </p:extLst>
          </p:nvPr>
        </p:nvGraphicFramePr>
        <p:xfrm>
          <a:off x="8602409" y="3826820"/>
          <a:ext cx="1223344" cy="2159016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223344">
                  <a:extLst>
                    <a:ext uri="{9D8B030D-6E8A-4147-A177-3AD203B41FA5}">
                      <a16:colId xmlns:a16="http://schemas.microsoft.com/office/drawing/2014/main" val="4283747700"/>
                    </a:ext>
                  </a:extLst>
                </a:gridCol>
              </a:tblGrid>
              <a:tr h="273476">
                <a:tc>
                  <a:txBody>
                    <a:bodyPr/>
                    <a:lstStyle/>
                    <a:p>
                      <a:r>
                        <a:rPr lang="en-US" sz="1100" dirty="0"/>
                        <a:t> OTHER FOLDER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214296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5456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2397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7691460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25063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905200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2070764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6544440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FB103680-3495-417B-9674-4F78F99BBE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1683817"/>
              </p:ext>
            </p:extLst>
          </p:nvPr>
        </p:nvGraphicFramePr>
        <p:xfrm>
          <a:off x="5332445" y="3796575"/>
          <a:ext cx="1728018" cy="2655570"/>
        </p:xfrm>
        <a:graphic>
          <a:graphicData uri="http://schemas.openxmlformats.org/drawingml/2006/table">
            <a:tbl>
              <a:tblPr/>
              <a:tblGrid>
                <a:gridCol w="206145">
                  <a:extLst>
                    <a:ext uri="{9D8B030D-6E8A-4147-A177-3AD203B41FA5}">
                      <a16:colId xmlns:a16="http://schemas.microsoft.com/office/drawing/2014/main" val="3072099247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2660851657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4051570774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841299941"/>
                    </a:ext>
                  </a:extLst>
                </a:gridCol>
                <a:gridCol w="78858">
                  <a:extLst>
                    <a:ext uri="{9D8B030D-6E8A-4147-A177-3AD203B41FA5}">
                      <a16:colId xmlns:a16="http://schemas.microsoft.com/office/drawing/2014/main" val="2697608583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2261431747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2738975599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54138011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3602541442"/>
                    </a:ext>
                  </a:extLst>
                </a:gridCol>
              </a:tblGrid>
              <a:tr h="211476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T-Mobile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007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83593485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05454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T-Mobile Play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8629493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159240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2367054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705827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Visual Voicemail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sng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8681097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0357925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5990450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885689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142577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9782762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6073934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0527355"/>
                  </a:ext>
                </a:extLst>
              </a:tr>
              <a:tr h="167470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CM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24319942"/>
                  </a:ext>
                </a:extLst>
              </a:tr>
            </a:tbl>
          </a:graphicData>
        </a:graphic>
      </p:graphicFrame>
      <p:graphicFrame>
        <p:nvGraphicFramePr>
          <p:cNvPr id="18" name="Table 17">
            <a:extLst>
              <a:ext uri="{FF2B5EF4-FFF2-40B4-BE49-F238E27FC236}">
                <a16:creationId xmlns:a16="http://schemas.microsoft.com/office/drawing/2014/main" id="{365C2058-AF86-4C1C-B095-AD6AFDE77C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8964879"/>
              </p:ext>
            </p:extLst>
          </p:nvPr>
        </p:nvGraphicFramePr>
        <p:xfrm>
          <a:off x="226405" y="4646156"/>
          <a:ext cx="4842150" cy="1959610"/>
        </p:xfrm>
        <a:graphic>
          <a:graphicData uri="http://schemas.openxmlformats.org/drawingml/2006/table">
            <a:tbl>
              <a:tblPr/>
              <a:tblGrid>
                <a:gridCol w="193686">
                  <a:extLst>
                    <a:ext uri="{9D8B030D-6E8A-4147-A177-3AD203B41FA5}">
                      <a16:colId xmlns:a16="http://schemas.microsoft.com/office/drawing/2014/main" val="3668995254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2298855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347258237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887936937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31880910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69528032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47022183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21668264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355972019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57865640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2311707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32040150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1610574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428869703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882220615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809203488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97926968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073156503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469739955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67735331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783650352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043479574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599976022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942200419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114388392"/>
                    </a:ext>
                  </a:extLst>
                </a:gridCol>
              </a:tblGrid>
              <a:tr h="63404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90249396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759617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Calendar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Wallet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Chrome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14018275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736548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5294176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089445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Home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One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Search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8432401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834597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045608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1047355"/>
                  </a:ext>
                </a:extLst>
              </a:tr>
              <a:tr h="121273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OEM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65572867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D66739E3-E190-49D0-BAFB-3E611ECDF0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5467620"/>
              </p:ext>
            </p:extLst>
          </p:nvPr>
        </p:nvGraphicFramePr>
        <p:xfrm>
          <a:off x="64484" y="658177"/>
          <a:ext cx="2658306" cy="3809952"/>
        </p:xfrm>
        <a:graphic>
          <a:graphicData uri="http://schemas.openxmlformats.org/drawingml/2006/table">
            <a:tbl>
              <a:tblPr/>
              <a:tblGrid>
                <a:gridCol w="206694">
                  <a:extLst>
                    <a:ext uri="{9D8B030D-6E8A-4147-A177-3AD203B41FA5}">
                      <a16:colId xmlns:a16="http://schemas.microsoft.com/office/drawing/2014/main" val="567885774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796951820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763050868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48264384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285632916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477863979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295058144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532864766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212963500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2868736158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68651000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2329397121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148893673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004013726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961217591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762343034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1133969293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1591511040"/>
                    </a:ext>
                  </a:extLst>
                </a:gridCol>
                <a:gridCol w="206694">
                  <a:extLst>
                    <a:ext uri="{9D8B030D-6E8A-4147-A177-3AD203B41FA5}">
                      <a16:colId xmlns:a16="http://schemas.microsoft.com/office/drawing/2014/main" val="1419320222"/>
                    </a:ext>
                  </a:extLst>
                </a:gridCol>
              </a:tblGrid>
              <a:tr h="13644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APP TRAY 1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5292620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04230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643511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4090153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571517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81063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84205984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23461691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4099842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3041736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21956089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7020049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2495695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9437557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7951514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583240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156809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6222117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9997020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55603711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273385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3155394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8233786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Phone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Messages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Chrome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5009887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86071489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1143924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057227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1625943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367BC488-3427-4637-9128-22A891D249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7130147"/>
              </p:ext>
            </p:extLst>
          </p:nvPr>
        </p:nvGraphicFramePr>
        <p:xfrm>
          <a:off x="2447193" y="658177"/>
          <a:ext cx="2658306" cy="3809952"/>
        </p:xfrm>
        <a:graphic>
          <a:graphicData uri="http://schemas.openxmlformats.org/drawingml/2006/table">
            <a:tbl>
              <a:tblPr/>
              <a:tblGrid>
                <a:gridCol w="206694">
                  <a:extLst>
                    <a:ext uri="{9D8B030D-6E8A-4147-A177-3AD203B41FA5}">
                      <a16:colId xmlns:a16="http://schemas.microsoft.com/office/drawing/2014/main" val="567885774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796951820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763050868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48264384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285632916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477863979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295058144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532864766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212963500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2868736158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68651000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2329397121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148893673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004013726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961217591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762343034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1133969293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1591511040"/>
                    </a:ext>
                  </a:extLst>
                </a:gridCol>
                <a:gridCol w="206694">
                  <a:extLst>
                    <a:ext uri="{9D8B030D-6E8A-4147-A177-3AD203B41FA5}">
                      <a16:colId xmlns:a16="http://schemas.microsoft.com/office/drawing/2014/main" val="1419320222"/>
                    </a:ext>
                  </a:extLst>
                </a:gridCol>
              </a:tblGrid>
              <a:tr h="13644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APP TRAY 2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5292620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04230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643511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4090153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571517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81063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84205984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23461691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4099842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3041736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21956089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7020049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2495695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9437557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7951514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583240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156809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6222117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9997020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55603711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273385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3155394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8233786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Phone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Messages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Chrome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5009887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86071489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1143924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057227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1625943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C39602B8-F4B6-4447-B444-226E200D7C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3335609"/>
              </p:ext>
            </p:extLst>
          </p:nvPr>
        </p:nvGraphicFramePr>
        <p:xfrm>
          <a:off x="6257759" y="872164"/>
          <a:ext cx="5486400" cy="2749550"/>
        </p:xfrm>
        <a:graphic>
          <a:graphicData uri="http://schemas.openxmlformats.org/drawingml/2006/table">
            <a:tbl>
              <a:tblPr/>
              <a:tblGrid>
                <a:gridCol w="5486400">
                  <a:extLst>
                    <a:ext uri="{9D8B030D-6E8A-4147-A177-3AD203B41FA5}">
                      <a16:colId xmlns:a16="http://schemas.microsoft.com/office/drawing/2014/main" val="52211753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l" fontAlgn="t"/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For App Tray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a. </a:t>
                      </a:r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</a:t>
                      </a: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applications should be placed in </a:t>
                      </a:r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</a:t>
                      </a: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folder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b. Ensure Google One is preloaded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c. OEM applications should be placed in OEM folder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d. OEM applications must be reviewed and approved prior to RC1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e. Applications okay to appear in app tray (not in folder)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Calculator</a:t>
                      </a:r>
                    </a:p>
                    <a:p>
                      <a:pPr algn="l" fontAlgn="t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Calendar</a:t>
                      </a:r>
                    </a:p>
                    <a:p>
                      <a:pPr algn="l" fontAlgn="t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Camera</a:t>
                      </a:r>
                    </a:p>
                    <a:p>
                      <a:pPr algn="l" fontAlgn="t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Clock </a:t>
                      </a:r>
                    </a:p>
                    <a:p>
                      <a:pPr algn="l" fontAlgn="t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Contacts</a:t>
                      </a:r>
                    </a:p>
                    <a:p>
                      <a:pPr algn="l" fontAlgn="t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Files</a:t>
                      </a:r>
                    </a:p>
                    <a:p>
                      <a:pPr algn="l" fontAlgn="t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Android Messages</a:t>
                      </a:r>
                    </a:p>
                    <a:p>
                      <a:pPr algn="l" fontAlgn="t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Phone</a:t>
                      </a:r>
                    </a:p>
                    <a:p>
                      <a:pPr algn="l" fontAlgn="t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Settings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9223971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D60D1778-0840-A39D-2891-8A07CC5158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852016"/>
              </p:ext>
            </p:extLst>
          </p:nvPr>
        </p:nvGraphicFramePr>
        <p:xfrm>
          <a:off x="9947360" y="3789535"/>
          <a:ext cx="1455746" cy="2434180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455746">
                  <a:extLst>
                    <a:ext uri="{9D8B030D-6E8A-4147-A177-3AD203B41FA5}">
                      <a16:colId xmlns:a16="http://schemas.microsoft.com/office/drawing/2014/main" val="4283747700"/>
                    </a:ext>
                  </a:extLst>
                </a:gridCol>
              </a:tblGrid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App Tray</a:t>
                      </a:r>
                    </a:p>
                    <a:p>
                      <a:pPr algn="ctr"/>
                      <a:r>
                        <a:rPr lang="en-US" sz="800" dirty="0"/>
                        <a:t>Based on placement order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214296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T-Life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5456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Amazon Shopping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2397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TikTok (AS)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7691460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Facebook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25063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Instagram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905200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WhatsApp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2070764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65444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6471167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6A4DEF40-9FAA-488A-8DC3-B93DDD0D686A}"/>
              </a:ext>
            </a:extLst>
          </p:cNvPr>
          <p:cNvSpPr txBox="1"/>
          <p:nvPr/>
        </p:nvSpPr>
        <p:spPr>
          <a:xfrm>
            <a:off x="391431" y="2782651"/>
            <a:ext cx="8244569" cy="523220"/>
          </a:xfrm>
          <a:prstGeom prst="rect">
            <a:avLst/>
          </a:prstGeom>
          <a:noFill/>
          <a:ln w="28575">
            <a:solidFill>
              <a:schemeClr val="accent1"/>
            </a:solidFill>
          </a:ln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chemeClr val="accent1"/>
                </a:solidFill>
              </a:rPr>
              <a:t>SMARTPHONE - T-MOBILE 4X6 SCREEN SIZE TEMPLATE</a:t>
            </a:r>
          </a:p>
        </p:txBody>
      </p:sp>
    </p:spTree>
    <p:extLst>
      <p:ext uri="{BB962C8B-B14F-4D97-AF65-F5344CB8AC3E}">
        <p14:creationId xmlns:p14="http://schemas.microsoft.com/office/powerpoint/2010/main" val="16634688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B4DFBEA-C9E3-485D-B4A5-063CDD28548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4484" y="31799"/>
            <a:ext cx="10750998" cy="947750"/>
          </a:xfrm>
        </p:spPr>
        <p:txBody>
          <a:bodyPr>
            <a:normAutofit/>
          </a:bodyPr>
          <a:lstStyle/>
          <a:p>
            <a:r>
              <a:rPr lang="en-US" sz="3200" dirty="0"/>
              <a:t>T-Mobile Brand 4x6 (Lock +Unlock)</a:t>
            </a:r>
          </a:p>
        </p:txBody>
      </p:sp>
      <p:pic>
        <p:nvPicPr>
          <p:cNvPr id="243" name="Picture 242">
            <a:extLst>
              <a:ext uri="{FF2B5EF4-FFF2-40B4-BE49-F238E27FC236}">
                <a16:creationId xmlns:a16="http://schemas.microsoft.com/office/drawing/2014/main" id="{16DAAD4E-E7A0-4A13-90CE-032F71D27A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51647" y="31799"/>
            <a:ext cx="2163469" cy="652204"/>
          </a:xfrm>
          <a:prstGeom prst="rect">
            <a:avLst/>
          </a:prstGeom>
        </p:spPr>
      </p:pic>
      <p:sp>
        <p:nvSpPr>
          <p:cNvPr id="20" name="TextBox 11">
            <a:extLst>
              <a:ext uri="{FF2B5EF4-FFF2-40B4-BE49-F238E27FC236}">
                <a16:creationId xmlns:a16="http://schemas.microsoft.com/office/drawing/2014/main" id="{2FF09C95-3D1A-43DA-B8C1-971FF82A1A15}"/>
              </a:ext>
            </a:extLst>
          </p:cNvPr>
          <p:cNvSpPr txBox="1"/>
          <p:nvPr/>
        </p:nvSpPr>
        <p:spPr>
          <a:xfrm>
            <a:off x="864286" y="11823712"/>
            <a:ext cx="1463073" cy="272348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/>
              <a:t>Google Discover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0361EF20-51E7-6C22-F935-262071B703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9040709"/>
              </p:ext>
            </p:extLst>
          </p:nvPr>
        </p:nvGraphicFramePr>
        <p:xfrm>
          <a:off x="460753" y="666025"/>
          <a:ext cx="4285417" cy="4537282"/>
        </p:xfrm>
        <a:graphic>
          <a:graphicData uri="http://schemas.openxmlformats.org/drawingml/2006/table">
            <a:tbl>
              <a:tblPr/>
              <a:tblGrid>
                <a:gridCol w="323199">
                  <a:extLst>
                    <a:ext uri="{9D8B030D-6E8A-4147-A177-3AD203B41FA5}">
                      <a16:colId xmlns:a16="http://schemas.microsoft.com/office/drawing/2014/main" val="122851149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38574171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1034406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765835962"/>
                    </a:ext>
                  </a:extLst>
                </a:gridCol>
                <a:gridCol w="227994">
                  <a:extLst>
                    <a:ext uri="{9D8B030D-6E8A-4147-A177-3AD203B41FA5}">
                      <a16:colId xmlns:a16="http://schemas.microsoft.com/office/drawing/2014/main" val="3032794130"/>
                    </a:ext>
                  </a:extLst>
                </a:gridCol>
                <a:gridCol w="276517">
                  <a:extLst>
                    <a:ext uri="{9D8B030D-6E8A-4147-A177-3AD203B41FA5}">
                      <a16:colId xmlns:a16="http://schemas.microsoft.com/office/drawing/2014/main" val="541524318"/>
                    </a:ext>
                  </a:extLst>
                </a:gridCol>
                <a:gridCol w="243662">
                  <a:extLst>
                    <a:ext uri="{9D8B030D-6E8A-4147-A177-3AD203B41FA5}">
                      <a16:colId xmlns:a16="http://schemas.microsoft.com/office/drawing/2014/main" val="147404175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87507260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136874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18794909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42879882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2678500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5382073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72920100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415853704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86910272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558557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255814577"/>
                    </a:ext>
                  </a:extLst>
                </a:gridCol>
                <a:gridCol w="323199">
                  <a:extLst>
                    <a:ext uri="{9D8B030D-6E8A-4147-A177-3AD203B41FA5}">
                      <a16:colId xmlns:a16="http://schemas.microsoft.com/office/drawing/2014/main" val="650234665"/>
                    </a:ext>
                  </a:extLst>
                </a:gridCol>
              </a:tblGrid>
              <a:tr h="205879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Lock Screen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0995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704942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6546747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1761008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238531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8044488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9239566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7918914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8934769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496596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2743560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6333289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9844401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28475292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3377790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5461106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8258329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6355017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6054402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746340574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2335085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9395224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428589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3035375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6969364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6587648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0832905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4509624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7078814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58620133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1655012"/>
                  </a:ext>
                </a:extLst>
              </a:tr>
              <a:tr h="13485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242736861"/>
                  </a:ext>
                </a:extLst>
              </a:tr>
            </a:tbl>
          </a:graphicData>
        </a:graphic>
      </p:graphicFrame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7B2FECB-B5E0-91AF-0965-A433A857A0B8}"/>
              </a:ext>
            </a:extLst>
          </p:cNvPr>
          <p:cNvGraphicFramePr>
            <a:graphicFrameLocks noGrp="1"/>
          </p:cNvGraphicFramePr>
          <p:nvPr/>
        </p:nvGraphicFramePr>
        <p:xfrm>
          <a:off x="5358006" y="684003"/>
          <a:ext cx="4285417" cy="4537282"/>
        </p:xfrm>
        <a:graphic>
          <a:graphicData uri="http://schemas.openxmlformats.org/drawingml/2006/table">
            <a:tbl>
              <a:tblPr/>
              <a:tblGrid>
                <a:gridCol w="323199">
                  <a:extLst>
                    <a:ext uri="{9D8B030D-6E8A-4147-A177-3AD203B41FA5}">
                      <a16:colId xmlns:a16="http://schemas.microsoft.com/office/drawing/2014/main" val="122851149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38574171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1034406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765835962"/>
                    </a:ext>
                  </a:extLst>
                </a:gridCol>
                <a:gridCol w="227994">
                  <a:extLst>
                    <a:ext uri="{9D8B030D-6E8A-4147-A177-3AD203B41FA5}">
                      <a16:colId xmlns:a16="http://schemas.microsoft.com/office/drawing/2014/main" val="3032794130"/>
                    </a:ext>
                  </a:extLst>
                </a:gridCol>
                <a:gridCol w="276517">
                  <a:extLst>
                    <a:ext uri="{9D8B030D-6E8A-4147-A177-3AD203B41FA5}">
                      <a16:colId xmlns:a16="http://schemas.microsoft.com/office/drawing/2014/main" val="541524318"/>
                    </a:ext>
                  </a:extLst>
                </a:gridCol>
                <a:gridCol w="243662">
                  <a:extLst>
                    <a:ext uri="{9D8B030D-6E8A-4147-A177-3AD203B41FA5}">
                      <a16:colId xmlns:a16="http://schemas.microsoft.com/office/drawing/2014/main" val="147404175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87507260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136874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18794909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42879882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2678500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5382073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72920100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415853704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86910272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558557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255814577"/>
                    </a:ext>
                  </a:extLst>
                </a:gridCol>
                <a:gridCol w="323199">
                  <a:extLst>
                    <a:ext uri="{9D8B030D-6E8A-4147-A177-3AD203B41FA5}">
                      <a16:colId xmlns:a16="http://schemas.microsoft.com/office/drawing/2014/main" val="650234665"/>
                    </a:ext>
                  </a:extLst>
                </a:gridCol>
              </a:tblGrid>
              <a:tr h="205879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Unlock Screen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0995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704942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gridSpan="15">
                  <a:txBody>
                    <a:bodyPr/>
                    <a:lstStyle/>
                    <a:p>
                      <a:pPr algn="ctr" fontAlgn="ctr"/>
                      <a:r>
                        <a:rPr lang="en-US" sz="20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T-Play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8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6546747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1761008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238531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8044488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9239566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7918914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8934769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496596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2743560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6333289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9844401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28475292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3377790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5461106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8258329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6355017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6054402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746340574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2335085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9395224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428589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3035375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6969364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6587648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0832905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4509624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7078814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58620133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1655012"/>
                  </a:ext>
                </a:extLst>
              </a:tr>
              <a:tr h="13485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242736861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29E09302-35F7-8BE8-DC0D-5FBA7E6F0CFE}"/>
              </a:ext>
            </a:extLst>
          </p:cNvPr>
          <p:cNvSpPr txBox="1"/>
          <p:nvPr/>
        </p:nvSpPr>
        <p:spPr>
          <a:xfrm>
            <a:off x="606558" y="5206856"/>
            <a:ext cx="6050561" cy="646331"/>
          </a:xfrm>
          <a:prstGeom prst="rect">
            <a:avLst/>
          </a:prstGeom>
          <a:noFill/>
        </p:spPr>
        <p:txBody>
          <a:bodyPr wrap="square" lIns="91440" tIns="45720" rIns="91440" bIns="45720" anchor="t">
            <a:spAutoFit/>
          </a:bodyPr>
          <a:lstStyle/>
          <a:p>
            <a:pPr fontAlgn="b"/>
            <a:r>
              <a:rPr lang="en-US" sz="1200" b="1" i="0" u="none" strike="noStrike" dirty="0">
                <a:solidFill>
                  <a:srgbClr val="000000"/>
                </a:solidFill>
                <a:effectLst/>
                <a:latin typeface="Calibri"/>
                <a:ea typeface="Calibri"/>
                <a:cs typeface="Calibri"/>
              </a:rPr>
              <a:t>OEM Instructions: </a:t>
            </a:r>
            <a:r>
              <a:rPr lang="en-US" sz="1200" b="1" i="0" u="sng" strike="noStrike" dirty="0">
                <a:solidFill>
                  <a:srgbClr val="4472C4"/>
                </a:solidFill>
                <a:effectLst/>
                <a:latin typeface="Calibri"/>
                <a:ea typeface="Calibri"/>
                <a:cs typeface="Calibri"/>
              </a:rPr>
              <a:t> </a:t>
            </a:r>
            <a:br>
              <a:rPr lang="en-US" sz="1200" b="0" i="0" u="none" strike="noStrike" dirty="0"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/>
                <a:ea typeface="Calibri"/>
                <a:cs typeface="Calibri"/>
              </a:rPr>
              <a:t>Please provid</a:t>
            </a:r>
            <a:r>
              <a:rPr lang="en-US" sz="1200" dirty="0">
                <a:solidFill>
                  <a:srgbClr val="000000"/>
                </a:solidFill>
                <a:latin typeface="Calibri"/>
                <a:ea typeface="Calibri"/>
                <a:cs typeface="Calibri"/>
              </a:rPr>
              <a:t>e the mapping or the device’s Lock and Unlock screen. Please feel free to </a:t>
            </a:r>
            <a:r>
              <a:rPr lang="en-US" sz="1200">
                <a:solidFill>
                  <a:srgbClr val="000000"/>
                </a:solidFill>
                <a:latin typeface="Calibri"/>
                <a:ea typeface="Calibri"/>
                <a:cs typeface="Calibri"/>
              </a:rPr>
              <a:t>populate the screens as you would with any other device screen. </a:t>
            </a:r>
            <a:endParaRPr lang="en-US" sz="1200" b="0" i="0" u="none" strike="noStrike">
              <a:solidFill>
                <a:srgbClr val="000000"/>
              </a:solidFill>
              <a:effectLst/>
              <a:latin typeface="Calibri" panose="020F0502020204030204" pitchFamily="34" charset="0"/>
              <a:ea typeface="Calibri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363996053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8AEC0161-37B8-4239-94D4-D51FBC3CE5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4107657"/>
              </p:ext>
            </p:extLst>
          </p:nvPr>
        </p:nvGraphicFramePr>
        <p:xfrm>
          <a:off x="64484" y="743412"/>
          <a:ext cx="8349786" cy="3734723"/>
        </p:xfrm>
        <a:graphic>
          <a:graphicData uri="http://schemas.openxmlformats.org/drawingml/2006/table">
            <a:tbl>
              <a:tblPr/>
              <a:tblGrid>
                <a:gridCol w="312144">
                  <a:extLst>
                    <a:ext uri="{9D8B030D-6E8A-4147-A177-3AD203B41FA5}">
                      <a16:colId xmlns:a16="http://schemas.microsoft.com/office/drawing/2014/main" val="2319421680"/>
                    </a:ext>
                  </a:extLst>
                </a:gridCol>
                <a:gridCol w="26133">
                  <a:extLst>
                    <a:ext uri="{9D8B030D-6E8A-4147-A177-3AD203B41FA5}">
                      <a16:colId xmlns:a16="http://schemas.microsoft.com/office/drawing/2014/main" val="2487212139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258749514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688824913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730968431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11244628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1395468240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1248365158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671526487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663460518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530145382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905296186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898293556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419694876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088438126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953334433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396912946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094209283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503090355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699471188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134062529"/>
                    </a:ext>
                  </a:extLst>
                </a:gridCol>
                <a:gridCol w="27182">
                  <a:extLst>
                    <a:ext uri="{9D8B030D-6E8A-4147-A177-3AD203B41FA5}">
                      <a16:colId xmlns:a16="http://schemas.microsoft.com/office/drawing/2014/main" val="99170023"/>
                    </a:ext>
                  </a:extLst>
                </a:gridCol>
                <a:gridCol w="310365">
                  <a:extLst>
                    <a:ext uri="{9D8B030D-6E8A-4147-A177-3AD203B41FA5}">
                      <a16:colId xmlns:a16="http://schemas.microsoft.com/office/drawing/2014/main" val="3555223420"/>
                    </a:ext>
                  </a:extLst>
                </a:gridCol>
                <a:gridCol w="205961">
                  <a:extLst>
                    <a:ext uri="{9D8B030D-6E8A-4147-A177-3AD203B41FA5}">
                      <a16:colId xmlns:a16="http://schemas.microsoft.com/office/drawing/2014/main" val="1379327508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149334977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1482904265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526262848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244952669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045248005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805736153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367213290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153737210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501711133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4127103117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922930108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911570229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639499143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1398237310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348019073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72267440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15873548"/>
                    </a:ext>
                  </a:extLst>
                </a:gridCol>
                <a:gridCol w="205961">
                  <a:extLst>
                    <a:ext uri="{9D8B030D-6E8A-4147-A177-3AD203B41FA5}">
                      <a16:colId xmlns:a16="http://schemas.microsoft.com/office/drawing/2014/main" val="1228511495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385741718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1103440694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1765835962"/>
                    </a:ext>
                  </a:extLst>
                </a:gridCol>
                <a:gridCol w="145291">
                  <a:extLst>
                    <a:ext uri="{9D8B030D-6E8A-4147-A177-3AD203B41FA5}">
                      <a16:colId xmlns:a16="http://schemas.microsoft.com/office/drawing/2014/main" val="3032794130"/>
                    </a:ext>
                  </a:extLst>
                </a:gridCol>
                <a:gridCol w="176213">
                  <a:extLst>
                    <a:ext uri="{9D8B030D-6E8A-4147-A177-3AD203B41FA5}">
                      <a16:colId xmlns:a16="http://schemas.microsoft.com/office/drawing/2014/main" val="541524318"/>
                    </a:ext>
                  </a:extLst>
                </a:gridCol>
                <a:gridCol w="155275">
                  <a:extLst>
                    <a:ext uri="{9D8B030D-6E8A-4147-A177-3AD203B41FA5}">
                      <a16:colId xmlns:a16="http://schemas.microsoft.com/office/drawing/2014/main" val="1474041755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1875072607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713687494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187949098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428798827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226785004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253820735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729201000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4158537040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869102720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75585570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255814577"/>
                    </a:ext>
                  </a:extLst>
                </a:gridCol>
                <a:gridCol w="205961">
                  <a:extLst>
                    <a:ext uri="{9D8B030D-6E8A-4147-A177-3AD203B41FA5}">
                      <a16:colId xmlns:a16="http://schemas.microsoft.com/office/drawing/2014/main" val="650234665"/>
                    </a:ext>
                  </a:extLst>
                </a:gridCol>
              </a:tblGrid>
              <a:tr h="16946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1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1L - Minus One Screen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Home- Screen 0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1R - Plus One Screen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099500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7049428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28" gridSpan="19">
                  <a:txBody>
                    <a:bodyPr/>
                    <a:lstStyle/>
                    <a:p>
                      <a:pPr algn="ctr" fontAlgn="b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Assistant &amp; T-Mobile Play                                (-1 Minus One) page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15"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Search (4x1)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5467476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17610089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853100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444886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2395665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9189148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47693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84965967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27435607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33328931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8444015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8475292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33777908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4611063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2583297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3550175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0544025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6340574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3350851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3952246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FOLDER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PLAYSTORE</a:t>
                      </a:r>
                      <a:endParaRPr lang="en-US" sz="8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ASSIST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T-MOBILE FOLDER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Email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Amazon Shopping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 Life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TikTok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4285896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0353757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6936431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8764831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329055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Phone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Messages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Chrome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Phone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Messages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Chrome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5096240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0788147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6201339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81655012"/>
                  </a:ext>
                </a:extLst>
              </a:tr>
              <a:tr h="111000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42736861"/>
                  </a:ext>
                </a:extLst>
              </a:tr>
            </a:tbl>
          </a:graphicData>
        </a:graphic>
      </p:graphicFrame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B4DFBEA-C9E3-485D-B4A5-063CDD28548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4484" y="31799"/>
            <a:ext cx="10750998" cy="947750"/>
          </a:xfrm>
        </p:spPr>
        <p:txBody>
          <a:bodyPr>
            <a:normAutofit/>
          </a:bodyPr>
          <a:lstStyle/>
          <a:p>
            <a:r>
              <a:rPr lang="en-US" sz="3200" dirty="0"/>
              <a:t>T-Mobile Brand 4x6 (Homescreen + Panel Layout)</a:t>
            </a:r>
          </a:p>
        </p:txBody>
      </p:sp>
      <p:cxnSp>
        <p:nvCxnSpPr>
          <p:cNvPr id="212" name="Straight Connector 211">
            <a:extLst>
              <a:ext uri="{FF2B5EF4-FFF2-40B4-BE49-F238E27FC236}">
                <a16:creationId xmlns:a16="http://schemas.microsoft.com/office/drawing/2014/main" id="{5E9FBB07-CA2F-4F04-8D07-256E73ADB63A}"/>
              </a:ext>
            </a:extLst>
          </p:cNvPr>
          <p:cNvCxnSpPr>
            <a:cxnSpLocks/>
          </p:cNvCxnSpPr>
          <p:nvPr/>
        </p:nvCxnSpPr>
        <p:spPr>
          <a:xfrm>
            <a:off x="1611390" y="1031997"/>
            <a:ext cx="0" cy="689748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214" name="TextBox 4">
            <a:extLst>
              <a:ext uri="{FF2B5EF4-FFF2-40B4-BE49-F238E27FC236}">
                <a16:creationId xmlns:a16="http://schemas.microsoft.com/office/drawing/2014/main" id="{529360FF-3277-42AE-BDD2-D6A853A668D8}"/>
              </a:ext>
            </a:extLst>
          </p:cNvPr>
          <p:cNvSpPr txBox="1"/>
          <p:nvPr/>
        </p:nvSpPr>
        <p:spPr>
          <a:xfrm>
            <a:off x="426424" y="1031997"/>
            <a:ext cx="1167988" cy="355600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100" dirty="0"/>
              <a:t>Google Discover</a:t>
            </a:r>
          </a:p>
        </p:txBody>
      </p:sp>
      <p:sp>
        <p:nvSpPr>
          <p:cNvPr id="215" name="TextBox 5">
            <a:extLst>
              <a:ext uri="{FF2B5EF4-FFF2-40B4-BE49-F238E27FC236}">
                <a16:creationId xmlns:a16="http://schemas.microsoft.com/office/drawing/2014/main" id="{2D9499AB-111A-404A-B5AB-E769C643A71E}"/>
              </a:ext>
            </a:extLst>
          </p:cNvPr>
          <p:cNvSpPr txBox="1"/>
          <p:nvPr/>
        </p:nvSpPr>
        <p:spPr>
          <a:xfrm>
            <a:off x="1625372" y="1031997"/>
            <a:ext cx="1258506" cy="355600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100" dirty="0"/>
              <a:t>T-Mobile Play</a:t>
            </a:r>
          </a:p>
        </p:txBody>
      </p:sp>
      <p:graphicFrame>
        <p:nvGraphicFramePr>
          <p:cNvPr id="219" name="Table 218">
            <a:extLst>
              <a:ext uri="{FF2B5EF4-FFF2-40B4-BE49-F238E27FC236}">
                <a16:creationId xmlns:a16="http://schemas.microsoft.com/office/drawing/2014/main" id="{8B5D9A88-0849-46A4-A3CF-1F96880BBC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1586787"/>
              </p:ext>
            </p:extLst>
          </p:nvPr>
        </p:nvGraphicFramePr>
        <p:xfrm>
          <a:off x="10194436" y="3459018"/>
          <a:ext cx="1669768" cy="2655570"/>
        </p:xfrm>
        <a:graphic>
          <a:graphicData uri="http://schemas.openxmlformats.org/drawingml/2006/table">
            <a:tbl>
              <a:tblPr/>
              <a:tblGrid>
                <a:gridCol w="199196">
                  <a:extLst>
                    <a:ext uri="{9D8B030D-6E8A-4147-A177-3AD203B41FA5}">
                      <a16:colId xmlns:a16="http://schemas.microsoft.com/office/drawing/2014/main" val="3072099247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2660851657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4051570774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841299941"/>
                    </a:ext>
                  </a:extLst>
                </a:gridCol>
                <a:gridCol w="76200">
                  <a:extLst>
                    <a:ext uri="{9D8B030D-6E8A-4147-A177-3AD203B41FA5}">
                      <a16:colId xmlns:a16="http://schemas.microsoft.com/office/drawing/2014/main" val="2697608583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2261431747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2738975599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54138011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3602541442"/>
                    </a:ext>
                  </a:extLst>
                </a:gridCol>
              </a:tblGrid>
              <a:tr h="163674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T-Mobile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007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83593485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05454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T-Mobile Play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8629493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159240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2367054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705827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Visual Voicemail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sngStrike" kern="1200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8681097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0357925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5990450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885689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142577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9782762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6073934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0527355"/>
                  </a:ext>
                </a:extLst>
              </a:tr>
              <a:tr h="129615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CM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24319942"/>
                  </a:ext>
                </a:extLst>
              </a:tr>
            </a:tbl>
          </a:graphicData>
        </a:graphic>
      </p:graphicFrame>
      <p:graphicFrame>
        <p:nvGraphicFramePr>
          <p:cNvPr id="230" name="Table 229">
            <a:extLst>
              <a:ext uri="{FF2B5EF4-FFF2-40B4-BE49-F238E27FC236}">
                <a16:creationId xmlns:a16="http://schemas.microsoft.com/office/drawing/2014/main" id="{FD363AB1-CF80-413A-83A3-E3976F48C9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8709575"/>
              </p:ext>
            </p:extLst>
          </p:nvPr>
        </p:nvGraphicFramePr>
        <p:xfrm>
          <a:off x="562293" y="4652257"/>
          <a:ext cx="4841925" cy="1959610"/>
        </p:xfrm>
        <a:graphic>
          <a:graphicData uri="http://schemas.openxmlformats.org/drawingml/2006/table">
            <a:tbl>
              <a:tblPr/>
              <a:tblGrid>
                <a:gridCol w="193677">
                  <a:extLst>
                    <a:ext uri="{9D8B030D-6E8A-4147-A177-3AD203B41FA5}">
                      <a16:colId xmlns:a16="http://schemas.microsoft.com/office/drawing/2014/main" val="3668995254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222988551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2347258237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2887936937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1318809100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3695280320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470221836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2216682646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2355972019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3578656401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123117071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3320401500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216105740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2428869703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2882220615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3809203488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397926968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2073156503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3469739955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1677353316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3783650352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3043479574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1599976022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3942200419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2114388392"/>
                    </a:ext>
                  </a:extLst>
                </a:gridCol>
              </a:tblGrid>
              <a:tr h="178415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90249396"/>
                  </a:ext>
                </a:extLst>
              </a:tr>
              <a:tr h="141288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7596179"/>
                  </a:ext>
                </a:extLst>
              </a:tr>
              <a:tr h="141288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Calendar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Wallet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Chrome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14018275"/>
                  </a:ext>
                </a:extLst>
              </a:tr>
              <a:tr h="141288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7365489"/>
                  </a:ext>
                </a:extLst>
              </a:tr>
              <a:tr h="141288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5294176"/>
                  </a:ext>
                </a:extLst>
              </a:tr>
              <a:tr h="141288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0894459"/>
                  </a:ext>
                </a:extLst>
              </a:tr>
              <a:tr h="141288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Home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One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Google Search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8432401"/>
                  </a:ext>
                </a:extLst>
              </a:tr>
              <a:tr h="141288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8345979"/>
                  </a:ext>
                </a:extLst>
              </a:tr>
              <a:tr h="141288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045608"/>
                  </a:ext>
                </a:extLst>
              </a:tr>
              <a:tr h="141288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1047355"/>
                  </a:ext>
                </a:extLst>
              </a:tr>
              <a:tr h="141288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OEM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65572867"/>
                  </a:ext>
                </a:extLst>
              </a:tr>
            </a:tbl>
          </a:graphicData>
        </a:graphic>
      </p:graphicFrame>
      <p:cxnSp>
        <p:nvCxnSpPr>
          <p:cNvPr id="239" name="Connector: Elbow 238">
            <a:extLst>
              <a:ext uri="{FF2B5EF4-FFF2-40B4-BE49-F238E27FC236}">
                <a16:creationId xmlns:a16="http://schemas.microsoft.com/office/drawing/2014/main" id="{7E592D28-9836-4A22-9374-6878C0E2F011}"/>
              </a:ext>
            </a:extLst>
          </p:cNvPr>
          <p:cNvCxnSpPr>
            <a:cxnSpLocks/>
          </p:cNvCxnSpPr>
          <p:nvPr/>
        </p:nvCxnSpPr>
        <p:spPr>
          <a:xfrm rot="5400000">
            <a:off x="2539319" y="3610177"/>
            <a:ext cx="1607014" cy="477149"/>
          </a:xfrm>
          <a:prstGeom prst="bentConnector3">
            <a:avLst>
              <a:gd name="adj1" fmla="val -262"/>
            </a:avLst>
          </a:prstGeom>
          <a:ln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43" name="Picture 242">
            <a:extLst>
              <a:ext uri="{FF2B5EF4-FFF2-40B4-BE49-F238E27FC236}">
                <a16:creationId xmlns:a16="http://schemas.microsoft.com/office/drawing/2014/main" id="{16DAAD4E-E7A0-4A13-90CE-032F71D27A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51647" y="31799"/>
            <a:ext cx="2163469" cy="652204"/>
          </a:xfrm>
          <a:prstGeom prst="rect">
            <a:avLst/>
          </a:prstGeom>
        </p:spPr>
      </p:pic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AA9CFF15-0E84-4576-8410-A2577D0E445B}"/>
              </a:ext>
            </a:extLst>
          </p:cNvPr>
          <p:cNvCxnSpPr>
            <a:cxnSpLocks/>
          </p:cNvCxnSpPr>
          <p:nvPr/>
        </p:nvCxnSpPr>
        <p:spPr>
          <a:xfrm>
            <a:off x="2745476" y="11682424"/>
            <a:ext cx="28" cy="508149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20" name="TextBox 11">
            <a:extLst>
              <a:ext uri="{FF2B5EF4-FFF2-40B4-BE49-F238E27FC236}">
                <a16:creationId xmlns:a16="http://schemas.microsoft.com/office/drawing/2014/main" id="{2FF09C95-3D1A-43DA-B8C1-971FF82A1A15}"/>
              </a:ext>
            </a:extLst>
          </p:cNvPr>
          <p:cNvSpPr txBox="1"/>
          <p:nvPr/>
        </p:nvSpPr>
        <p:spPr>
          <a:xfrm>
            <a:off x="864286" y="11823712"/>
            <a:ext cx="1463073" cy="272348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/>
              <a:t>Google Discover</a:t>
            </a:r>
          </a:p>
        </p:txBody>
      </p:sp>
      <p:sp>
        <p:nvSpPr>
          <p:cNvPr id="21" name="TextBox 12">
            <a:extLst>
              <a:ext uri="{FF2B5EF4-FFF2-40B4-BE49-F238E27FC236}">
                <a16:creationId xmlns:a16="http://schemas.microsoft.com/office/drawing/2014/main" id="{066D3A9B-B4F6-4B28-AFFD-E0182F468E54}"/>
              </a:ext>
            </a:extLst>
          </p:cNvPr>
          <p:cNvSpPr txBox="1"/>
          <p:nvPr/>
        </p:nvSpPr>
        <p:spPr>
          <a:xfrm>
            <a:off x="864287" y="11823712"/>
            <a:ext cx="1460251" cy="268812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/>
              <a:t>Google Discover</a:t>
            </a:r>
          </a:p>
        </p:txBody>
      </p:sp>
      <p:sp>
        <p:nvSpPr>
          <p:cNvPr id="22" name="TextBox 13">
            <a:extLst>
              <a:ext uri="{FF2B5EF4-FFF2-40B4-BE49-F238E27FC236}">
                <a16:creationId xmlns:a16="http://schemas.microsoft.com/office/drawing/2014/main" id="{7E56E24B-2A55-4DF5-A2BC-23AFD286585C}"/>
              </a:ext>
            </a:extLst>
          </p:cNvPr>
          <p:cNvSpPr txBox="1"/>
          <p:nvPr/>
        </p:nvSpPr>
        <p:spPr>
          <a:xfrm>
            <a:off x="3104250" y="11834823"/>
            <a:ext cx="1460250" cy="260559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/>
              <a:t>T-Mobile Play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CC4E75D1-7307-4468-B470-B3FD7D96899D}"/>
              </a:ext>
            </a:extLst>
          </p:cNvPr>
          <p:cNvSpPr txBox="1"/>
          <p:nvPr/>
        </p:nvSpPr>
        <p:spPr>
          <a:xfrm>
            <a:off x="5979252" y="4914259"/>
            <a:ext cx="6050561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fontAlgn="b"/>
            <a:r>
              <a:rPr lang="en-US" sz="1200" b="1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Customization Files may be found here: 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1" i="0" u="sng" strike="noStrike" dirty="0">
                <a:solidFill>
                  <a:srgbClr val="4472C4"/>
                </a:solidFill>
                <a:effectLst/>
                <a:latin typeface="Calibri" panose="020F0502020204030204" pitchFamily="34" charset="0"/>
                <a:hlinkClick r:id="rId3"/>
              </a:rPr>
              <a:t>https://tmap.t-mobile.com/portals/ayibw7iw/OEMToolkit</a:t>
            </a:r>
            <a:r>
              <a:rPr lang="en-US" sz="1200" b="1" i="0" u="sng" strike="noStrike" dirty="0">
                <a:solidFill>
                  <a:srgbClr val="4472C4"/>
                </a:solidFill>
                <a:effectLst/>
                <a:latin typeface="Calibri" panose="020F0502020204030204" pitchFamily="34" charset="0"/>
              </a:rPr>
              <a:t> 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This includes brand specific: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      •Power Up / Boot File animation and mnemonic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      •Ringtones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      •T-Mobile / Metro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9A6126D9-9FAE-2C82-2AB9-4134FB0976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2075991"/>
              </p:ext>
            </p:extLst>
          </p:nvPr>
        </p:nvGraphicFramePr>
        <p:xfrm>
          <a:off x="8524669" y="743412"/>
          <a:ext cx="1669767" cy="207939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69767">
                  <a:extLst>
                    <a:ext uri="{9D8B030D-6E8A-4147-A177-3AD203B41FA5}">
                      <a16:colId xmlns:a16="http://schemas.microsoft.com/office/drawing/2014/main" val="4009581341"/>
                    </a:ext>
                  </a:extLst>
                </a:gridCol>
              </a:tblGrid>
              <a:tr h="321267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Plus – One Applications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05086144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T-Life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58167358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Amazon Shopping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37964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TikTok (AS)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80852661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Facebook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3738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Instagram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47147261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WhatsApp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3919683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C6803A1F-F220-18A7-9D3B-DF82CB5174C2}"/>
              </a:ext>
            </a:extLst>
          </p:cNvPr>
          <p:cNvSpPr txBox="1"/>
          <p:nvPr/>
        </p:nvSpPr>
        <p:spPr>
          <a:xfrm>
            <a:off x="8524669" y="2841606"/>
            <a:ext cx="171141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900" dirty="0"/>
              <a:t>* Plus-One Applications will follow first available.</a:t>
            </a:r>
          </a:p>
        </p:txBody>
      </p:sp>
      <p:cxnSp>
        <p:nvCxnSpPr>
          <p:cNvPr id="8" name="Connector: Elbow 7">
            <a:extLst>
              <a:ext uri="{FF2B5EF4-FFF2-40B4-BE49-F238E27FC236}">
                <a16:creationId xmlns:a16="http://schemas.microsoft.com/office/drawing/2014/main" id="{131B41F5-2A84-8929-C657-99E7231C3AE6}"/>
              </a:ext>
            </a:extLst>
          </p:cNvPr>
          <p:cNvCxnSpPr>
            <a:endCxn id="219" idx="1"/>
          </p:cNvCxnSpPr>
          <p:nvPr/>
        </p:nvCxnSpPr>
        <p:spPr>
          <a:xfrm>
            <a:off x="5555293" y="3513551"/>
            <a:ext cx="4639143" cy="1273252"/>
          </a:xfrm>
          <a:prstGeom prst="bentConnector3">
            <a:avLst>
              <a:gd name="adj1" fmla="val 5719"/>
            </a:avLst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4065314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B4DFBEA-C9E3-485D-B4A5-063CDD28548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4484" y="31799"/>
            <a:ext cx="10750998" cy="947750"/>
          </a:xfrm>
        </p:spPr>
        <p:txBody>
          <a:bodyPr>
            <a:normAutofit/>
          </a:bodyPr>
          <a:lstStyle/>
          <a:p>
            <a:r>
              <a:rPr lang="en-US" sz="3200" dirty="0"/>
              <a:t>T-Mobile Brand 4x6 (APP TRAY)</a:t>
            </a:r>
          </a:p>
        </p:txBody>
      </p:sp>
      <p:pic>
        <p:nvPicPr>
          <p:cNvPr id="243" name="Picture 242">
            <a:extLst>
              <a:ext uri="{FF2B5EF4-FFF2-40B4-BE49-F238E27FC236}">
                <a16:creationId xmlns:a16="http://schemas.microsoft.com/office/drawing/2014/main" id="{16DAAD4E-E7A0-4A13-90CE-032F71D27A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652013" y="52139"/>
            <a:ext cx="2163469" cy="652204"/>
          </a:xfrm>
          <a:prstGeom prst="rect">
            <a:avLst/>
          </a:prstGeom>
        </p:spPr>
      </p:pic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084BD0EE-3F05-478F-935E-D48024FC8E7E}"/>
              </a:ext>
            </a:extLst>
          </p:cNvPr>
          <p:cNvGraphicFramePr>
            <a:graphicFrameLocks noGrp="1"/>
          </p:cNvGraphicFramePr>
          <p:nvPr/>
        </p:nvGraphicFramePr>
        <p:xfrm>
          <a:off x="7302953" y="3796575"/>
          <a:ext cx="1298732" cy="2159016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298732">
                  <a:extLst>
                    <a:ext uri="{9D8B030D-6E8A-4147-A177-3AD203B41FA5}">
                      <a16:colId xmlns:a16="http://schemas.microsoft.com/office/drawing/2014/main" val="4283747700"/>
                    </a:ext>
                  </a:extLst>
                </a:gridCol>
              </a:tblGrid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OEM FOLDER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214296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5456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2397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7691460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25063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905200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2070764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6544440"/>
                  </a:ext>
                </a:extLst>
              </a:tr>
            </a:tbl>
          </a:graphicData>
        </a:graphic>
      </p:graphicFrame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D82C608A-E4A4-4FE4-83C8-D28C151694F4}"/>
              </a:ext>
            </a:extLst>
          </p:cNvPr>
          <p:cNvGraphicFramePr>
            <a:graphicFrameLocks noGrp="1"/>
          </p:cNvGraphicFramePr>
          <p:nvPr/>
        </p:nvGraphicFramePr>
        <p:xfrm>
          <a:off x="8696613" y="3796575"/>
          <a:ext cx="1223344" cy="2159016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223344">
                  <a:extLst>
                    <a:ext uri="{9D8B030D-6E8A-4147-A177-3AD203B41FA5}">
                      <a16:colId xmlns:a16="http://schemas.microsoft.com/office/drawing/2014/main" val="4283747700"/>
                    </a:ext>
                  </a:extLst>
                </a:gridCol>
              </a:tblGrid>
              <a:tr h="273476">
                <a:tc>
                  <a:txBody>
                    <a:bodyPr/>
                    <a:lstStyle/>
                    <a:p>
                      <a:r>
                        <a:rPr lang="en-US" sz="1100" dirty="0"/>
                        <a:t> OTHER FOLDER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214296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5456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2397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7691460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25063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905200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2070764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6544440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FB103680-3495-417B-9674-4F78F99BBE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0097706"/>
              </p:ext>
            </p:extLst>
          </p:nvPr>
        </p:nvGraphicFramePr>
        <p:xfrm>
          <a:off x="5319798" y="3796575"/>
          <a:ext cx="1728018" cy="2655570"/>
        </p:xfrm>
        <a:graphic>
          <a:graphicData uri="http://schemas.openxmlformats.org/drawingml/2006/table">
            <a:tbl>
              <a:tblPr/>
              <a:tblGrid>
                <a:gridCol w="206145">
                  <a:extLst>
                    <a:ext uri="{9D8B030D-6E8A-4147-A177-3AD203B41FA5}">
                      <a16:colId xmlns:a16="http://schemas.microsoft.com/office/drawing/2014/main" val="3072099247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2660851657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4051570774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841299941"/>
                    </a:ext>
                  </a:extLst>
                </a:gridCol>
                <a:gridCol w="78858">
                  <a:extLst>
                    <a:ext uri="{9D8B030D-6E8A-4147-A177-3AD203B41FA5}">
                      <a16:colId xmlns:a16="http://schemas.microsoft.com/office/drawing/2014/main" val="2697608583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2261431747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2738975599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54138011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3602541442"/>
                    </a:ext>
                  </a:extLst>
                </a:gridCol>
              </a:tblGrid>
              <a:tr h="211476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T-Mobile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007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83593485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05454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T-Mobile Play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8629493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159240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2367054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705827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Visual Voicemail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sng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8681097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0357925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5990450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885689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142577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9782762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6073934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0527355"/>
                  </a:ext>
                </a:extLst>
              </a:tr>
              <a:tr h="167470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CM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24319942"/>
                  </a:ext>
                </a:extLst>
              </a:tr>
            </a:tbl>
          </a:graphicData>
        </a:graphic>
      </p:graphicFrame>
      <p:graphicFrame>
        <p:nvGraphicFramePr>
          <p:cNvPr id="18" name="Table 17">
            <a:extLst>
              <a:ext uri="{FF2B5EF4-FFF2-40B4-BE49-F238E27FC236}">
                <a16:creationId xmlns:a16="http://schemas.microsoft.com/office/drawing/2014/main" id="{365C2058-AF86-4C1C-B095-AD6AFDE77C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128342"/>
              </p:ext>
            </p:extLst>
          </p:nvPr>
        </p:nvGraphicFramePr>
        <p:xfrm>
          <a:off x="226404" y="4646156"/>
          <a:ext cx="4707550" cy="1959610"/>
        </p:xfrm>
        <a:graphic>
          <a:graphicData uri="http://schemas.openxmlformats.org/drawingml/2006/table">
            <a:tbl>
              <a:tblPr/>
              <a:tblGrid>
                <a:gridCol w="188302">
                  <a:extLst>
                    <a:ext uri="{9D8B030D-6E8A-4147-A177-3AD203B41FA5}">
                      <a16:colId xmlns:a16="http://schemas.microsoft.com/office/drawing/2014/main" val="3668995254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222988551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2347258237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2887936937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1318809100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3695280320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470221836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2216682646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2355972019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3578656401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123117071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3320401500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216105740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2428869703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2882220615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3809203488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397926968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2073156503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3469739955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1677353316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3783650352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3043479574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1599976022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3942200419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2114388392"/>
                    </a:ext>
                  </a:extLst>
                </a:gridCol>
              </a:tblGrid>
              <a:tr h="184595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90249396"/>
                  </a:ext>
                </a:extLst>
              </a:tr>
              <a:tr h="146182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7596179"/>
                  </a:ext>
                </a:extLst>
              </a:tr>
              <a:tr h="146182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Calendar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Wallet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Chrome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14018275"/>
                  </a:ext>
                </a:extLst>
              </a:tr>
              <a:tr h="146182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7365489"/>
                  </a:ext>
                </a:extLst>
              </a:tr>
              <a:tr h="146182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5294176"/>
                  </a:ext>
                </a:extLst>
              </a:tr>
              <a:tr h="146182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0894459"/>
                  </a:ext>
                </a:extLst>
              </a:tr>
              <a:tr h="146182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Home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One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Search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8432401"/>
                  </a:ext>
                </a:extLst>
              </a:tr>
              <a:tr h="146182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8345979"/>
                  </a:ext>
                </a:extLst>
              </a:tr>
              <a:tr h="146182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045608"/>
                  </a:ext>
                </a:extLst>
              </a:tr>
              <a:tr h="146182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1047355"/>
                  </a:ext>
                </a:extLst>
              </a:tr>
              <a:tr h="146182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OEM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65572867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D66739E3-E190-49D0-BAFB-3E611ECDF0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9516597"/>
              </p:ext>
            </p:extLst>
          </p:nvPr>
        </p:nvGraphicFramePr>
        <p:xfrm>
          <a:off x="12105" y="508531"/>
          <a:ext cx="2658306" cy="4215867"/>
        </p:xfrm>
        <a:graphic>
          <a:graphicData uri="http://schemas.openxmlformats.org/drawingml/2006/table">
            <a:tbl>
              <a:tblPr/>
              <a:tblGrid>
                <a:gridCol w="206694">
                  <a:extLst>
                    <a:ext uri="{9D8B030D-6E8A-4147-A177-3AD203B41FA5}">
                      <a16:colId xmlns:a16="http://schemas.microsoft.com/office/drawing/2014/main" val="567885774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796951820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763050868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48264384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285632916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477863979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295058144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532864766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212963500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2868736158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68651000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2329397121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148893673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004013726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961217591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762343034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1133969293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1591511040"/>
                    </a:ext>
                  </a:extLst>
                </a:gridCol>
                <a:gridCol w="206694">
                  <a:extLst>
                    <a:ext uri="{9D8B030D-6E8A-4147-A177-3AD203B41FA5}">
                      <a16:colId xmlns:a16="http://schemas.microsoft.com/office/drawing/2014/main" val="1419320222"/>
                    </a:ext>
                  </a:extLst>
                </a:gridCol>
              </a:tblGrid>
              <a:tr h="13644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APP TRAY 1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5292620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04230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643511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4090153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571517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81063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84205984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23461691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4099842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3041736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21956089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7020049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2495695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9437557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7951514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583240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156809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6222117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9997020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55603711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273385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3155394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847773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8623584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32331515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8233786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Phone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Messages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Chrome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5009887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86071489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1143924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057227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1625943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367BC488-3427-4637-9128-22A891D249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7646488"/>
              </p:ext>
            </p:extLst>
          </p:nvPr>
        </p:nvGraphicFramePr>
        <p:xfrm>
          <a:off x="2406355" y="505674"/>
          <a:ext cx="2658306" cy="4215867"/>
        </p:xfrm>
        <a:graphic>
          <a:graphicData uri="http://schemas.openxmlformats.org/drawingml/2006/table">
            <a:tbl>
              <a:tblPr/>
              <a:tblGrid>
                <a:gridCol w="206694">
                  <a:extLst>
                    <a:ext uri="{9D8B030D-6E8A-4147-A177-3AD203B41FA5}">
                      <a16:colId xmlns:a16="http://schemas.microsoft.com/office/drawing/2014/main" val="567885774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796951820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763050868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48264384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285632916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477863979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295058144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532864766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212963500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2868736158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68651000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2329397121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148893673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004013726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961217591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762343034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1133969293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1591511040"/>
                    </a:ext>
                  </a:extLst>
                </a:gridCol>
                <a:gridCol w="206694">
                  <a:extLst>
                    <a:ext uri="{9D8B030D-6E8A-4147-A177-3AD203B41FA5}">
                      <a16:colId xmlns:a16="http://schemas.microsoft.com/office/drawing/2014/main" val="1419320222"/>
                    </a:ext>
                  </a:extLst>
                </a:gridCol>
              </a:tblGrid>
              <a:tr h="13644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APP TRAY 2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5292620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04230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643511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4090153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571517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81063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84205984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23461691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4099842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3041736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21956089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7020049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2495695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9437557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7951514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583240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156809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6222117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9997020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55603711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273385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3155394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3634793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9671686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7090049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8233786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Phone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Messages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Chrome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5009887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86071489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1143924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057227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1625943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C39602B8-F4B6-4447-B444-226E200D7C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304824"/>
              </p:ext>
            </p:extLst>
          </p:nvPr>
        </p:nvGraphicFramePr>
        <p:xfrm>
          <a:off x="5255677" y="851287"/>
          <a:ext cx="5486400" cy="2749550"/>
        </p:xfrm>
        <a:graphic>
          <a:graphicData uri="http://schemas.openxmlformats.org/drawingml/2006/table">
            <a:tbl>
              <a:tblPr/>
              <a:tblGrid>
                <a:gridCol w="5486400">
                  <a:extLst>
                    <a:ext uri="{9D8B030D-6E8A-4147-A177-3AD203B41FA5}">
                      <a16:colId xmlns:a16="http://schemas.microsoft.com/office/drawing/2014/main" val="52211753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l" fontAlgn="t"/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For App Tray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a. </a:t>
                      </a:r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</a:t>
                      </a: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applications should be placed in </a:t>
                      </a:r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</a:t>
                      </a: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folder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b. Ensure Google One is preloaded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c. OEM applications should be placed in OEM folder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d. OEM applications must be reviewed and approved prior to RC1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e. Applications okay to appear in app tray (not in folder)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Calculator</a:t>
                      </a:r>
                    </a:p>
                    <a:p>
                      <a:pPr algn="l" fontAlgn="t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Calendar</a:t>
                      </a:r>
                    </a:p>
                    <a:p>
                      <a:pPr algn="l" fontAlgn="t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Camera</a:t>
                      </a:r>
                    </a:p>
                    <a:p>
                      <a:pPr algn="l" fontAlgn="t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Clock </a:t>
                      </a:r>
                    </a:p>
                    <a:p>
                      <a:pPr algn="l" fontAlgn="t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Contacts</a:t>
                      </a:r>
                    </a:p>
                    <a:p>
                      <a:pPr algn="l" fontAlgn="t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Files</a:t>
                      </a:r>
                    </a:p>
                    <a:p>
                      <a:pPr algn="l" fontAlgn="t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Android Messages</a:t>
                      </a:r>
                    </a:p>
                    <a:p>
                      <a:pPr algn="l" fontAlgn="t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Phone</a:t>
                      </a:r>
                    </a:p>
                    <a:p>
                      <a:pPr algn="l" fontAlgn="t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Settings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9223971"/>
                  </a:ext>
                </a:extLst>
              </a:tr>
            </a:tbl>
          </a:graphicData>
        </a:graphic>
      </p:graphicFrame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7DC3F37C-7086-F72E-2168-2AD4473A64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1204972"/>
              </p:ext>
            </p:extLst>
          </p:nvPr>
        </p:nvGraphicFramePr>
        <p:xfrm>
          <a:off x="10087609" y="3747781"/>
          <a:ext cx="1455746" cy="2434180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455746">
                  <a:extLst>
                    <a:ext uri="{9D8B030D-6E8A-4147-A177-3AD203B41FA5}">
                      <a16:colId xmlns:a16="http://schemas.microsoft.com/office/drawing/2014/main" val="4283747700"/>
                    </a:ext>
                  </a:extLst>
                </a:gridCol>
              </a:tblGrid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App Tray</a:t>
                      </a:r>
                    </a:p>
                    <a:p>
                      <a:pPr algn="ctr"/>
                      <a:r>
                        <a:rPr lang="en-US" sz="800" dirty="0"/>
                        <a:t>Based on placement order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214296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T-Life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5456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Amazon Shopping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2397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TikTok (AS)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7691460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Facebook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25063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Instagram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905200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WhatsApp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2070764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65444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8535516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6A4DEF40-9FAA-488A-8DC3-B93DDD0D686A}"/>
              </a:ext>
            </a:extLst>
          </p:cNvPr>
          <p:cNvSpPr txBox="1"/>
          <p:nvPr/>
        </p:nvSpPr>
        <p:spPr>
          <a:xfrm>
            <a:off x="372382" y="2776301"/>
            <a:ext cx="7891086" cy="523220"/>
          </a:xfrm>
          <a:prstGeom prst="rect">
            <a:avLst/>
          </a:prstGeom>
          <a:noFill/>
          <a:ln w="28575">
            <a:solidFill>
              <a:srgbClr val="7030A0"/>
            </a:solidFill>
          </a:ln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rgbClr val="7030A0"/>
                </a:solidFill>
              </a:rPr>
              <a:t>SMARTPHONE - METRO 5X5 SCREEN SIZE TEMPLATE</a:t>
            </a:r>
          </a:p>
        </p:txBody>
      </p:sp>
    </p:spTree>
    <p:extLst>
      <p:ext uri="{BB962C8B-B14F-4D97-AF65-F5344CB8AC3E}">
        <p14:creationId xmlns:p14="http://schemas.microsoft.com/office/powerpoint/2010/main" val="155494314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95966C-9319-860B-85B3-23F2342954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1F3583F-860F-16E6-8DC8-78746E10F47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4484" y="31799"/>
            <a:ext cx="10750998" cy="947750"/>
          </a:xfrm>
        </p:spPr>
        <p:txBody>
          <a:bodyPr>
            <a:normAutofit/>
          </a:bodyPr>
          <a:lstStyle/>
          <a:p>
            <a:r>
              <a:rPr lang="en-US" sz="3200" dirty="0">
                <a:solidFill>
                  <a:srgbClr val="7030A0"/>
                </a:solidFill>
              </a:rPr>
              <a:t>Metro Brand 5x5 (Lock +Unlock)</a:t>
            </a:r>
          </a:p>
        </p:txBody>
      </p:sp>
      <p:pic>
        <p:nvPicPr>
          <p:cNvPr id="243" name="Picture 242">
            <a:extLst>
              <a:ext uri="{FF2B5EF4-FFF2-40B4-BE49-F238E27FC236}">
                <a16:creationId xmlns:a16="http://schemas.microsoft.com/office/drawing/2014/main" id="{034814B3-1CFF-9BA2-8FD6-53C3E8F1326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440811" y="31799"/>
            <a:ext cx="2163469" cy="652204"/>
          </a:xfrm>
          <a:prstGeom prst="rect">
            <a:avLst/>
          </a:prstGeom>
        </p:spPr>
      </p:pic>
      <p:sp>
        <p:nvSpPr>
          <p:cNvPr id="20" name="TextBox 11">
            <a:extLst>
              <a:ext uri="{FF2B5EF4-FFF2-40B4-BE49-F238E27FC236}">
                <a16:creationId xmlns:a16="http://schemas.microsoft.com/office/drawing/2014/main" id="{1F94F43B-070A-8420-158A-FCAFA3A8FCD2}"/>
              </a:ext>
            </a:extLst>
          </p:cNvPr>
          <p:cNvSpPr txBox="1"/>
          <p:nvPr/>
        </p:nvSpPr>
        <p:spPr>
          <a:xfrm>
            <a:off x="864286" y="11823712"/>
            <a:ext cx="1463073" cy="272348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/>
              <a:t>Google Discover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684E55AF-587E-DA85-C113-43EB0D4B26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2043925"/>
              </p:ext>
            </p:extLst>
          </p:nvPr>
        </p:nvGraphicFramePr>
        <p:xfrm>
          <a:off x="460753" y="666025"/>
          <a:ext cx="4285417" cy="4537282"/>
        </p:xfrm>
        <a:graphic>
          <a:graphicData uri="http://schemas.openxmlformats.org/drawingml/2006/table">
            <a:tbl>
              <a:tblPr/>
              <a:tblGrid>
                <a:gridCol w="323199">
                  <a:extLst>
                    <a:ext uri="{9D8B030D-6E8A-4147-A177-3AD203B41FA5}">
                      <a16:colId xmlns:a16="http://schemas.microsoft.com/office/drawing/2014/main" val="122851149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38574171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1034406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765835962"/>
                    </a:ext>
                  </a:extLst>
                </a:gridCol>
                <a:gridCol w="227994">
                  <a:extLst>
                    <a:ext uri="{9D8B030D-6E8A-4147-A177-3AD203B41FA5}">
                      <a16:colId xmlns:a16="http://schemas.microsoft.com/office/drawing/2014/main" val="3032794130"/>
                    </a:ext>
                  </a:extLst>
                </a:gridCol>
                <a:gridCol w="276517">
                  <a:extLst>
                    <a:ext uri="{9D8B030D-6E8A-4147-A177-3AD203B41FA5}">
                      <a16:colId xmlns:a16="http://schemas.microsoft.com/office/drawing/2014/main" val="541524318"/>
                    </a:ext>
                  </a:extLst>
                </a:gridCol>
                <a:gridCol w="243662">
                  <a:extLst>
                    <a:ext uri="{9D8B030D-6E8A-4147-A177-3AD203B41FA5}">
                      <a16:colId xmlns:a16="http://schemas.microsoft.com/office/drawing/2014/main" val="147404175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87507260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136874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18794909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42879882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2678500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5382073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72920100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415853704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86910272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558557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255814577"/>
                    </a:ext>
                  </a:extLst>
                </a:gridCol>
                <a:gridCol w="323199">
                  <a:extLst>
                    <a:ext uri="{9D8B030D-6E8A-4147-A177-3AD203B41FA5}">
                      <a16:colId xmlns:a16="http://schemas.microsoft.com/office/drawing/2014/main" val="650234665"/>
                    </a:ext>
                  </a:extLst>
                </a:gridCol>
              </a:tblGrid>
              <a:tr h="205879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Lock Screen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0995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704942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6546747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1761008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238531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8044488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gridSpan="15">
                  <a:txBody>
                    <a:bodyPr/>
                    <a:lstStyle/>
                    <a:p>
                      <a:pPr algn="ctr" fontAlgn="ctr"/>
                      <a:r>
                        <a:rPr lang="en-US" sz="20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Metro Play</a:t>
                      </a:r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4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9239566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7918914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8934769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496596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2743560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6333289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9844401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28475292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3377790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5461106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8258329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6355017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6054402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746340574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2335085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9395224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428589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3035375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6969364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6587648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0832905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4509624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7078814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58620133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1655012"/>
                  </a:ext>
                </a:extLst>
              </a:tr>
              <a:tr h="13485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242736861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2608D7F8-AB7B-4E94-02FB-7F22234C33A1}"/>
              </a:ext>
            </a:extLst>
          </p:cNvPr>
          <p:cNvGraphicFramePr>
            <a:graphicFrameLocks noGrp="1"/>
          </p:cNvGraphicFramePr>
          <p:nvPr/>
        </p:nvGraphicFramePr>
        <p:xfrm>
          <a:off x="5358006" y="684003"/>
          <a:ext cx="4285417" cy="4537282"/>
        </p:xfrm>
        <a:graphic>
          <a:graphicData uri="http://schemas.openxmlformats.org/drawingml/2006/table">
            <a:tbl>
              <a:tblPr/>
              <a:tblGrid>
                <a:gridCol w="323199">
                  <a:extLst>
                    <a:ext uri="{9D8B030D-6E8A-4147-A177-3AD203B41FA5}">
                      <a16:colId xmlns:a16="http://schemas.microsoft.com/office/drawing/2014/main" val="122851149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38574171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1034406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765835962"/>
                    </a:ext>
                  </a:extLst>
                </a:gridCol>
                <a:gridCol w="227994">
                  <a:extLst>
                    <a:ext uri="{9D8B030D-6E8A-4147-A177-3AD203B41FA5}">
                      <a16:colId xmlns:a16="http://schemas.microsoft.com/office/drawing/2014/main" val="3032794130"/>
                    </a:ext>
                  </a:extLst>
                </a:gridCol>
                <a:gridCol w="276517">
                  <a:extLst>
                    <a:ext uri="{9D8B030D-6E8A-4147-A177-3AD203B41FA5}">
                      <a16:colId xmlns:a16="http://schemas.microsoft.com/office/drawing/2014/main" val="541524318"/>
                    </a:ext>
                  </a:extLst>
                </a:gridCol>
                <a:gridCol w="243662">
                  <a:extLst>
                    <a:ext uri="{9D8B030D-6E8A-4147-A177-3AD203B41FA5}">
                      <a16:colId xmlns:a16="http://schemas.microsoft.com/office/drawing/2014/main" val="147404175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87507260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136874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18794909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42879882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2678500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5382073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72920100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415853704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86910272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558557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255814577"/>
                    </a:ext>
                  </a:extLst>
                </a:gridCol>
                <a:gridCol w="323199">
                  <a:extLst>
                    <a:ext uri="{9D8B030D-6E8A-4147-A177-3AD203B41FA5}">
                      <a16:colId xmlns:a16="http://schemas.microsoft.com/office/drawing/2014/main" val="650234665"/>
                    </a:ext>
                  </a:extLst>
                </a:gridCol>
              </a:tblGrid>
              <a:tr h="205879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Unlock Screen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0995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704942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gridSpan="15">
                  <a:txBody>
                    <a:bodyPr/>
                    <a:lstStyle/>
                    <a:p>
                      <a:pPr algn="ctr" fontAlgn="ctr"/>
                      <a:r>
                        <a:rPr lang="en-US" sz="20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MetroZone</a:t>
                      </a:r>
                      <a:endParaRPr lang="en-US" sz="2000" b="0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8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6546747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1761008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238531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8044488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9239566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7918914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8934769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496596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2743560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6333289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9844401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28475292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3377790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5461106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8258329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6355017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6054402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746340574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2335085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9395224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428589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3035375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6969364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6587648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0832905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4509624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7078814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58620133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1655012"/>
                  </a:ext>
                </a:extLst>
              </a:tr>
              <a:tr h="13485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242736861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CCF1E774-12F3-441E-1D4B-40C3F16F57BC}"/>
              </a:ext>
            </a:extLst>
          </p:cNvPr>
          <p:cNvSpPr txBox="1"/>
          <p:nvPr/>
        </p:nvSpPr>
        <p:spPr>
          <a:xfrm>
            <a:off x="606558" y="5206856"/>
            <a:ext cx="6050561" cy="646331"/>
          </a:xfrm>
          <a:prstGeom prst="rect">
            <a:avLst/>
          </a:prstGeom>
          <a:noFill/>
        </p:spPr>
        <p:txBody>
          <a:bodyPr wrap="square" lIns="91440" tIns="45720" rIns="91440" bIns="45720" anchor="t">
            <a:spAutoFit/>
          </a:bodyPr>
          <a:lstStyle/>
          <a:p>
            <a:pPr fontAlgn="b"/>
            <a:r>
              <a:rPr lang="en-US" sz="1200" b="1" i="0" u="none" strike="noStrike" dirty="0">
                <a:solidFill>
                  <a:srgbClr val="000000"/>
                </a:solidFill>
                <a:effectLst/>
                <a:latin typeface="Calibri"/>
                <a:ea typeface="Calibri"/>
                <a:cs typeface="Calibri"/>
              </a:rPr>
              <a:t>OEM Instructions: </a:t>
            </a:r>
            <a:r>
              <a:rPr lang="en-US" sz="1200" b="1" i="0" u="sng" strike="noStrike" dirty="0">
                <a:solidFill>
                  <a:srgbClr val="4472C4"/>
                </a:solidFill>
                <a:effectLst/>
                <a:latin typeface="Calibri"/>
                <a:ea typeface="Calibri"/>
                <a:cs typeface="Calibri"/>
              </a:rPr>
              <a:t> </a:t>
            </a:r>
            <a:br>
              <a:rPr lang="en-US" sz="1200" b="0" i="0" u="none" strike="noStrike" dirty="0"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/>
                <a:ea typeface="Calibri"/>
                <a:cs typeface="Calibri"/>
              </a:rPr>
              <a:t>Please provid</a:t>
            </a:r>
            <a:r>
              <a:rPr lang="en-US" sz="1200" dirty="0">
                <a:solidFill>
                  <a:srgbClr val="000000"/>
                </a:solidFill>
                <a:latin typeface="Calibri"/>
                <a:ea typeface="Calibri"/>
                <a:cs typeface="Calibri"/>
              </a:rPr>
              <a:t>e the mapping or the device’s Lock and Unlock screen. Please feel free to </a:t>
            </a:r>
            <a:r>
              <a:rPr lang="en-US" sz="1200">
                <a:solidFill>
                  <a:srgbClr val="000000"/>
                </a:solidFill>
                <a:latin typeface="Calibri"/>
                <a:ea typeface="Calibri"/>
                <a:cs typeface="Calibri"/>
              </a:rPr>
              <a:t>populate the screens as you would with any other device screen. </a:t>
            </a:r>
            <a:endParaRPr lang="en-US" sz="1200" b="0" i="0" u="none" strike="noStrike">
              <a:solidFill>
                <a:srgbClr val="000000"/>
              </a:solidFill>
              <a:effectLst/>
              <a:latin typeface="Calibri" panose="020F0502020204030204" pitchFamily="34" charset="0"/>
              <a:ea typeface="Calibri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6773076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8AEC0161-37B8-4239-94D4-D51FBC3CE5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1836351"/>
              </p:ext>
            </p:extLst>
          </p:nvPr>
        </p:nvGraphicFramePr>
        <p:xfrm>
          <a:off x="64484" y="552125"/>
          <a:ext cx="8256158" cy="4433755"/>
        </p:xfrm>
        <a:graphic>
          <a:graphicData uri="http://schemas.openxmlformats.org/drawingml/2006/table">
            <a:tbl>
              <a:tblPr/>
              <a:tblGrid>
                <a:gridCol w="271906">
                  <a:extLst>
                    <a:ext uri="{9D8B030D-6E8A-4147-A177-3AD203B41FA5}">
                      <a16:colId xmlns:a16="http://schemas.microsoft.com/office/drawing/2014/main" val="2319421680"/>
                    </a:ext>
                  </a:extLst>
                </a:gridCol>
                <a:gridCol w="25946">
                  <a:extLst>
                    <a:ext uri="{9D8B030D-6E8A-4147-A177-3AD203B41FA5}">
                      <a16:colId xmlns:a16="http://schemas.microsoft.com/office/drawing/2014/main" val="2487212139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3258749514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3688824913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730968431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311244628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1395468240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1248365158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2671526487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2663460518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2530145382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905296186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898293556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3419694876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3088438126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2953334433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2396912946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2094209283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2503090355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2699471188"/>
                    </a:ext>
                  </a:extLst>
                </a:gridCol>
                <a:gridCol w="289776">
                  <a:extLst>
                    <a:ext uri="{9D8B030D-6E8A-4147-A177-3AD203B41FA5}">
                      <a16:colId xmlns:a16="http://schemas.microsoft.com/office/drawing/2014/main" val="134062529"/>
                    </a:ext>
                  </a:extLst>
                </a:gridCol>
                <a:gridCol w="64160">
                  <a:extLst>
                    <a:ext uri="{9D8B030D-6E8A-4147-A177-3AD203B41FA5}">
                      <a16:colId xmlns:a16="http://schemas.microsoft.com/office/drawing/2014/main" val="99170023"/>
                    </a:ext>
                  </a:extLst>
                </a:gridCol>
                <a:gridCol w="54808">
                  <a:extLst>
                    <a:ext uri="{9D8B030D-6E8A-4147-A177-3AD203B41FA5}">
                      <a16:colId xmlns:a16="http://schemas.microsoft.com/office/drawing/2014/main" val="3555223420"/>
                    </a:ext>
                  </a:extLst>
                </a:gridCol>
                <a:gridCol w="179409">
                  <a:extLst>
                    <a:ext uri="{9D8B030D-6E8A-4147-A177-3AD203B41FA5}">
                      <a16:colId xmlns:a16="http://schemas.microsoft.com/office/drawing/2014/main" val="1379327508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3149334977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1482904265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2526262848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3244952669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3045248005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2805736153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2367213290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3153737210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3501711133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4127103117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2922930108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2911570229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639499143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1398237310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3348019073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372267440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315873548"/>
                    </a:ext>
                  </a:extLst>
                </a:gridCol>
                <a:gridCol w="179409">
                  <a:extLst>
                    <a:ext uri="{9D8B030D-6E8A-4147-A177-3AD203B41FA5}">
                      <a16:colId xmlns:a16="http://schemas.microsoft.com/office/drawing/2014/main" val="1228511495"/>
                    </a:ext>
                  </a:extLst>
                </a:gridCol>
                <a:gridCol w="179409">
                  <a:extLst>
                    <a:ext uri="{9D8B030D-6E8A-4147-A177-3AD203B41FA5}">
                      <a16:colId xmlns:a16="http://schemas.microsoft.com/office/drawing/2014/main" val="2139586383"/>
                    </a:ext>
                  </a:extLst>
                </a:gridCol>
                <a:gridCol w="25400">
                  <a:extLst>
                    <a:ext uri="{9D8B030D-6E8A-4147-A177-3AD203B41FA5}">
                      <a16:colId xmlns:a16="http://schemas.microsoft.com/office/drawing/2014/main" val="3921531280"/>
                    </a:ext>
                  </a:extLst>
                </a:gridCol>
                <a:gridCol w="165100">
                  <a:extLst>
                    <a:ext uri="{9D8B030D-6E8A-4147-A177-3AD203B41FA5}">
                      <a16:colId xmlns:a16="http://schemas.microsoft.com/office/drawing/2014/main" val="4034736828"/>
                    </a:ext>
                  </a:extLst>
                </a:gridCol>
                <a:gridCol w="250715">
                  <a:extLst>
                    <a:ext uri="{9D8B030D-6E8A-4147-A177-3AD203B41FA5}">
                      <a16:colId xmlns:a16="http://schemas.microsoft.com/office/drawing/2014/main" val="1058605359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2385741718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1103440694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1765835962"/>
                    </a:ext>
                  </a:extLst>
                </a:gridCol>
                <a:gridCol w="126562">
                  <a:extLst>
                    <a:ext uri="{9D8B030D-6E8A-4147-A177-3AD203B41FA5}">
                      <a16:colId xmlns:a16="http://schemas.microsoft.com/office/drawing/2014/main" val="3032794130"/>
                    </a:ext>
                  </a:extLst>
                </a:gridCol>
                <a:gridCol w="153496">
                  <a:extLst>
                    <a:ext uri="{9D8B030D-6E8A-4147-A177-3AD203B41FA5}">
                      <a16:colId xmlns:a16="http://schemas.microsoft.com/office/drawing/2014/main" val="541524318"/>
                    </a:ext>
                  </a:extLst>
                </a:gridCol>
                <a:gridCol w="135259">
                  <a:extLst>
                    <a:ext uri="{9D8B030D-6E8A-4147-A177-3AD203B41FA5}">
                      <a16:colId xmlns:a16="http://schemas.microsoft.com/office/drawing/2014/main" val="1474041755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1875072607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3713687494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3187949098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2428798827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3226785004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3253820735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2729201000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4158537040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869102720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375585570"/>
                    </a:ext>
                  </a:extLst>
                </a:gridCol>
                <a:gridCol w="114624">
                  <a:extLst>
                    <a:ext uri="{9D8B030D-6E8A-4147-A177-3AD203B41FA5}">
                      <a16:colId xmlns:a16="http://schemas.microsoft.com/office/drawing/2014/main" val="2255814577"/>
                    </a:ext>
                  </a:extLst>
                </a:gridCol>
                <a:gridCol w="179409">
                  <a:extLst>
                    <a:ext uri="{9D8B030D-6E8A-4147-A177-3AD203B41FA5}">
                      <a16:colId xmlns:a16="http://schemas.microsoft.com/office/drawing/2014/main" val="1082878117"/>
                    </a:ext>
                  </a:extLst>
                </a:gridCol>
                <a:gridCol w="229676">
                  <a:extLst>
                    <a:ext uri="{9D8B030D-6E8A-4147-A177-3AD203B41FA5}">
                      <a16:colId xmlns:a16="http://schemas.microsoft.com/office/drawing/2014/main" val="650234665"/>
                    </a:ext>
                  </a:extLst>
                </a:gridCol>
                <a:gridCol w="129142">
                  <a:extLst>
                    <a:ext uri="{9D8B030D-6E8A-4147-A177-3AD203B41FA5}">
                      <a16:colId xmlns:a16="http://schemas.microsoft.com/office/drawing/2014/main" val="3667389095"/>
                    </a:ext>
                  </a:extLst>
                </a:gridCol>
              </a:tblGrid>
              <a:tr h="332291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1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1L - Minus One Screen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1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Home- Screen 0</a:t>
                      </a:r>
                    </a:p>
                    <a:p>
                      <a:pPr algn="l" fontAlgn="b"/>
                      <a:r>
                        <a:rPr lang="en-US" sz="11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1100" b="1" i="0" u="none" strike="noStrike" kern="1200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1100" b="1" i="0" u="none" strike="noStrike" kern="1200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1100" b="1" i="0" u="none" strike="noStrike" kern="1200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0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1R - Plus One Screen</a:t>
                      </a:r>
                    </a:p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099500"/>
                  </a:ext>
                </a:extLst>
              </a:tr>
              <a:tr h="11411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7049428"/>
                  </a:ext>
                </a:extLst>
              </a:tr>
              <a:tr h="11411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28" gridSpan="19">
                  <a:txBody>
                    <a:bodyPr/>
                    <a:lstStyle/>
                    <a:p>
                      <a:pPr algn="ctr" fontAlgn="b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Assistant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20"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Search (5x1)</a:t>
                      </a:r>
                    </a:p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18"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  <a:p>
                      <a:pPr algn="ctr" fontAlgn="ctr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Metrozone 5x1 </a:t>
                      </a:r>
                    </a:p>
                    <a:p>
                      <a:pPr algn="ctr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  <a:p>
                      <a:pPr algn="ctr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5467476"/>
                  </a:ext>
                </a:extLst>
              </a:tr>
              <a:tr h="11411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0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8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17610089"/>
                  </a:ext>
                </a:extLst>
              </a:tr>
              <a:tr h="58739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0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8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853100"/>
                  </a:ext>
                </a:extLst>
              </a:tr>
              <a:tr h="11411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444886"/>
                  </a:ext>
                </a:extLst>
              </a:tr>
              <a:tr h="11411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2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2395665"/>
                  </a:ext>
                </a:extLst>
              </a:tr>
              <a:tr h="11411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9189148"/>
                  </a:ext>
                </a:extLst>
              </a:tr>
              <a:tr h="11411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47693"/>
                  </a:ext>
                </a:extLst>
              </a:tr>
              <a:tr h="11411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84965967"/>
                  </a:ext>
                </a:extLst>
              </a:tr>
              <a:tr h="11411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2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27435607"/>
                  </a:ext>
                </a:extLst>
              </a:tr>
              <a:tr h="11411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33328931"/>
                  </a:ext>
                </a:extLst>
              </a:tr>
              <a:tr h="11411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8444015"/>
                  </a:ext>
                </a:extLst>
              </a:tr>
              <a:tr h="11411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8475292"/>
                  </a:ext>
                </a:extLst>
              </a:tr>
              <a:tr h="11411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2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33777908"/>
                  </a:ext>
                </a:extLst>
              </a:tr>
              <a:tr h="11411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4611063"/>
                  </a:ext>
                </a:extLst>
              </a:tr>
              <a:tr h="11411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2583297"/>
                  </a:ext>
                </a:extLst>
              </a:tr>
              <a:tr h="11411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3550175"/>
                  </a:ext>
                </a:extLst>
              </a:tr>
              <a:tr h="11411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0544025"/>
                  </a:ext>
                </a:extLst>
              </a:tr>
              <a:tr h="11411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6340574"/>
                  </a:ext>
                </a:extLst>
              </a:tr>
              <a:tr h="11411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3350851"/>
                  </a:ext>
                </a:extLst>
              </a:tr>
              <a:tr h="11411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93952246"/>
                  </a:ext>
                </a:extLst>
              </a:tr>
              <a:tr h="11411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FOLDER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PLAYSTORE</a:t>
                      </a:r>
                      <a:endParaRPr lang="en-US" sz="8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ASSIST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  <a:p>
                      <a:pPr algn="ctr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Metro Folder</a:t>
                      </a:r>
                    </a:p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Email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Clock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Amazon Shopping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TikTok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2">
                  <a:txBody>
                    <a:bodyPr/>
                    <a:lstStyle/>
                    <a:p>
                      <a:pPr algn="ctr" fontAlgn="b"/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Ad It Up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4285896"/>
                  </a:ext>
                </a:extLst>
              </a:tr>
              <a:tr h="11411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30353757"/>
                  </a:ext>
                </a:extLst>
              </a:tr>
              <a:tr h="11411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6936431"/>
                  </a:ext>
                </a:extLst>
              </a:tr>
              <a:tr h="11411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658764831"/>
                  </a:ext>
                </a:extLst>
              </a:tr>
              <a:tr h="11411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08329055"/>
                  </a:ext>
                </a:extLst>
              </a:tr>
              <a:tr h="11411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Phone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Messages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Contacts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Camera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  <a:p>
                      <a:pPr algn="l" fontAlgn="b"/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 Chrome</a:t>
                      </a:r>
                    </a:p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Phone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Messages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Contacts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2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  <a:p>
                      <a:pPr algn="l" fontAlgn="b"/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 Chrome</a:t>
                      </a:r>
                    </a:p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5096240"/>
                  </a:ext>
                </a:extLst>
              </a:tr>
              <a:tr h="11411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0788147"/>
                  </a:ext>
                </a:extLst>
              </a:tr>
              <a:tr h="11411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6201339"/>
                  </a:ext>
                </a:extLst>
              </a:tr>
              <a:tr h="11411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81655012"/>
                  </a:ext>
                </a:extLst>
              </a:tr>
              <a:tr h="110011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42736861"/>
                  </a:ext>
                </a:extLst>
              </a:tr>
            </a:tbl>
          </a:graphicData>
        </a:graphic>
      </p:graphicFrame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B4DFBEA-C9E3-485D-B4A5-063CDD28548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4484" y="31799"/>
            <a:ext cx="10750998" cy="947750"/>
          </a:xfrm>
        </p:spPr>
        <p:txBody>
          <a:bodyPr>
            <a:normAutofit/>
          </a:bodyPr>
          <a:lstStyle/>
          <a:p>
            <a:r>
              <a:rPr lang="en-US" sz="3200" dirty="0">
                <a:solidFill>
                  <a:srgbClr val="7030A0"/>
                </a:solidFill>
              </a:rPr>
              <a:t>Metro Brand 5x5 (Homescreen + Panel Layout)</a:t>
            </a:r>
          </a:p>
        </p:txBody>
      </p:sp>
      <p:sp>
        <p:nvSpPr>
          <p:cNvPr id="214" name="TextBox 4">
            <a:extLst>
              <a:ext uri="{FF2B5EF4-FFF2-40B4-BE49-F238E27FC236}">
                <a16:creationId xmlns:a16="http://schemas.microsoft.com/office/drawing/2014/main" id="{529360FF-3277-42AE-BDD2-D6A853A668D8}"/>
              </a:ext>
            </a:extLst>
          </p:cNvPr>
          <p:cNvSpPr txBox="1"/>
          <p:nvPr/>
        </p:nvSpPr>
        <p:spPr>
          <a:xfrm>
            <a:off x="433977" y="1277500"/>
            <a:ext cx="1128124" cy="413662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100" dirty="0"/>
              <a:t>Google Discover</a:t>
            </a:r>
          </a:p>
        </p:txBody>
      </p:sp>
      <p:graphicFrame>
        <p:nvGraphicFramePr>
          <p:cNvPr id="219" name="Table 218">
            <a:extLst>
              <a:ext uri="{FF2B5EF4-FFF2-40B4-BE49-F238E27FC236}">
                <a16:creationId xmlns:a16="http://schemas.microsoft.com/office/drawing/2014/main" id="{8B5D9A88-0849-46A4-A3CF-1F96880BBC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2337512"/>
              </p:ext>
            </p:extLst>
          </p:nvPr>
        </p:nvGraphicFramePr>
        <p:xfrm>
          <a:off x="8935674" y="3683400"/>
          <a:ext cx="1635594" cy="2655570"/>
        </p:xfrm>
        <a:graphic>
          <a:graphicData uri="http://schemas.openxmlformats.org/drawingml/2006/table">
            <a:tbl>
              <a:tblPr/>
              <a:tblGrid>
                <a:gridCol w="157218">
                  <a:extLst>
                    <a:ext uri="{9D8B030D-6E8A-4147-A177-3AD203B41FA5}">
                      <a16:colId xmlns:a16="http://schemas.microsoft.com/office/drawing/2014/main" val="3072099247"/>
                    </a:ext>
                  </a:extLst>
                </a:gridCol>
                <a:gridCol w="157218">
                  <a:extLst>
                    <a:ext uri="{9D8B030D-6E8A-4147-A177-3AD203B41FA5}">
                      <a16:colId xmlns:a16="http://schemas.microsoft.com/office/drawing/2014/main" val="2660851657"/>
                    </a:ext>
                  </a:extLst>
                </a:gridCol>
                <a:gridCol w="157218">
                  <a:extLst>
                    <a:ext uri="{9D8B030D-6E8A-4147-A177-3AD203B41FA5}">
                      <a16:colId xmlns:a16="http://schemas.microsoft.com/office/drawing/2014/main" val="4051570774"/>
                    </a:ext>
                  </a:extLst>
                </a:gridCol>
                <a:gridCol w="474926">
                  <a:extLst>
                    <a:ext uri="{9D8B030D-6E8A-4147-A177-3AD203B41FA5}">
                      <a16:colId xmlns:a16="http://schemas.microsoft.com/office/drawing/2014/main" val="841299941"/>
                    </a:ext>
                  </a:extLst>
                </a:gridCol>
                <a:gridCol w="60142">
                  <a:extLst>
                    <a:ext uri="{9D8B030D-6E8A-4147-A177-3AD203B41FA5}">
                      <a16:colId xmlns:a16="http://schemas.microsoft.com/office/drawing/2014/main" val="2697608583"/>
                    </a:ext>
                  </a:extLst>
                </a:gridCol>
                <a:gridCol w="157218">
                  <a:extLst>
                    <a:ext uri="{9D8B030D-6E8A-4147-A177-3AD203B41FA5}">
                      <a16:colId xmlns:a16="http://schemas.microsoft.com/office/drawing/2014/main" val="2261431747"/>
                    </a:ext>
                  </a:extLst>
                </a:gridCol>
                <a:gridCol w="157218">
                  <a:extLst>
                    <a:ext uri="{9D8B030D-6E8A-4147-A177-3AD203B41FA5}">
                      <a16:colId xmlns:a16="http://schemas.microsoft.com/office/drawing/2014/main" val="2738975599"/>
                    </a:ext>
                  </a:extLst>
                </a:gridCol>
                <a:gridCol w="157218">
                  <a:extLst>
                    <a:ext uri="{9D8B030D-6E8A-4147-A177-3AD203B41FA5}">
                      <a16:colId xmlns:a16="http://schemas.microsoft.com/office/drawing/2014/main" val="54138011"/>
                    </a:ext>
                  </a:extLst>
                </a:gridCol>
                <a:gridCol w="157218">
                  <a:extLst>
                    <a:ext uri="{9D8B030D-6E8A-4147-A177-3AD203B41FA5}">
                      <a16:colId xmlns:a16="http://schemas.microsoft.com/office/drawing/2014/main" val="3602541442"/>
                    </a:ext>
                  </a:extLst>
                </a:gridCol>
              </a:tblGrid>
              <a:tr h="163674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Metro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83593485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05454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Metro App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Metro Play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8629493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159240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2367054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705827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Visual Voicemail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kern="1200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8681097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0357925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5990450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885689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Metrozone</a:t>
                      </a:r>
                      <a:endParaRPr lang="en-US" sz="105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142577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9782762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6073934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0527355"/>
                  </a:ext>
                </a:extLst>
              </a:tr>
              <a:tr h="129615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CM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24319942"/>
                  </a:ext>
                </a:extLst>
              </a:tr>
            </a:tbl>
          </a:graphicData>
        </a:graphic>
      </p:graphicFrame>
      <p:graphicFrame>
        <p:nvGraphicFramePr>
          <p:cNvPr id="230" name="Table 229">
            <a:extLst>
              <a:ext uri="{FF2B5EF4-FFF2-40B4-BE49-F238E27FC236}">
                <a16:creationId xmlns:a16="http://schemas.microsoft.com/office/drawing/2014/main" id="{FD363AB1-CF80-413A-83A3-E3976F48C9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1443987"/>
              </p:ext>
            </p:extLst>
          </p:nvPr>
        </p:nvGraphicFramePr>
        <p:xfrm>
          <a:off x="864286" y="5014676"/>
          <a:ext cx="4330725" cy="1785620"/>
        </p:xfrm>
        <a:graphic>
          <a:graphicData uri="http://schemas.openxmlformats.org/drawingml/2006/table">
            <a:tbl>
              <a:tblPr/>
              <a:tblGrid>
                <a:gridCol w="173229">
                  <a:extLst>
                    <a:ext uri="{9D8B030D-6E8A-4147-A177-3AD203B41FA5}">
                      <a16:colId xmlns:a16="http://schemas.microsoft.com/office/drawing/2014/main" val="3668995254"/>
                    </a:ext>
                  </a:extLst>
                </a:gridCol>
                <a:gridCol w="173229">
                  <a:extLst>
                    <a:ext uri="{9D8B030D-6E8A-4147-A177-3AD203B41FA5}">
                      <a16:colId xmlns:a16="http://schemas.microsoft.com/office/drawing/2014/main" val="222988551"/>
                    </a:ext>
                  </a:extLst>
                </a:gridCol>
                <a:gridCol w="173229">
                  <a:extLst>
                    <a:ext uri="{9D8B030D-6E8A-4147-A177-3AD203B41FA5}">
                      <a16:colId xmlns:a16="http://schemas.microsoft.com/office/drawing/2014/main" val="2347258237"/>
                    </a:ext>
                  </a:extLst>
                </a:gridCol>
                <a:gridCol w="173229">
                  <a:extLst>
                    <a:ext uri="{9D8B030D-6E8A-4147-A177-3AD203B41FA5}">
                      <a16:colId xmlns:a16="http://schemas.microsoft.com/office/drawing/2014/main" val="2887936937"/>
                    </a:ext>
                  </a:extLst>
                </a:gridCol>
                <a:gridCol w="173229">
                  <a:extLst>
                    <a:ext uri="{9D8B030D-6E8A-4147-A177-3AD203B41FA5}">
                      <a16:colId xmlns:a16="http://schemas.microsoft.com/office/drawing/2014/main" val="1318809100"/>
                    </a:ext>
                  </a:extLst>
                </a:gridCol>
                <a:gridCol w="173229">
                  <a:extLst>
                    <a:ext uri="{9D8B030D-6E8A-4147-A177-3AD203B41FA5}">
                      <a16:colId xmlns:a16="http://schemas.microsoft.com/office/drawing/2014/main" val="3695280320"/>
                    </a:ext>
                  </a:extLst>
                </a:gridCol>
                <a:gridCol w="173229">
                  <a:extLst>
                    <a:ext uri="{9D8B030D-6E8A-4147-A177-3AD203B41FA5}">
                      <a16:colId xmlns:a16="http://schemas.microsoft.com/office/drawing/2014/main" val="470221836"/>
                    </a:ext>
                  </a:extLst>
                </a:gridCol>
                <a:gridCol w="173229">
                  <a:extLst>
                    <a:ext uri="{9D8B030D-6E8A-4147-A177-3AD203B41FA5}">
                      <a16:colId xmlns:a16="http://schemas.microsoft.com/office/drawing/2014/main" val="2216682646"/>
                    </a:ext>
                  </a:extLst>
                </a:gridCol>
                <a:gridCol w="173229">
                  <a:extLst>
                    <a:ext uri="{9D8B030D-6E8A-4147-A177-3AD203B41FA5}">
                      <a16:colId xmlns:a16="http://schemas.microsoft.com/office/drawing/2014/main" val="2355972019"/>
                    </a:ext>
                  </a:extLst>
                </a:gridCol>
                <a:gridCol w="173229">
                  <a:extLst>
                    <a:ext uri="{9D8B030D-6E8A-4147-A177-3AD203B41FA5}">
                      <a16:colId xmlns:a16="http://schemas.microsoft.com/office/drawing/2014/main" val="3578656401"/>
                    </a:ext>
                  </a:extLst>
                </a:gridCol>
                <a:gridCol w="173229">
                  <a:extLst>
                    <a:ext uri="{9D8B030D-6E8A-4147-A177-3AD203B41FA5}">
                      <a16:colId xmlns:a16="http://schemas.microsoft.com/office/drawing/2014/main" val="123117071"/>
                    </a:ext>
                  </a:extLst>
                </a:gridCol>
                <a:gridCol w="173229">
                  <a:extLst>
                    <a:ext uri="{9D8B030D-6E8A-4147-A177-3AD203B41FA5}">
                      <a16:colId xmlns:a16="http://schemas.microsoft.com/office/drawing/2014/main" val="3320401500"/>
                    </a:ext>
                  </a:extLst>
                </a:gridCol>
                <a:gridCol w="173229">
                  <a:extLst>
                    <a:ext uri="{9D8B030D-6E8A-4147-A177-3AD203B41FA5}">
                      <a16:colId xmlns:a16="http://schemas.microsoft.com/office/drawing/2014/main" val="216105740"/>
                    </a:ext>
                  </a:extLst>
                </a:gridCol>
                <a:gridCol w="173229">
                  <a:extLst>
                    <a:ext uri="{9D8B030D-6E8A-4147-A177-3AD203B41FA5}">
                      <a16:colId xmlns:a16="http://schemas.microsoft.com/office/drawing/2014/main" val="2428869703"/>
                    </a:ext>
                  </a:extLst>
                </a:gridCol>
                <a:gridCol w="173229">
                  <a:extLst>
                    <a:ext uri="{9D8B030D-6E8A-4147-A177-3AD203B41FA5}">
                      <a16:colId xmlns:a16="http://schemas.microsoft.com/office/drawing/2014/main" val="2882220615"/>
                    </a:ext>
                  </a:extLst>
                </a:gridCol>
                <a:gridCol w="173229">
                  <a:extLst>
                    <a:ext uri="{9D8B030D-6E8A-4147-A177-3AD203B41FA5}">
                      <a16:colId xmlns:a16="http://schemas.microsoft.com/office/drawing/2014/main" val="3809203488"/>
                    </a:ext>
                  </a:extLst>
                </a:gridCol>
                <a:gridCol w="173229">
                  <a:extLst>
                    <a:ext uri="{9D8B030D-6E8A-4147-A177-3AD203B41FA5}">
                      <a16:colId xmlns:a16="http://schemas.microsoft.com/office/drawing/2014/main" val="397926968"/>
                    </a:ext>
                  </a:extLst>
                </a:gridCol>
                <a:gridCol w="173229">
                  <a:extLst>
                    <a:ext uri="{9D8B030D-6E8A-4147-A177-3AD203B41FA5}">
                      <a16:colId xmlns:a16="http://schemas.microsoft.com/office/drawing/2014/main" val="2073156503"/>
                    </a:ext>
                  </a:extLst>
                </a:gridCol>
                <a:gridCol w="173229">
                  <a:extLst>
                    <a:ext uri="{9D8B030D-6E8A-4147-A177-3AD203B41FA5}">
                      <a16:colId xmlns:a16="http://schemas.microsoft.com/office/drawing/2014/main" val="3469739955"/>
                    </a:ext>
                  </a:extLst>
                </a:gridCol>
                <a:gridCol w="173229">
                  <a:extLst>
                    <a:ext uri="{9D8B030D-6E8A-4147-A177-3AD203B41FA5}">
                      <a16:colId xmlns:a16="http://schemas.microsoft.com/office/drawing/2014/main" val="1677353316"/>
                    </a:ext>
                  </a:extLst>
                </a:gridCol>
                <a:gridCol w="173229">
                  <a:extLst>
                    <a:ext uri="{9D8B030D-6E8A-4147-A177-3AD203B41FA5}">
                      <a16:colId xmlns:a16="http://schemas.microsoft.com/office/drawing/2014/main" val="3783650352"/>
                    </a:ext>
                  </a:extLst>
                </a:gridCol>
                <a:gridCol w="173229">
                  <a:extLst>
                    <a:ext uri="{9D8B030D-6E8A-4147-A177-3AD203B41FA5}">
                      <a16:colId xmlns:a16="http://schemas.microsoft.com/office/drawing/2014/main" val="3043479574"/>
                    </a:ext>
                  </a:extLst>
                </a:gridCol>
                <a:gridCol w="173229">
                  <a:extLst>
                    <a:ext uri="{9D8B030D-6E8A-4147-A177-3AD203B41FA5}">
                      <a16:colId xmlns:a16="http://schemas.microsoft.com/office/drawing/2014/main" val="1599976022"/>
                    </a:ext>
                  </a:extLst>
                </a:gridCol>
                <a:gridCol w="173229">
                  <a:extLst>
                    <a:ext uri="{9D8B030D-6E8A-4147-A177-3AD203B41FA5}">
                      <a16:colId xmlns:a16="http://schemas.microsoft.com/office/drawing/2014/main" val="3942200419"/>
                    </a:ext>
                  </a:extLst>
                </a:gridCol>
                <a:gridCol w="173229">
                  <a:extLst>
                    <a:ext uri="{9D8B030D-6E8A-4147-A177-3AD203B41FA5}">
                      <a16:colId xmlns:a16="http://schemas.microsoft.com/office/drawing/2014/main" val="2114388392"/>
                    </a:ext>
                  </a:extLst>
                </a:gridCol>
              </a:tblGrid>
              <a:tr h="175989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90249396"/>
                  </a:ext>
                </a:extLst>
              </a:tr>
              <a:tr h="139367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Calendar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Wallet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Chrome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14018275"/>
                  </a:ext>
                </a:extLst>
              </a:tr>
              <a:tr h="139367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7365489"/>
                  </a:ext>
                </a:extLst>
              </a:tr>
              <a:tr h="139367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5294176"/>
                  </a:ext>
                </a:extLst>
              </a:tr>
              <a:tr h="139367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0894459"/>
                  </a:ext>
                </a:extLst>
              </a:tr>
              <a:tr h="139367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Home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One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Search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8432401"/>
                  </a:ext>
                </a:extLst>
              </a:tr>
              <a:tr h="139367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8345979"/>
                  </a:ext>
                </a:extLst>
              </a:tr>
              <a:tr h="139367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045608"/>
                  </a:ext>
                </a:extLst>
              </a:tr>
              <a:tr h="139367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1047355"/>
                  </a:ext>
                </a:extLst>
              </a:tr>
              <a:tr h="139367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OEM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65572867"/>
                  </a:ext>
                </a:extLst>
              </a:tr>
            </a:tbl>
          </a:graphicData>
        </a:graphic>
      </p:graphicFrame>
      <p:cxnSp>
        <p:nvCxnSpPr>
          <p:cNvPr id="239" name="Connector: Elbow 238">
            <a:extLst>
              <a:ext uri="{FF2B5EF4-FFF2-40B4-BE49-F238E27FC236}">
                <a16:creationId xmlns:a16="http://schemas.microsoft.com/office/drawing/2014/main" id="{7E592D28-9836-4A22-9374-6878C0E2F011}"/>
              </a:ext>
            </a:extLst>
          </p:cNvPr>
          <p:cNvCxnSpPr>
            <a:cxnSpLocks/>
          </p:cNvCxnSpPr>
          <p:nvPr/>
        </p:nvCxnSpPr>
        <p:spPr>
          <a:xfrm rot="5400000">
            <a:off x="2582349" y="4313755"/>
            <a:ext cx="835152" cy="208648"/>
          </a:xfrm>
          <a:prstGeom prst="bentConnector3">
            <a:avLst>
              <a:gd name="adj1" fmla="val -182"/>
            </a:avLst>
          </a:prstGeom>
          <a:ln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43" name="Picture 242">
            <a:extLst>
              <a:ext uri="{FF2B5EF4-FFF2-40B4-BE49-F238E27FC236}">
                <a16:creationId xmlns:a16="http://schemas.microsoft.com/office/drawing/2014/main" id="{16DAAD4E-E7A0-4A13-90CE-032F71D27A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51647" y="31799"/>
            <a:ext cx="2163469" cy="652204"/>
          </a:xfrm>
          <a:prstGeom prst="rect">
            <a:avLst/>
          </a:prstGeom>
        </p:spPr>
      </p:pic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AA9CFF15-0E84-4576-8410-A2577D0E445B}"/>
              </a:ext>
            </a:extLst>
          </p:cNvPr>
          <p:cNvCxnSpPr>
            <a:cxnSpLocks/>
          </p:cNvCxnSpPr>
          <p:nvPr/>
        </p:nvCxnSpPr>
        <p:spPr>
          <a:xfrm>
            <a:off x="2745476" y="11682424"/>
            <a:ext cx="28" cy="508149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20" name="TextBox 11">
            <a:extLst>
              <a:ext uri="{FF2B5EF4-FFF2-40B4-BE49-F238E27FC236}">
                <a16:creationId xmlns:a16="http://schemas.microsoft.com/office/drawing/2014/main" id="{2FF09C95-3D1A-43DA-B8C1-971FF82A1A15}"/>
              </a:ext>
            </a:extLst>
          </p:cNvPr>
          <p:cNvSpPr txBox="1"/>
          <p:nvPr/>
        </p:nvSpPr>
        <p:spPr>
          <a:xfrm>
            <a:off x="864286" y="11823712"/>
            <a:ext cx="1463073" cy="272348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/>
              <a:t>Google Discover</a:t>
            </a:r>
          </a:p>
        </p:txBody>
      </p:sp>
      <p:sp>
        <p:nvSpPr>
          <p:cNvPr id="21" name="TextBox 12">
            <a:extLst>
              <a:ext uri="{FF2B5EF4-FFF2-40B4-BE49-F238E27FC236}">
                <a16:creationId xmlns:a16="http://schemas.microsoft.com/office/drawing/2014/main" id="{066D3A9B-B4F6-4B28-AFFD-E0182F468E54}"/>
              </a:ext>
            </a:extLst>
          </p:cNvPr>
          <p:cNvSpPr txBox="1"/>
          <p:nvPr/>
        </p:nvSpPr>
        <p:spPr>
          <a:xfrm>
            <a:off x="864287" y="11823712"/>
            <a:ext cx="1460251" cy="268812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/>
              <a:t>Google Discover</a:t>
            </a:r>
          </a:p>
        </p:txBody>
      </p:sp>
      <p:sp>
        <p:nvSpPr>
          <p:cNvPr id="22" name="TextBox 13">
            <a:extLst>
              <a:ext uri="{FF2B5EF4-FFF2-40B4-BE49-F238E27FC236}">
                <a16:creationId xmlns:a16="http://schemas.microsoft.com/office/drawing/2014/main" id="{7E56E24B-2A55-4DF5-A2BC-23AFD286585C}"/>
              </a:ext>
            </a:extLst>
          </p:cNvPr>
          <p:cNvSpPr txBox="1"/>
          <p:nvPr/>
        </p:nvSpPr>
        <p:spPr>
          <a:xfrm>
            <a:off x="3104250" y="11834823"/>
            <a:ext cx="1460250" cy="260559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/>
              <a:t>T-Mobile Play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468B4B7-A7D1-4355-3B66-8EBE95B90F0F}"/>
              </a:ext>
            </a:extLst>
          </p:cNvPr>
          <p:cNvSpPr txBox="1"/>
          <p:nvPr/>
        </p:nvSpPr>
        <p:spPr>
          <a:xfrm>
            <a:off x="5633305" y="5153737"/>
            <a:ext cx="537467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fontAlgn="b"/>
            <a:r>
              <a:rPr lang="en-US" sz="1000" b="1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Customization Files may be found here: </a:t>
            </a:r>
            <a:br>
              <a:rPr lang="en-US" sz="10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000" b="1" i="0" u="sng" strike="noStrike" dirty="0">
                <a:solidFill>
                  <a:srgbClr val="4472C4"/>
                </a:solidFill>
                <a:effectLst/>
                <a:latin typeface="Calibri" panose="020F0502020204030204" pitchFamily="34" charset="0"/>
                <a:hlinkClick r:id="rId3"/>
              </a:rPr>
              <a:t>https://tmap.t-mobile.com/portals/ayibw7iw/OEMToolkit</a:t>
            </a:r>
            <a:r>
              <a:rPr lang="en-US" sz="1000" b="1" i="0" u="sng" strike="noStrike" dirty="0">
                <a:solidFill>
                  <a:srgbClr val="4472C4"/>
                </a:solidFill>
                <a:effectLst/>
                <a:latin typeface="Calibri" panose="020F0502020204030204" pitchFamily="34" charset="0"/>
              </a:rPr>
              <a:t>  </a:t>
            </a:r>
            <a:br>
              <a:rPr lang="en-US" sz="10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0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This includes brand specific:</a:t>
            </a:r>
            <a:br>
              <a:rPr lang="en-US" sz="10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0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      •Power Up / Boot File animation and mnemonic</a:t>
            </a:r>
            <a:br>
              <a:rPr lang="en-US" sz="10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0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      •Ringtones</a:t>
            </a:r>
            <a:br>
              <a:rPr lang="en-US" sz="10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0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      •T-Mobile / Metro</a:t>
            </a:r>
          </a:p>
          <a:p>
            <a:pPr algn="l" fontAlgn="b"/>
            <a:r>
              <a:rPr lang="en-US" sz="10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NOTES:</a:t>
            </a:r>
            <a:br>
              <a:rPr lang="en-US" sz="10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0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1.  Google One application includes a Set Up Wizard that is required for Metro</a:t>
            </a:r>
          </a:p>
        </p:txBody>
      </p:sp>
      <p:sp>
        <p:nvSpPr>
          <p:cNvPr id="26" name="TextBox 4">
            <a:extLst>
              <a:ext uri="{FF2B5EF4-FFF2-40B4-BE49-F238E27FC236}">
                <a16:creationId xmlns:a16="http://schemas.microsoft.com/office/drawing/2014/main" id="{C3162B4E-D063-8A5F-44BA-B90785245B62}"/>
              </a:ext>
            </a:extLst>
          </p:cNvPr>
          <p:cNvSpPr txBox="1"/>
          <p:nvPr/>
        </p:nvSpPr>
        <p:spPr>
          <a:xfrm>
            <a:off x="1659445" y="1276409"/>
            <a:ext cx="1007556" cy="413662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1100" dirty="0"/>
          </a:p>
        </p:txBody>
      </p: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34896B0C-DD63-A431-D47E-B43E0A6FB198}"/>
              </a:ext>
            </a:extLst>
          </p:cNvPr>
          <p:cNvCxnSpPr/>
          <p:nvPr/>
        </p:nvCxnSpPr>
        <p:spPr>
          <a:xfrm>
            <a:off x="1590866" y="1043940"/>
            <a:ext cx="0" cy="87630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F134D98E-AEDD-05C6-4705-99D4B981BF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68867903"/>
              </p:ext>
            </p:extLst>
          </p:nvPr>
        </p:nvGraphicFramePr>
        <p:xfrm>
          <a:off x="8551647" y="720335"/>
          <a:ext cx="1669767" cy="207939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69767">
                  <a:extLst>
                    <a:ext uri="{9D8B030D-6E8A-4147-A177-3AD203B41FA5}">
                      <a16:colId xmlns:a16="http://schemas.microsoft.com/office/drawing/2014/main" val="4009581341"/>
                    </a:ext>
                  </a:extLst>
                </a:gridCol>
              </a:tblGrid>
              <a:tr h="321267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Plus – One Applications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05086144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Ad-It-Up (AS)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58167358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Amazon Shopping (AS)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37964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TikTok (AS)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80852661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Facebook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3738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Instagram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47147261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WhatsApp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39196830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8C8CDC66-9470-2B9D-09C4-FBDE2D163A8F}"/>
              </a:ext>
            </a:extLst>
          </p:cNvPr>
          <p:cNvSpPr txBox="1"/>
          <p:nvPr/>
        </p:nvSpPr>
        <p:spPr>
          <a:xfrm>
            <a:off x="8551647" y="2727635"/>
            <a:ext cx="171141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900" dirty="0"/>
              <a:t>* Plus-One Applications will follow first available.</a:t>
            </a:r>
          </a:p>
        </p:txBody>
      </p:sp>
      <p:cxnSp>
        <p:nvCxnSpPr>
          <p:cNvPr id="10" name="Connector: Elbow 9">
            <a:extLst>
              <a:ext uri="{FF2B5EF4-FFF2-40B4-BE49-F238E27FC236}">
                <a16:creationId xmlns:a16="http://schemas.microsoft.com/office/drawing/2014/main" id="{75FC9FCC-32A6-70C1-112A-5CAD205CC779}"/>
              </a:ext>
            </a:extLst>
          </p:cNvPr>
          <p:cNvCxnSpPr/>
          <p:nvPr/>
        </p:nvCxnSpPr>
        <p:spPr>
          <a:xfrm>
            <a:off x="5354877" y="3945699"/>
            <a:ext cx="3580796" cy="1040181"/>
          </a:xfrm>
          <a:prstGeom prst="bentConnector3">
            <a:avLst>
              <a:gd name="adj1" fmla="val 7673"/>
            </a:avLst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76017362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B4DFBEA-C9E3-485D-B4A5-063CDD28548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4484" y="31799"/>
            <a:ext cx="10750998" cy="947750"/>
          </a:xfrm>
        </p:spPr>
        <p:txBody>
          <a:bodyPr>
            <a:normAutofit/>
          </a:bodyPr>
          <a:lstStyle/>
          <a:p>
            <a:r>
              <a:rPr lang="en-US" sz="3200" dirty="0">
                <a:solidFill>
                  <a:srgbClr val="7030A0"/>
                </a:solidFill>
              </a:rPr>
              <a:t>Metro Brand 5x5 (APP TRAY)</a:t>
            </a:r>
          </a:p>
        </p:txBody>
      </p:sp>
      <p:pic>
        <p:nvPicPr>
          <p:cNvPr id="243" name="Picture 242">
            <a:extLst>
              <a:ext uri="{FF2B5EF4-FFF2-40B4-BE49-F238E27FC236}">
                <a16:creationId xmlns:a16="http://schemas.microsoft.com/office/drawing/2014/main" id="{16DAAD4E-E7A0-4A13-90CE-032F71D27A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652013" y="52139"/>
            <a:ext cx="2163469" cy="652204"/>
          </a:xfrm>
          <a:prstGeom prst="rect">
            <a:avLst/>
          </a:prstGeom>
        </p:spPr>
      </p:pic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38F4E4A3-E4CD-46AE-B1E5-76B711CE023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6164056"/>
              </p:ext>
            </p:extLst>
          </p:nvPr>
        </p:nvGraphicFramePr>
        <p:xfrm>
          <a:off x="274558" y="704343"/>
          <a:ext cx="3025029" cy="3551922"/>
        </p:xfrm>
        <a:graphic>
          <a:graphicData uri="http://schemas.openxmlformats.org/drawingml/2006/table">
            <a:tbl>
              <a:tblPr/>
              <a:tblGrid>
                <a:gridCol w="144049">
                  <a:extLst>
                    <a:ext uri="{9D8B030D-6E8A-4147-A177-3AD203B41FA5}">
                      <a16:colId xmlns:a16="http://schemas.microsoft.com/office/drawing/2014/main" val="933355095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267368618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42086605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323389816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772806366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118362772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118775345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430771499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87205455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698692008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938746542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697758905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899468884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451287081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665319986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65822108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4268323559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781504376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173086051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768083835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166772097"/>
                    </a:ext>
                  </a:extLst>
                </a:gridCol>
              </a:tblGrid>
              <a:tr h="136020">
                <a:tc gridSpan="21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APP TRAY 1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06057446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2534380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55437204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5099256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8939036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5840780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2026271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49715882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9140929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6200388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7022493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74664731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6194731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36654993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80629522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33556220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7607468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6841080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6030770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9153463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61995223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963671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567714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Phone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Messages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Contacts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Chrome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87908622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28047077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1201237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7453659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781F2800-9BAE-4CD3-8B8D-CE91A41284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6580951"/>
              </p:ext>
            </p:extLst>
          </p:nvPr>
        </p:nvGraphicFramePr>
        <p:xfrm>
          <a:off x="3505990" y="704343"/>
          <a:ext cx="3025029" cy="3551922"/>
        </p:xfrm>
        <a:graphic>
          <a:graphicData uri="http://schemas.openxmlformats.org/drawingml/2006/table">
            <a:tbl>
              <a:tblPr/>
              <a:tblGrid>
                <a:gridCol w="144049">
                  <a:extLst>
                    <a:ext uri="{9D8B030D-6E8A-4147-A177-3AD203B41FA5}">
                      <a16:colId xmlns:a16="http://schemas.microsoft.com/office/drawing/2014/main" val="933355095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267368618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42086605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323389816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772806366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118362772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118775345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430771499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87205455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698692008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938746542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697758905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899468884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451287081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665319986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65822108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4268323559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1781504376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173086051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3768083835"/>
                    </a:ext>
                  </a:extLst>
                </a:gridCol>
                <a:gridCol w="144049">
                  <a:extLst>
                    <a:ext uri="{9D8B030D-6E8A-4147-A177-3AD203B41FA5}">
                      <a16:colId xmlns:a16="http://schemas.microsoft.com/office/drawing/2014/main" val="2166772097"/>
                    </a:ext>
                  </a:extLst>
                </a:gridCol>
              </a:tblGrid>
              <a:tr h="136020">
                <a:tc gridSpan="21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APP TRAY 2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06057446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2534380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55437204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5099256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8939036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5840780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2026271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49715882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9140929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6200388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7022493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74664731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6194731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36654993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80629522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33556220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7607468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6841080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6030770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9153463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61995223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963671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567714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Phone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Messages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Contacts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Chrome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87908622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28047077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1201237"/>
                  </a:ext>
                </a:extLst>
              </a:tr>
              <a:tr h="131337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7453659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084BD0EE-3F05-478F-935E-D48024FC8E7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1841178"/>
              </p:ext>
            </p:extLst>
          </p:nvPr>
        </p:nvGraphicFramePr>
        <p:xfrm>
          <a:off x="8321138" y="3773433"/>
          <a:ext cx="1298732" cy="2159016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298732">
                  <a:extLst>
                    <a:ext uri="{9D8B030D-6E8A-4147-A177-3AD203B41FA5}">
                      <a16:colId xmlns:a16="http://schemas.microsoft.com/office/drawing/2014/main" val="4283747700"/>
                    </a:ext>
                  </a:extLst>
                </a:gridCol>
              </a:tblGrid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OEM FOLDER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214296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5456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2397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7691460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25063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905200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2070764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6544440"/>
                  </a:ext>
                </a:extLst>
              </a:tr>
            </a:tbl>
          </a:graphicData>
        </a:graphic>
      </p:graphicFrame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D82C608A-E4A4-4FE4-83C8-D28C151694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9275311"/>
              </p:ext>
            </p:extLst>
          </p:nvPr>
        </p:nvGraphicFramePr>
        <p:xfrm>
          <a:off x="9714798" y="3773433"/>
          <a:ext cx="1223344" cy="2159016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223344">
                  <a:extLst>
                    <a:ext uri="{9D8B030D-6E8A-4147-A177-3AD203B41FA5}">
                      <a16:colId xmlns:a16="http://schemas.microsoft.com/office/drawing/2014/main" val="4283747700"/>
                    </a:ext>
                  </a:extLst>
                </a:gridCol>
              </a:tblGrid>
              <a:tr h="273476">
                <a:tc>
                  <a:txBody>
                    <a:bodyPr/>
                    <a:lstStyle/>
                    <a:p>
                      <a:r>
                        <a:rPr lang="en-US" sz="1100" dirty="0"/>
                        <a:t> OTHER FOLDER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214296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5456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2397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7691460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25063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905200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2070764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6544440"/>
                  </a:ext>
                </a:extLst>
              </a:tr>
            </a:tbl>
          </a:graphicData>
        </a:graphic>
      </p:graphicFrame>
      <p:graphicFrame>
        <p:nvGraphicFramePr>
          <p:cNvPr id="18" name="Table 17">
            <a:extLst>
              <a:ext uri="{FF2B5EF4-FFF2-40B4-BE49-F238E27FC236}">
                <a16:creationId xmlns:a16="http://schemas.microsoft.com/office/drawing/2014/main" id="{365C2058-AF86-4C1C-B095-AD6AFDE77C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3784304"/>
              </p:ext>
            </p:extLst>
          </p:nvPr>
        </p:nvGraphicFramePr>
        <p:xfrm>
          <a:off x="344882" y="4547811"/>
          <a:ext cx="4842150" cy="1959610"/>
        </p:xfrm>
        <a:graphic>
          <a:graphicData uri="http://schemas.openxmlformats.org/drawingml/2006/table">
            <a:tbl>
              <a:tblPr/>
              <a:tblGrid>
                <a:gridCol w="193686">
                  <a:extLst>
                    <a:ext uri="{9D8B030D-6E8A-4147-A177-3AD203B41FA5}">
                      <a16:colId xmlns:a16="http://schemas.microsoft.com/office/drawing/2014/main" val="3668995254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2298855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347258237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887936937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31880910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69528032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47022183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21668264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355972019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57865640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2311707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32040150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1610574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428869703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882220615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809203488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97926968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073156503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469739955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67735331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783650352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043479574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599976022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942200419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114388392"/>
                    </a:ext>
                  </a:extLst>
                </a:gridCol>
              </a:tblGrid>
              <a:tr h="63404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90249396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759617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Calendar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Wallet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Chrome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14018275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736548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5294176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089445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Home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One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Google Search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8432401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834597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045608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1047355"/>
                  </a:ext>
                </a:extLst>
              </a:tr>
              <a:tr h="121273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OEM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65572867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5001D4F9-F3F9-42E3-BBB2-648C2B857E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8629836"/>
              </p:ext>
            </p:extLst>
          </p:nvPr>
        </p:nvGraphicFramePr>
        <p:xfrm>
          <a:off x="6692372" y="837577"/>
          <a:ext cx="5225070" cy="2856230"/>
        </p:xfrm>
        <a:graphic>
          <a:graphicData uri="http://schemas.openxmlformats.org/drawingml/2006/table">
            <a:tbl>
              <a:tblPr/>
              <a:tblGrid>
                <a:gridCol w="5225070">
                  <a:extLst>
                    <a:ext uri="{9D8B030D-6E8A-4147-A177-3AD203B41FA5}">
                      <a16:colId xmlns:a16="http://schemas.microsoft.com/office/drawing/2014/main" val="383390548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l" fontAlgn="t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For App Tray</a:t>
                      </a:r>
                      <a:b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a. </a:t>
                      </a:r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applications should be placed in </a:t>
                      </a:r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folder</a:t>
                      </a:r>
                      <a:b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b. Ensure Google One is preloaded</a:t>
                      </a:r>
                      <a:b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c. OEM applications should be placed in OEM folder</a:t>
                      </a:r>
                      <a:b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d. OEM applications must be reviewed and approved prior to RC1</a:t>
                      </a:r>
                      <a:b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e. Applications okay to appear in app tray (not in folder)</a:t>
                      </a:r>
                      <a:b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Calculator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Calendar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Camera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Clock 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Contacts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Files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Android Messages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Phone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Settings</a:t>
                      </a:r>
                    </a:p>
                    <a:p>
                      <a:pPr algn="l" fontAlgn="t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algn="l" fontAlgn="t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For Browser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 Chrome Browser Default Homepage -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hlinkClick r:id="rId3"/>
                        </a:rPr>
                        <a:t>https://www.metropcs.mobi/en/home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5186180"/>
                  </a:ext>
                </a:extLst>
              </a:tr>
            </a:tbl>
          </a:graphicData>
        </a:graphic>
      </p:graphicFrame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3390CAC0-35D2-C03F-C340-13C5CFC273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9626111"/>
              </p:ext>
            </p:extLst>
          </p:nvPr>
        </p:nvGraphicFramePr>
        <p:xfrm>
          <a:off x="6545656" y="3773433"/>
          <a:ext cx="1728018" cy="2655570"/>
        </p:xfrm>
        <a:graphic>
          <a:graphicData uri="http://schemas.openxmlformats.org/drawingml/2006/table">
            <a:tbl>
              <a:tblPr/>
              <a:tblGrid>
                <a:gridCol w="206145">
                  <a:extLst>
                    <a:ext uri="{9D8B030D-6E8A-4147-A177-3AD203B41FA5}">
                      <a16:colId xmlns:a16="http://schemas.microsoft.com/office/drawing/2014/main" val="3072099247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2660851657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4051570774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841299941"/>
                    </a:ext>
                  </a:extLst>
                </a:gridCol>
                <a:gridCol w="78858">
                  <a:extLst>
                    <a:ext uri="{9D8B030D-6E8A-4147-A177-3AD203B41FA5}">
                      <a16:colId xmlns:a16="http://schemas.microsoft.com/office/drawing/2014/main" val="2697608583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2261431747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2738975599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54138011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3602541442"/>
                    </a:ext>
                  </a:extLst>
                </a:gridCol>
              </a:tblGrid>
              <a:tr h="211476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Metro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83593485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05454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Metro App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Metro Play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8629493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159240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2367054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705827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Visual Voicemail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8681097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0357925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5990450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885689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Metro</a:t>
                      </a:r>
                    </a:p>
                    <a:p>
                      <a:pPr algn="ctr" fontAlgn="ctr"/>
                      <a:r>
                        <a:rPr 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Zone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142577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9782762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6073934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0527355"/>
                  </a:ext>
                </a:extLst>
              </a:tr>
              <a:tr h="167470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CM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24319942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216C6922-E358-277F-0D94-A20ADAF3F8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8362203"/>
              </p:ext>
            </p:extLst>
          </p:nvPr>
        </p:nvGraphicFramePr>
        <p:xfrm>
          <a:off x="10967888" y="3773433"/>
          <a:ext cx="1103709" cy="2556100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103709">
                  <a:extLst>
                    <a:ext uri="{9D8B030D-6E8A-4147-A177-3AD203B41FA5}">
                      <a16:colId xmlns:a16="http://schemas.microsoft.com/office/drawing/2014/main" val="4283747700"/>
                    </a:ext>
                  </a:extLst>
                </a:gridCol>
              </a:tblGrid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App Tray</a:t>
                      </a:r>
                    </a:p>
                    <a:p>
                      <a:pPr algn="ctr"/>
                      <a:r>
                        <a:rPr lang="en-US" sz="800" dirty="0"/>
                        <a:t>Based on placement order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214296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Ad-It-Up (AS)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5456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Amazon Shopping (AS)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2397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TikTok (AS)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7691460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Facebook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25063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Instagram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905200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WhatsApp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2070764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65444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43448837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6A4DEF40-9FAA-488A-8DC3-B93DDD0D686A}"/>
              </a:ext>
            </a:extLst>
          </p:cNvPr>
          <p:cNvSpPr txBox="1"/>
          <p:nvPr/>
        </p:nvSpPr>
        <p:spPr>
          <a:xfrm>
            <a:off x="372381" y="2776301"/>
            <a:ext cx="7902375" cy="523220"/>
          </a:xfrm>
          <a:prstGeom prst="rect">
            <a:avLst/>
          </a:prstGeom>
          <a:noFill/>
          <a:ln w="28575">
            <a:solidFill>
              <a:srgbClr val="7030A0"/>
            </a:solidFill>
          </a:ln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rgbClr val="7030A0"/>
                </a:solidFill>
              </a:rPr>
              <a:t>SMARTPHONE - METRO 4X5 SCREEN SIZE TEMPLATE</a:t>
            </a:r>
          </a:p>
        </p:txBody>
      </p:sp>
    </p:spTree>
    <p:extLst>
      <p:ext uri="{BB962C8B-B14F-4D97-AF65-F5344CB8AC3E}">
        <p14:creationId xmlns:p14="http://schemas.microsoft.com/office/powerpoint/2010/main" val="292728452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8A1DE5-698D-F95E-61FB-3713823514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74E5DEB0-D1E9-D6EF-3BA8-053A997EA9B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4484" y="31799"/>
            <a:ext cx="10750998" cy="947750"/>
          </a:xfrm>
        </p:spPr>
        <p:txBody>
          <a:bodyPr>
            <a:normAutofit/>
          </a:bodyPr>
          <a:lstStyle/>
          <a:p>
            <a:r>
              <a:rPr lang="en-US" sz="3200" dirty="0">
                <a:solidFill>
                  <a:srgbClr val="7030A0"/>
                </a:solidFill>
              </a:rPr>
              <a:t>Metro Brand 4x5 (Lock +Unlock)</a:t>
            </a:r>
          </a:p>
        </p:txBody>
      </p:sp>
      <p:pic>
        <p:nvPicPr>
          <p:cNvPr id="243" name="Picture 242">
            <a:extLst>
              <a:ext uri="{FF2B5EF4-FFF2-40B4-BE49-F238E27FC236}">
                <a16:creationId xmlns:a16="http://schemas.microsoft.com/office/drawing/2014/main" id="{BF97C222-EE1A-FCB1-7F41-E89F8101001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440811" y="31799"/>
            <a:ext cx="2163469" cy="652204"/>
          </a:xfrm>
          <a:prstGeom prst="rect">
            <a:avLst/>
          </a:prstGeom>
        </p:spPr>
      </p:pic>
      <p:sp>
        <p:nvSpPr>
          <p:cNvPr id="20" name="TextBox 11">
            <a:extLst>
              <a:ext uri="{FF2B5EF4-FFF2-40B4-BE49-F238E27FC236}">
                <a16:creationId xmlns:a16="http://schemas.microsoft.com/office/drawing/2014/main" id="{A5E63F71-F105-1796-D538-965969CEE3DF}"/>
              </a:ext>
            </a:extLst>
          </p:cNvPr>
          <p:cNvSpPr txBox="1"/>
          <p:nvPr/>
        </p:nvSpPr>
        <p:spPr>
          <a:xfrm>
            <a:off x="864286" y="11823712"/>
            <a:ext cx="1463073" cy="272348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/>
              <a:t>Google Discover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D48422C2-1918-FBB8-0B60-4C32EB1A2F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2641248"/>
              </p:ext>
            </p:extLst>
          </p:nvPr>
        </p:nvGraphicFramePr>
        <p:xfrm>
          <a:off x="460753" y="666025"/>
          <a:ext cx="4285417" cy="4537282"/>
        </p:xfrm>
        <a:graphic>
          <a:graphicData uri="http://schemas.openxmlformats.org/drawingml/2006/table">
            <a:tbl>
              <a:tblPr/>
              <a:tblGrid>
                <a:gridCol w="323199">
                  <a:extLst>
                    <a:ext uri="{9D8B030D-6E8A-4147-A177-3AD203B41FA5}">
                      <a16:colId xmlns:a16="http://schemas.microsoft.com/office/drawing/2014/main" val="122851149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38574171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1034406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765835962"/>
                    </a:ext>
                  </a:extLst>
                </a:gridCol>
                <a:gridCol w="227994">
                  <a:extLst>
                    <a:ext uri="{9D8B030D-6E8A-4147-A177-3AD203B41FA5}">
                      <a16:colId xmlns:a16="http://schemas.microsoft.com/office/drawing/2014/main" val="3032794130"/>
                    </a:ext>
                  </a:extLst>
                </a:gridCol>
                <a:gridCol w="276517">
                  <a:extLst>
                    <a:ext uri="{9D8B030D-6E8A-4147-A177-3AD203B41FA5}">
                      <a16:colId xmlns:a16="http://schemas.microsoft.com/office/drawing/2014/main" val="541524318"/>
                    </a:ext>
                  </a:extLst>
                </a:gridCol>
                <a:gridCol w="243662">
                  <a:extLst>
                    <a:ext uri="{9D8B030D-6E8A-4147-A177-3AD203B41FA5}">
                      <a16:colId xmlns:a16="http://schemas.microsoft.com/office/drawing/2014/main" val="147404175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87507260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136874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18794909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42879882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2678500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5382073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72920100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415853704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86910272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558557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255814577"/>
                    </a:ext>
                  </a:extLst>
                </a:gridCol>
                <a:gridCol w="323199">
                  <a:extLst>
                    <a:ext uri="{9D8B030D-6E8A-4147-A177-3AD203B41FA5}">
                      <a16:colId xmlns:a16="http://schemas.microsoft.com/office/drawing/2014/main" val="650234665"/>
                    </a:ext>
                  </a:extLst>
                </a:gridCol>
              </a:tblGrid>
              <a:tr h="205879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Lock Screen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0995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704942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6546747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1761008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238531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8044488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gridSpan="15">
                  <a:txBody>
                    <a:bodyPr/>
                    <a:lstStyle/>
                    <a:p>
                      <a:pPr algn="ctr" fontAlgn="ctr"/>
                      <a:r>
                        <a:rPr lang="en-US" sz="20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Metro Play</a:t>
                      </a:r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4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9239566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7918914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8934769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496596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2743560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6333289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9844401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28475292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3377790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5461106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8258329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6355017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6054402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746340574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2335085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9395224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428589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3035375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6969364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6587648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0832905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4509624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7078814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58620133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1655012"/>
                  </a:ext>
                </a:extLst>
              </a:tr>
              <a:tr h="13485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242736861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45FC7A00-5BD8-10DE-F326-808442AF6E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0404111"/>
              </p:ext>
            </p:extLst>
          </p:nvPr>
        </p:nvGraphicFramePr>
        <p:xfrm>
          <a:off x="5358006" y="684003"/>
          <a:ext cx="4285417" cy="4537282"/>
        </p:xfrm>
        <a:graphic>
          <a:graphicData uri="http://schemas.openxmlformats.org/drawingml/2006/table">
            <a:tbl>
              <a:tblPr/>
              <a:tblGrid>
                <a:gridCol w="323199">
                  <a:extLst>
                    <a:ext uri="{9D8B030D-6E8A-4147-A177-3AD203B41FA5}">
                      <a16:colId xmlns:a16="http://schemas.microsoft.com/office/drawing/2014/main" val="122851149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38574171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1034406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765835962"/>
                    </a:ext>
                  </a:extLst>
                </a:gridCol>
                <a:gridCol w="227994">
                  <a:extLst>
                    <a:ext uri="{9D8B030D-6E8A-4147-A177-3AD203B41FA5}">
                      <a16:colId xmlns:a16="http://schemas.microsoft.com/office/drawing/2014/main" val="3032794130"/>
                    </a:ext>
                  </a:extLst>
                </a:gridCol>
                <a:gridCol w="276517">
                  <a:extLst>
                    <a:ext uri="{9D8B030D-6E8A-4147-A177-3AD203B41FA5}">
                      <a16:colId xmlns:a16="http://schemas.microsoft.com/office/drawing/2014/main" val="541524318"/>
                    </a:ext>
                  </a:extLst>
                </a:gridCol>
                <a:gridCol w="243662">
                  <a:extLst>
                    <a:ext uri="{9D8B030D-6E8A-4147-A177-3AD203B41FA5}">
                      <a16:colId xmlns:a16="http://schemas.microsoft.com/office/drawing/2014/main" val="147404175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87507260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136874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18794909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42879882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2678500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5382073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72920100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415853704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86910272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558557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255814577"/>
                    </a:ext>
                  </a:extLst>
                </a:gridCol>
                <a:gridCol w="323199">
                  <a:extLst>
                    <a:ext uri="{9D8B030D-6E8A-4147-A177-3AD203B41FA5}">
                      <a16:colId xmlns:a16="http://schemas.microsoft.com/office/drawing/2014/main" val="650234665"/>
                    </a:ext>
                  </a:extLst>
                </a:gridCol>
              </a:tblGrid>
              <a:tr h="205879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Unlock Screen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0995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704942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gridSpan="15">
                  <a:txBody>
                    <a:bodyPr/>
                    <a:lstStyle/>
                    <a:p>
                      <a:pPr algn="ctr" fontAlgn="ctr"/>
                      <a:r>
                        <a:rPr lang="en-US" sz="20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MetroZone</a:t>
                      </a:r>
                      <a:endParaRPr lang="en-US" sz="2000" b="0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8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6546747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1761008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238531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8044488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9239566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7918914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8934769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496596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2743560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6333289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9844401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28475292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3377790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5461106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8258329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6355017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6054402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746340574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2335085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9395224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428589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3035375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6969364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6587648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0832905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4509624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7078814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58620133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1655012"/>
                  </a:ext>
                </a:extLst>
              </a:tr>
              <a:tr h="13485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24273686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D66433C1-523D-9A0B-16AA-E1AC529A2F3D}"/>
              </a:ext>
            </a:extLst>
          </p:cNvPr>
          <p:cNvSpPr txBox="1"/>
          <p:nvPr/>
        </p:nvSpPr>
        <p:spPr>
          <a:xfrm>
            <a:off x="606558" y="5206856"/>
            <a:ext cx="6050561" cy="646331"/>
          </a:xfrm>
          <a:prstGeom prst="rect">
            <a:avLst/>
          </a:prstGeom>
          <a:noFill/>
        </p:spPr>
        <p:txBody>
          <a:bodyPr wrap="square" lIns="91440" tIns="45720" rIns="91440" bIns="45720" anchor="t">
            <a:spAutoFit/>
          </a:bodyPr>
          <a:lstStyle/>
          <a:p>
            <a:pPr fontAlgn="b"/>
            <a:r>
              <a:rPr lang="en-US" sz="1200" b="1" i="0" u="none" strike="noStrike" dirty="0">
                <a:solidFill>
                  <a:srgbClr val="000000"/>
                </a:solidFill>
                <a:effectLst/>
                <a:latin typeface="Calibri"/>
                <a:ea typeface="Calibri"/>
                <a:cs typeface="Calibri"/>
              </a:rPr>
              <a:t>OEM Instructions: </a:t>
            </a:r>
            <a:r>
              <a:rPr lang="en-US" sz="1200" b="1" i="0" u="sng" strike="noStrike" dirty="0">
                <a:solidFill>
                  <a:srgbClr val="4472C4"/>
                </a:solidFill>
                <a:effectLst/>
                <a:latin typeface="Calibri"/>
                <a:ea typeface="Calibri"/>
                <a:cs typeface="Calibri"/>
              </a:rPr>
              <a:t> </a:t>
            </a:r>
            <a:br>
              <a:rPr lang="en-US" sz="1200" b="0" i="0" u="none" strike="noStrike" dirty="0"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/>
                <a:ea typeface="Calibri"/>
                <a:cs typeface="Calibri"/>
              </a:rPr>
              <a:t>Please provid</a:t>
            </a:r>
            <a:r>
              <a:rPr lang="en-US" sz="1200" dirty="0">
                <a:solidFill>
                  <a:srgbClr val="000000"/>
                </a:solidFill>
                <a:latin typeface="Calibri"/>
                <a:ea typeface="Calibri"/>
                <a:cs typeface="Calibri"/>
              </a:rPr>
              <a:t>e the mapping or the device’s Lock and Unlock screen. Please feel free to </a:t>
            </a:r>
            <a:r>
              <a:rPr lang="en-US" sz="1200">
                <a:solidFill>
                  <a:srgbClr val="000000"/>
                </a:solidFill>
                <a:latin typeface="Calibri"/>
                <a:ea typeface="Calibri"/>
                <a:cs typeface="Calibri"/>
              </a:rPr>
              <a:t>populate the screens as you would with any other device screen. </a:t>
            </a:r>
            <a:endParaRPr lang="en-US" sz="1200" b="0" i="0" u="none" strike="noStrike">
              <a:solidFill>
                <a:srgbClr val="000000"/>
              </a:solidFill>
              <a:effectLst/>
              <a:latin typeface="Calibri" panose="020F0502020204030204" pitchFamily="34" charset="0"/>
              <a:ea typeface="Calibri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88153331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B4DFBEA-C9E3-485D-B4A5-063CDD28548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4484" y="31799"/>
            <a:ext cx="10750998" cy="947750"/>
          </a:xfrm>
        </p:spPr>
        <p:txBody>
          <a:bodyPr>
            <a:normAutofit/>
          </a:bodyPr>
          <a:lstStyle/>
          <a:p>
            <a:r>
              <a:rPr lang="en-US" sz="3200" dirty="0">
                <a:solidFill>
                  <a:srgbClr val="7030A0"/>
                </a:solidFill>
              </a:rPr>
              <a:t>Metro Brand 4x5 (Homescreen + Panel Layout)</a:t>
            </a:r>
          </a:p>
        </p:txBody>
      </p:sp>
      <p:graphicFrame>
        <p:nvGraphicFramePr>
          <p:cNvPr id="230" name="Table 229">
            <a:extLst>
              <a:ext uri="{FF2B5EF4-FFF2-40B4-BE49-F238E27FC236}">
                <a16:creationId xmlns:a16="http://schemas.microsoft.com/office/drawing/2014/main" id="{FD363AB1-CF80-413A-83A3-E3976F48C9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3206000"/>
              </p:ext>
            </p:extLst>
          </p:nvPr>
        </p:nvGraphicFramePr>
        <p:xfrm>
          <a:off x="242910" y="4674430"/>
          <a:ext cx="4842150" cy="1959610"/>
        </p:xfrm>
        <a:graphic>
          <a:graphicData uri="http://schemas.openxmlformats.org/drawingml/2006/table">
            <a:tbl>
              <a:tblPr/>
              <a:tblGrid>
                <a:gridCol w="193686">
                  <a:extLst>
                    <a:ext uri="{9D8B030D-6E8A-4147-A177-3AD203B41FA5}">
                      <a16:colId xmlns:a16="http://schemas.microsoft.com/office/drawing/2014/main" val="3668995254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2298855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347258237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887936937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31880910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69528032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47022183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21668264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355972019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57865640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2311707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32040150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1610574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428869703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882220615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809203488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97926968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073156503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469739955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67735331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783650352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043479574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599976022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942200419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114388392"/>
                    </a:ext>
                  </a:extLst>
                </a:gridCol>
              </a:tblGrid>
              <a:tr h="63404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90249396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759617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Calendar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Wallet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Chrome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14018275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736548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5294176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089445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Home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One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Search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8432401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834597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045608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1047355"/>
                  </a:ext>
                </a:extLst>
              </a:tr>
              <a:tr h="121273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OEM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65572867"/>
                  </a:ext>
                </a:extLst>
              </a:tr>
            </a:tbl>
          </a:graphicData>
        </a:graphic>
      </p:graphicFrame>
      <p:cxnSp>
        <p:nvCxnSpPr>
          <p:cNvPr id="239" name="Connector: Elbow 238">
            <a:extLst>
              <a:ext uri="{FF2B5EF4-FFF2-40B4-BE49-F238E27FC236}">
                <a16:creationId xmlns:a16="http://schemas.microsoft.com/office/drawing/2014/main" id="{7E592D28-9836-4A22-9374-6878C0E2F011}"/>
              </a:ext>
            </a:extLst>
          </p:cNvPr>
          <p:cNvCxnSpPr>
            <a:cxnSpLocks/>
          </p:cNvCxnSpPr>
          <p:nvPr/>
        </p:nvCxnSpPr>
        <p:spPr>
          <a:xfrm rot="5400000">
            <a:off x="3164020" y="3866395"/>
            <a:ext cx="1057501" cy="558569"/>
          </a:xfrm>
          <a:prstGeom prst="bentConnector3">
            <a:avLst>
              <a:gd name="adj1" fmla="val 21438"/>
            </a:avLst>
          </a:prstGeom>
          <a:ln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43" name="Picture 242">
            <a:extLst>
              <a:ext uri="{FF2B5EF4-FFF2-40B4-BE49-F238E27FC236}">
                <a16:creationId xmlns:a16="http://schemas.microsoft.com/office/drawing/2014/main" id="{16DAAD4E-E7A0-4A13-90CE-032F71D27A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51647" y="31799"/>
            <a:ext cx="2163469" cy="652204"/>
          </a:xfrm>
          <a:prstGeom prst="rect">
            <a:avLst/>
          </a:prstGeom>
        </p:spPr>
      </p:pic>
      <p:sp>
        <p:nvSpPr>
          <p:cNvPr id="26" name="TextBox 25">
            <a:extLst>
              <a:ext uri="{FF2B5EF4-FFF2-40B4-BE49-F238E27FC236}">
                <a16:creationId xmlns:a16="http://schemas.microsoft.com/office/drawing/2014/main" id="{C8FA1BD2-DDD1-4D14-8F05-8F54C9242F34}"/>
              </a:ext>
            </a:extLst>
          </p:cNvPr>
          <p:cNvSpPr txBox="1"/>
          <p:nvPr/>
        </p:nvSpPr>
        <p:spPr>
          <a:xfrm>
            <a:off x="5317243" y="4702543"/>
            <a:ext cx="6050561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fontAlgn="b"/>
            <a:r>
              <a:rPr lang="en-US" sz="1200" b="1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Customization Files may be found here: 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1" i="0" u="sng" strike="noStrike" dirty="0">
                <a:solidFill>
                  <a:srgbClr val="4472C4"/>
                </a:solidFill>
                <a:effectLst/>
                <a:latin typeface="Calibri" panose="020F0502020204030204" pitchFamily="34" charset="0"/>
                <a:hlinkClick r:id="rId3"/>
              </a:rPr>
              <a:t>https://tmap.t-mobile.com/portals/ayibw7iw/OEMToolkit</a:t>
            </a:r>
            <a:r>
              <a:rPr lang="en-US" sz="1200" b="1" i="0" u="sng" strike="noStrike" dirty="0">
                <a:solidFill>
                  <a:srgbClr val="4472C4"/>
                </a:solidFill>
                <a:effectLst/>
                <a:latin typeface="Calibri" panose="020F0502020204030204" pitchFamily="34" charset="0"/>
              </a:rPr>
              <a:t>  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This includes brand specific: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      •Power Up / Boot File animation and mnemonic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      •Ringtones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      •T-Mobile / Metro</a:t>
            </a:r>
          </a:p>
          <a:p>
            <a:pPr algn="l" fontAlgn="b"/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NOTES: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1.  Google One application includes a Set Up Wizard that is required for Metro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53B6BC1F-9753-44C1-8072-028969A51C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3350448"/>
              </p:ext>
            </p:extLst>
          </p:nvPr>
        </p:nvGraphicFramePr>
        <p:xfrm>
          <a:off x="110933" y="712506"/>
          <a:ext cx="8903085" cy="3931280"/>
        </p:xfrm>
        <a:graphic>
          <a:graphicData uri="http://schemas.openxmlformats.org/drawingml/2006/table">
            <a:tbl>
              <a:tblPr/>
              <a:tblGrid>
                <a:gridCol w="269722">
                  <a:extLst>
                    <a:ext uri="{9D8B030D-6E8A-4147-A177-3AD203B41FA5}">
                      <a16:colId xmlns:a16="http://schemas.microsoft.com/office/drawing/2014/main" val="947363704"/>
                    </a:ext>
                  </a:extLst>
                </a:gridCol>
                <a:gridCol w="93795">
                  <a:extLst>
                    <a:ext uri="{9D8B030D-6E8A-4147-A177-3AD203B41FA5}">
                      <a16:colId xmlns:a16="http://schemas.microsoft.com/office/drawing/2014/main" val="2394045977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3846963999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1588285735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1011655017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1344848565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3092031331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3655141436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200639636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402579899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4200685535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3860874278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3233904416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1253517324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1751812913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1306382723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3424520722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361159578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3188952846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221597561"/>
                    </a:ext>
                  </a:extLst>
                </a:gridCol>
                <a:gridCol w="25400">
                  <a:extLst>
                    <a:ext uri="{9D8B030D-6E8A-4147-A177-3AD203B41FA5}">
                      <a16:colId xmlns:a16="http://schemas.microsoft.com/office/drawing/2014/main" val="140124802"/>
                    </a:ext>
                  </a:extLst>
                </a:gridCol>
                <a:gridCol w="64950">
                  <a:extLst>
                    <a:ext uri="{9D8B030D-6E8A-4147-A177-3AD203B41FA5}">
                      <a16:colId xmlns:a16="http://schemas.microsoft.com/office/drawing/2014/main" val="502442076"/>
                    </a:ext>
                  </a:extLst>
                </a:gridCol>
                <a:gridCol w="414877">
                  <a:extLst>
                    <a:ext uri="{9D8B030D-6E8A-4147-A177-3AD203B41FA5}">
                      <a16:colId xmlns:a16="http://schemas.microsoft.com/office/drawing/2014/main" val="4159342905"/>
                    </a:ext>
                  </a:extLst>
                </a:gridCol>
                <a:gridCol w="221807">
                  <a:extLst>
                    <a:ext uri="{9D8B030D-6E8A-4147-A177-3AD203B41FA5}">
                      <a16:colId xmlns:a16="http://schemas.microsoft.com/office/drawing/2014/main" val="1956925455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947992730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4011950166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3451450146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2590734444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470315534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4138820101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3487186641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2902758123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412900482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1239127212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1833106027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2516041682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3772407256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3489775716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1048645918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1979477548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2416575377"/>
                    </a:ext>
                  </a:extLst>
                </a:gridCol>
                <a:gridCol w="221807">
                  <a:extLst>
                    <a:ext uri="{9D8B030D-6E8A-4147-A177-3AD203B41FA5}">
                      <a16:colId xmlns:a16="http://schemas.microsoft.com/office/drawing/2014/main" val="2729073804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2136205277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2505540689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2915439722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3845263496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3306173959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3771603089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309335245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2651146577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3272057196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1791897070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4213816720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2419145264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2300673673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377379573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4248387469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914873011"/>
                    </a:ext>
                  </a:extLst>
                </a:gridCol>
                <a:gridCol w="141710">
                  <a:extLst>
                    <a:ext uri="{9D8B030D-6E8A-4147-A177-3AD203B41FA5}">
                      <a16:colId xmlns:a16="http://schemas.microsoft.com/office/drawing/2014/main" val="3111820780"/>
                    </a:ext>
                  </a:extLst>
                </a:gridCol>
                <a:gridCol w="221807">
                  <a:extLst>
                    <a:ext uri="{9D8B030D-6E8A-4147-A177-3AD203B41FA5}">
                      <a16:colId xmlns:a16="http://schemas.microsoft.com/office/drawing/2014/main" val="4124362850"/>
                    </a:ext>
                  </a:extLst>
                </a:gridCol>
              </a:tblGrid>
              <a:tr h="15893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1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1L - Minus One Screen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Home- Screen 0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1R - Plus One Screen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588867"/>
                  </a:ext>
                </a:extLst>
              </a:tr>
              <a:tr h="13913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1997010"/>
                  </a:ext>
                </a:extLst>
              </a:tr>
              <a:tr h="13913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24" gridSpan="19">
                  <a:txBody>
                    <a:bodyPr/>
                    <a:lstStyle/>
                    <a:p>
                      <a:pPr algn="ctr" fontAlgn="b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Assistant (-1 Minus One) page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15"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Search (4x1)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15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MetroZone</a:t>
                      </a:r>
                      <a:r>
                        <a:rPr 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 (4X1)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1789132"/>
                  </a:ext>
                </a:extLst>
              </a:tr>
              <a:tr h="13913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549064"/>
                  </a:ext>
                </a:extLst>
              </a:tr>
              <a:tr h="13913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26103846"/>
                  </a:ext>
                </a:extLst>
              </a:tr>
              <a:tr h="13913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0451086"/>
                  </a:ext>
                </a:extLst>
              </a:tr>
              <a:tr h="13913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5490179"/>
                  </a:ext>
                </a:extLst>
              </a:tr>
              <a:tr h="13913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0109704"/>
                  </a:ext>
                </a:extLst>
              </a:tr>
              <a:tr h="13913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5355828"/>
                  </a:ext>
                </a:extLst>
              </a:tr>
              <a:tr h="13913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9290695"/>
                  </a:ext>
                </a:extLst>
              </a:tr>
              <a:tr h="13913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3875777"/>
                  </a:ext>
                </a:extLst>
              </a:tr>
              <a:tr h="13913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4113447"/>
                  </a:ext>
                </a:extLst>
              </a:tr>
              <a:tr h="13913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5382896"/>
                  </a:ext>
                </a:extLst>
              </a:tr>
              <a:tr h="13913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1670864"/>
                  </a:ext>
                </a:extLst>
              </a:tr>
              <a:tr h="13913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Ad It Up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9539107"/>
                  </a:ext>
                </a:extLst>
              </a:tr>
              <a:tr h="13913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1669468"/>
                  </a:ext>
                </a:extLst>
              </a:tr>
              <a:tr h="13913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85573458"/>
                  </a:ext>
                </a:extLst>
              </a:tr>
              <a:tr h="13913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44892233"/>
                  </a:ext>
                </a:extLst>
              </a:tr>
              <a:tr h="13913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FOLDER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PLAYSTORE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GOOGLE ASSISTANT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Metro Folder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Email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Clock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Amazon Shopping</a:t>
                      </a:r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TikTok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9800723"/>
                  </a:ext>
                </a:extLst>
              </a:tr>
              <a:tr h="13913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8986698"/>
                  </a:ext>
                </a:extLst>
              </a:tr>
              <a:tr h="13913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0688310"/>
                  </a:ext>
                </a:extLst>
              </a:tr>
              <a:tr h="13913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7118983"/>
                  </a:ext>
                </a:extLst>
              </a:tr>
              <a:tr h="13913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2512416"/>
                  </a:ext>
                </a:extLst>
              </a:tr>
              <a:tr h="13913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Phone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Messages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Chrome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Phone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Messages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Chrome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243641"/>
                  </a:ext>
                </a:extLst>
              </a:tr>
              <a:tr h="13913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4983427"/>
                  </a:ext>
                </a:extLst>
              </a:tr>
              <a:tr h="146104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2697650"/>
                  </a:ext>
                </a:extLst>
              </a:tr>
              <a:tr h="13913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6200336"/>
                  </a:ext>
                </a:extLst>
              </a:tr>
              <a:tr h="139136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5526446"/>
                  </a:ext>
                </a:extLst>
              </a:tr>
            </a:tbl>
          </a:graphicData>
        </a:graphic>
      </p:graphicFrame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A97857B5-159A-4BD3-A031-591151CD7DF2}"/>
              </a:ext>
            </a:extLst>
          </p:cNvPr>
          <p:cNvCxnSpPr/>
          <p:nvPr/>
        </p:nvCxnSpPr>
        <p:spPr>
          <a:xfrm flipH="1">
            <a:off x="4111625" y="12763500"/>
            <a:ext cx="14288" cy="69215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24" name="TextBox 10">
            <a:extLst>
              <a:ext uri="{FF2B5EF4-FFF2-40B4-BE49-F238E27FC236}">
                <a16:creationId xmlns:a16="http://schemas.microsoft.com/office/drawing/2014/main" id="{C1E8AF97-2939-4037-9790-DF42F9448BD0}"/>
              </a:ext>
            </a:extLst>
          </p:cNvPr>
          <p:cNvSpPr txBox="1"/>
          <p:nvPr/>
        </p:nvSpPr>
        <p:spPr>
          <a:xfrm>
            <a:off x="2244725" y="12904788"/>
            <a:ext cx="1614488" cy="369887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/>
              <a:t>Google Discover</a:t>
            </a:r>
          </a:p>
        </p:txBody>
      </p:sp>
      <p:sp>
        <p:nvSpPr>
          <p:cNvPr id="25" name="TextBox 11">
            <a:extLst>
              <a:ext uri="{FF2B5EF4-FFF2-40B4-BE49-F238E27FC236}">
                <a16:creationId xmlns:a16="http://schemas.microsoft.com/office/drawing/2014/main" id="{5C28CBDF-8060-419F-A3FC-CE92B6308871}"/>
              </a:ext>
            </a:extLst>
          </p:cNvPr>
          <p:cNvSpPr txBox="1"/>
          <p:nvPr/>
        </p:nvSpPr>
        <p:spPr>
          <a:xfrm>
            <a:off x="2244725" y="12904788"/>
            <a:ext cx="1611313" cy="366712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/>
              <a:t>Google Discover</a:t>
            </a:r>
          </a:p>
        </p:txBody>
      </p:sp>
      <p:sp>
        <p:nvSpPr>
          <p:cNvPr id="27" name="TextBox 12">
            <a:extLst>
              <a:ext uri="{FF2B5EF4-FFF2-40B4-BE49-F238E27FC236}">
                <a16:creationId xmlns:a16="http://schemas.microsoft.com/office/drawing/2014/main" id="{A98431EA-C281-4830-9F34-8B9DC01B8B19}"/>
              </a:ext>
            </a:extLst>
          </p:cNvPr>
          <p:cNvSpPr txBox="1"/>
          <p:nvPr/>
        </p:nvSpPr>
        <p:spPr>
          <a:xfrm>
            <a:off x="4484688" y="12915900"/>
            <a:ext cx="1606550" cy="355600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/>
              <a:t>T-Mobile Play</a:t>
            </a:r>
          </a:p>
        </p:txBody>
      </p:sp>
      <p:cxnSp>
        <p:nvCxnSpPr>
          <p:cNvPr id="11" name="Connector: Elbow 10">
            <a:extLst>
              <a:ext uri="{FF2B5EF4-FFF2-40B4-BE49-F238E27FC236}">
                <a16:creationId xmlns:a16="http://schemas.microsoft.com/office/drawing/2014/main" id="{3A72B2A3-9DC6-4F46-A528-0FABAD46FEE6}"/>
              </a:ext>
            </a:extLst>
          </p:cNvPr>
          <p:cNvCxnSpPr/>
          <p:nvPr/>
        </p:nvCxnSpPr>
        <p:spPr>
          <a:xfrm>
            <a:off x="6041184" y="3450749"/>
            <a:ext cx="3529336" cy="327901"/>
          </a:xfrm>
          <a:prstGeom prst="bentConnector3">
            <a:avLst>
              <a:gd name="adj1" fmla="val 6741"/>
            </a:avLst>
          </a:prstGeom>
          <a:ln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4">
            <a:extLst>
              <a:ext uri="{FF2B5EF4-FFF2-40B4-BE49-F238E27FC236}">
                <a16:creationId xmlns:a16="http://schemas.microsoft.com/office/drawing/2014/main" id="{82AD1731-304F-481D-B2AD-DABAC04CA24A}"/>
              </a:ext>
            </a:extLst>
          </p:cNvPr>
          <p:cNvSpPr txBox="1"/>
          <p:nvPr/>
        </p:nvSpPr>
        <p:spPr>
          <a:xfrm>
            <a:off x="534837" y="1024057"/>
            <a:ext cx="1183459" cy="355600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100" dirty="0"/>
              <a:t>Google Discover</a:t>
            </a:r>
          </a:p>
        </p:txBody>
      </p:sp>
      <p:sp>
        <p:nvSpPr>
          <p:cNvPr id="15" name="TextBox 4">
            <a:extLst>
              <a:ext uri="{FF2B5EF4-FFF2-40B4-BE49-F238E27FC236}">
                <a16:creationId xmlns:a16="http://schemas.microsoft.com/office/drawing/2014/main" id="{870EAA95-A5F3-4972-AEEB-D2E891089DBD}"/>
              </a:ext>
            </a:extLst>
          </p:cNvPr>
          <p:cNvSpPr txBox="1"/>
          <p:nvPr/>
        </p:nvSpPr>
        <p:spPr>
          <a:xfrm>
            <a:off x="1741521" y="1024058"/>
            <a:ext cx="1308860" cy="355599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1200" dirty="0"/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6035743F-3B45-E2FF-6D17-8179E9C970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7770565"/>
              </p:ext>
            </p:extLst>
          </p:nvPr>
        </p:nvGraphicFramePr>
        <p:xfrm>
          <a:off x="9437922" y="3425222"/>
          <a:ext cx="1728018" cy="2655570"/>
        </p:xfrm>
        <a:graphic>
          <a:graphicData uri="http://schemas.openxmlformats.org/drawingml/2006/table">
            <a:tbl>
              <a:tblPr/>
              <a:tblGrid>
                <a:gridCol w="206145">
                  <a:extLst>
                    <a:ext uri="{9D8B030D-6E8A-4147-A177-3AD203B41FA5}">
                      <a16:colId xmlns:a16="http://schemas.microsoft.com/office/drawing/2014/main" val="3072099247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2660851657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4051570774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841299941"/>
                    </a:ext>
                  </a:extLst>
                </a:gridCol>
                <a:gridCol w="78858">
                  <a:extLst>
                    <a:ext uri="{9D8B030D-6E8A-4147-A177-3AD203B41FA5}">
                      <a16:colId xmlns:a16="http://schemas.microsoft.com/office/drawing/2014/main" val="2697608583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2261431747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2738975599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54138011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3602541442"/>
                    </a:ext>
                  </a:extLst>
                </a:gridCol>
              </a:tblGrid>
              <a:tr h="211476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Metro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83593485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05454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Metro App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Metro Play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8629493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159240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2367054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705827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Visual Voicemail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8681097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0357925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5990450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885689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Metro</a:t>
                      </a:r>
                    </a:p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Zone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142577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9782762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6073934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0527355"/>
                  </a:ext>
                </a:extLst>
              </a:tr>
              <a:tr h="167470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CM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24319942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E7E6E264-3D51-D54E-183F-2044803630B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7221886"/>
              </p:ext>
            </p:extLst>
          </p:nvPr>
        </p:nvGraphicFramePr>
        <p:xfrm>
          <a:off x="9079866" y="742760"/>
          <a:ext cx="1669767" cy="207939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69767">
                  <a:extLst>
                    <a:ext uri="{9D8B030D-6E8A-4147-A177-3AD203B41FA5}">
                      <a16:colId xmlns:a16="http://schemas.microsoft.com/office/drawing/2014/main" val="4009581341"/>
                    </a:ext>
                  </a:extLst>
                </a:gridCol>
              </a:tblGrid>
              <a:tr h="321267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Plus – One Applications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05086144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Ad-It-Up (AS)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58167358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Amazon Shopping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37964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TikTok (AS)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80852661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Facebook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3738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Instagram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47147261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WhatsApp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39196830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5A70EC58-A6F9-4D31-376F-904569DBE9F7}"/>
              </a:ext>
            </a:extLst>
          </p:cNvPr>
          <p:cNvSpPr txBox="1"/>
          <p:nvPr/>
        </p:nvSpPr>
        <p:spPr>
          <a:xfrm>
            <a:off x="9104070" y="2813722"/>
            <a:ext cx="171141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900" dirty="0"/>
              <a:t>* Plus-One Applications will follow first available.</a:t>
            </a:r>
          </a:p>
        </p:txBody>
      </p:sp>
    </p:spTree>
    <p:extLst>
      <p:ext uri="{BB962C8B-B14F-4D97-AF65-F5344CB8AC3E}">
        <p14:creationId xmlns:p14="http://schemas.microsoft.com/office/powerpoint/2010/main" val="237909120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B4DFBEA-C9E3-485D-B4A5-063CDD28548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73110" y="0"/>
            <a:ext cx="10750998" cy="947750"/>
          </a:xfrm>
        </p:spPr>
        <p:txBody>
          <a:bodyPr>
            <a:normAutofit/>
          </a:bodyPr>
          <a:lstStyle/>
          <a:p>
            <a:r>
              <a:rPr lang="en-US" sz="3200" dirty="0">
                <a:solidFill>
                  <a:srgbClr val="7030A0"/>
                </a:solidFill>
              </a:rPr>
              <a:t>Metro Brand 4x5 (APP TRAY)</a:t>
            </a:r>
          </a:p>
        </p:txBody>
      </p:sp>
      <p:pic>
        <p:nvPicPr>
          <p:cNvPr id="243" name="Picture 242">
            <a:extLst>
              <a:ext uri="{FF2B5EF4-FFF2-40B4-BE49-F238E27FC236}">
                <a16:creationId xmlns:a16="http://schemas.microsoft.com/office/drawing/2014/main" id="{16DAAD4E-E7A0-4A13-90CE-032F71D27A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660639" y="20340"/>
            <a:ext cx="2163469" cy="652204"/>
          </a:xfrm>
          <a:prstGeom prst="rect">
            <a:avLst/>
          </a:prstGeom>
        </p:spPr>
      </p:pic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084BD0EE-3F05-478F-935E-D48024FC8E7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7049219"/>
              </p:ext>
            </p:extLst>
          </p:nvPr>
        </p:nvGraphicFramePr>
        <p:xfrm>
          <a:off x="7483205" y="3759534"/>
          <a:ext cx="1298732" cy="2159016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298732">
                  <a:extLst>
                    <a:ext uri="{9D8B030D-6E8A-4147-A177-3AD203B41FA5}">
                      <a16:colId xmlns:a16="http://schemas.microsoft.com/office/drawing/2014/main" val="4283747700"/>
                    </a:ext>
                  </a:extLst>
                </a:gridCol>
              </a:tblGrid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OEM FOLDER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214296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5456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2397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7691460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25063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905200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2070764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6544440"/>
                  </a:ext>
                </a:extLst>
              </a:tr>
            </a:tbl>
          </a:graphicData>
        </a:graphic>
      </p:graphicFrame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D82C608A-E4A4-4FE4-83C8-D28C151694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9842576"/>
              </p:ext>
            </p:extLst>
          </p:nvPr>
        </p:nvGraphicFramePr>
        <p:xfrm>
          <a:off x="8907059" y="3759534"/>
          <a:ext cx="1223344" cy="2159016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223344">
                  <a:extLst>
                    <a:ext uri="{9D8B030D-6E8A-4147-A177-3AD203B41FA5}">
                      <a16:colId xmlns:a16="http://schemas.microsoft.com/office/drawing/2014/main" val="4283747700"/>
                    </a:ext>
                  </a:extLst>
                </a:gridCol>
              </a:tblGrid>
              <a:tr h="273476">
                <a:tc>
                  <a:txBody>
                    <a:bodyPr/>
                    <a:lstStyle/>
                    <a:p>
                      <a:r>
                        <a:rPr lang="en-US" sz="1100" dirty="0"/>
                        <a:t> OTHER FOLDER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214296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5456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2397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7691460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25063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905200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2070764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6544440"/>
                  </a:ext>
                </a:extLst>
              </a:tr>
            </a:tbl>
          </a:graphicData>
        </a:graphic>
      </p:graphicFrame>
      <p:graphicFrame>
        <p:nvGraphicFramePr>
          <p:cNvPr id="18" name="Table 17">
            <a:extLst>
              <a:ext uri="{FF2B5EF4-FFF2-40B4-BE49-F238E27FC236}">
                <a16:creationId xmlns:a16="http://schemas.microsoft.com/office/drawing/2014/main" id="{365C2058-AF86-4C1C-B095-AD6AFDE77C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2166478"/>
              </p:ext>
            </p:extLst>
          </p:nvPr>
        </p:nvGraphicFramePr>
        <p:xfrm>
          <a:off x="353508" y="4516012"/>
          <a:ext cx="4842150" cy="1959610"/>
        </p:xfrm>
        <a:graphic>
          <a:graphicData uri="http://schemas.openxmlformats.org/drawingml/2006/table">
            <a:tbl>
              <a:tblPr/>
              <a:tblGrid>
                <a:gridCol w="193686">
                  <a:extLst>
                    <a:ext uri="{9D8B030D-6E8A-4147-A177-3AD203B41FA5}">
                      <a16:colId xmlns:a16="http://schemas.microsoft.com/office/drawing/2014/main" val="3668995254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2298855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347258237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887936937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31880910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69528032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47022183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21668264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355972019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57865640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2311707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32040150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1610574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428869703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882220615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809203488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97926968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073156503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469739955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67735331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783650352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043479574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599976022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942200419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114388392"/>
                    </a:ext>
                  </a:extLst>
                </a:gridCol>
              </a:tblGrid>
              <a:tr h="63404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90249396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759617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Calendar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Wallet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Chrome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14018275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736548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5294176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089445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Home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One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Search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8432401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834597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045608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1047355"/>
                  </a:ext>
                </a:extLst>
              </a:tr>
              <a:tr h="121273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OEM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65572867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5001D4F9-F3F9-42E3-BBB2-648C2B857E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4511667"/>
              </p:ext>
            </p:extLst>
          </p:nvPr>
        </p:nvGraphicFramePr>
        <p:xfrm>
          <a:off x="5794970" y="787732"/>
          <a:ext cx="5715000" cy="2856230"/>
        </p:xfrm>
        <a:graphic>
          <a:graphicData uri="http://schemas.openxmlformats.org/drawingml/2006/table">
            <a:tbl>
              <a:tblPr/>
              <a:tblGrid>
                <a:gridCol w="5715000">
                  <a:extLst>
                    <a:ext uri="{9D8B030D-6E8A-4147-A177-3AD203B41FA5}">
                      <a16:colId xmlns:a16="http://schemas.microsoft.com/office/drawing/2014/main" val="383390548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l" fontAlgn="t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For App Tray</a:t>
                      </a:r>
                      <a:b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a. </a:t>
                      </a:r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applications should be placed in </a:t>
                      </a:r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folder</a:t>
                      </a:r>
                      <a:b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b. Ensure Google One is preloaded</a:t>
                      </a:r>
                      <a:b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c. OEM applications should be placed in OEM folder</a:t>
                      </a:r>
                      <a:b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d. OEM applications must be reviewed and approved prior to RC1</a:t>
                      </a:r>
                      <a:b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e. Applications okay to appear in app tray (not in folder)</a:t>
                      </a:r>
                      <a:b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Calculator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Calendar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Camera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Clock 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Contacts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Files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Android Messages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Phone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Settings</a:t>
                      </a:r>
                    </a:p>
                    <a:p>
                      <a:pPr algn="l" fontAlgn="t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algn="l" fontAlgn="t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For Browser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 Chrome Browser Default Homepage -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hlinkClick r:id="rId3"/>
                        </a:rPr>
                        <a:t>https://www.metropcs.mobi/en/home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5186180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4A26869F-CA25-46F0-A3A8-49D3788F71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5802594"/>
              </p:ext>
            </p:extLst>
          </p:nvPr>
        </p:nvGraphicFramePr>
        <p:xfrm>
          <a:off x="259304" y="555555"/>
          <a:ext cx="2736633" cy="3818403"/>
        </p:xfrm>
        <a:graphic>
          <a:graphicData uri="http://schemas.openxmlformats.org/drawingml/2006/table">
            <a:tbl>
              <a:tblPr/>
              <a:tblGrid>
                <a:gridCol w="212784">
                  <a:extLst>
                    <a:ext uri="{9D8B030D-6E8A-4147-A177-3AD203B41FA5}">
                      <a16:colId xmlns:a16="http://schemas.microsoft.com/office/drawing/2014/main" val="3299109205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2642216649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3367986530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1306185330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3928681563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3069260933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1724915062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3035117237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1767058961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4124190453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3876659155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1618398171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2168098835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2721710650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2956115263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1599886507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4284287349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595287895"/>
                    </a:ext>
                  </a:extLst>
                </a:gridCol>
                <a:gridCol w="212784">
                  <a:extLst>
                    <a:ext uri="{9D8B030D-6E8A-4147-A177-3AD203B41FA5}">
                      <a16:colId xmlns:a16="http://schemas.microsoft.com/office/drawing/2014/main" val="246304984"/>
                    </a:ext>
                  </a:extLst>
                </a:gridCol>
              </a:tblGrid>
              <a:tr h="13676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APP TRAY 1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605734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0994833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5624582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3775325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07533010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0397404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3622089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2520607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068347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7592767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4008248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5466075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0202441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3279957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3753526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8576230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8197176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4482997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8248386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93938960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4556956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1904682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32838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Phone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Messages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Chrome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2619111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464294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92815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041982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4429965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7864D794-FEB1-4D09-92F5-EBDC2EDDFD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5948123"/>
              </p:ext>
            </p:extLst>
          </p:nvPr>
        </p:nvGraphicFramePr>
        <p:xfrm>
          <a:off x="3121768" y="554821"/>
          <a:ext cx="2736633" cy="3818403"/>
        </p:xfrm>
        <a:graphic>
          <a:graphicData uri="http://schemas.openxmlformats.org/drawingml/2006/table">
            <a:tbl>
              <a:tblPr/>
              <a:tblGrid>
                <a:gridCol w="212784">
                  <a:extLst>
                    <a:ext uri="{9D8B030D-6E8A-4147-A177-3AD203B41FA5}">
                      <a16:colId xmlns:a16="http://schemas.microsoft.com/office/drawing/2014/main" val="3299109205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2642216649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3367986530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1306185330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3928681563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3069260933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1724915062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3035117237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1767058961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4124190453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3876659155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1618398171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2168098835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2721710650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2956115263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1599886507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4284287349"/>
                    </a:ext>
                  </a:extLst>
                </a:gridCol>
                <a:gridCol w="135945">
                  <a:extLst>
                    <a:ext uri="{9D8B030D-6E8A-4147-A177-3AD203B41FA5}">
                      <a16:colId xmlns:a16="http://schemas.microsoft.com/office/drawing/2014/main" val="595287895"/>
                    </a:ext>
                  </a:extLst>
                </a:gridCol>
                <a:gridCol w="212784">
                  <a:extLst>
                    <a:ext uri="{9D8B030D-6E8A-4147-A177-3AD203B41FA5}">
                      <a16:colId xmlns:a16="http://schemas.microsoft.com/office/drawing/2014/main" val="246304984"/>
                    </a:ext>
                  </a:extLst>
                </a:gridCol>
              </a:tblGrid>
              <a:tr h="94519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APP TRAY 2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605734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0994833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5624582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3775325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07533010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0397404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3622089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2520607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068347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7592767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4008248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5466075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0202441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3279957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3753526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8576230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8197176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4482997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8248386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93938960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4556956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1904682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32838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Phone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Messages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Chrome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2619111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464294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92815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041982"/>
                  </a:ext>
                </a:extLst>
              </a:tr>
              <a:tr h="13561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4429965"/>
                  </a:ext>
                </a:extLst>
              </a:tr>
            </a:tbl>
          </a:graphicData>
        </a:graphic>
      </p:graphicFrame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115544BC-683B-552C-CC89-34C4A47C6A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7794489"/>
              </p:ext>
            </p:extLst>
          </p:nvPr>
        </p:nvGraphicFramePr>
        <p:xfrm>
          <a:off x="5724525" y="3759150"/>
          <a:ext cx="1668678" cy="2655570"/>
        </p:xfrm>
        <a:graphic>
          <a:graphicData uri="http://schemas.openxmlformats.org/drawingml/2006/table">
            <a:tbl>
              <a:tblPr/>
              <a:tblGrid>
                <a:gridCol w="199066">
                  <a:extLst>
                    <a:ext uri="{9D8B030D-6E8A-4147-A177-3AD203B41FA5}">
                      <a16:colId xmlns:a16="http://schemas.microsoft.com/office/drawing/2014/main" val="3072099247"/>
                    </a:ext>
                  </a:extLst>
                </a:gridCol>
                <a:gridCol w="199066">
                  <a:extLst>
                    <a:ext uri="{9D8B030D-6E8A-4147-A177-3AD203B41FA5}">
                      <a16:colId xmlns:a16="http://schemas.microsoft.com/office/drawing/2014/main" val="2660851657"/>
                    </a:ext>
                  </a:extLst>
                </a:gridCol>
                <a:gridCol w="199066">
                  <a:extLst>
                    <a:ext uri="{9D8B030D-6E8A-4147-A177-3AD203B41FA5}">
                      <a16:colId xmlns:a16="http://schemas.microsoft.com/office/drawing/2014/main" val="4051570774"/>
                    </a:ext>
                  </a:extLst>
                </a:gridCol>
                <a:gridCol w="199066">
                  <a:extLst>
                    <a:ext uri="{9D8B030D-6E8A-4147-A177-3AD203B41FA5}">
                      <a16:colId xmlns:a16="http://schemas.microsoft.com/office/drawing/2014/main" val="841299941"/>
                    </a:ext>
                  </a:extLst>
                </a:gridCol>
                <a:gridCol w="76150">
                  <a:extLst>
                    <a:ext uri="{9D8B030D-6E8A-4147-A177-3AD203B41FA5}">
                      <a16:colId xmlns:a16="http://schemas.microsoft.com/office/drawing/2014/main" val="2697608583"/>
                    </a:ext>
                  </a:extLst>
                </a:gridCol>
                <a:gridCol w="199066">
                  <a:extLst>
                    <a:ext uri="{9D8B030D-6E8A-4147-A177-3AD203B41FA5}">
                      <a16:colId xmlns:a16="http://schemas.microsoft.com/office/drawing/2014/main" val="2261431747"/>
                    </a:ext>
                  </a:extLst>
                </a:gridCol>
                <a:gridCol w="199066">
                  <a:extLst>
                    <a:ext uri="{9D8B030D-6E8A-4147-A177-3AD203B41FA5}">
                      <a16:colId xmlns:a16="http://schemas.microsoft.com/office/drawing/2014/main" val="2738975599"/>
                    </a:ext>
                  </a:extLst>
                </a:gridCol>
                <a:gridCol w="199066">
                  <a:extLst>
                    <a:ext uri="{9D8B030D-6E8A-4147-A177-3AD203B41FA5}">
                      <a16:colId xmlns:a16="http://schemas.microsoft.com/office/drawing/2014/main" val="54138011"/>
                    </a:ext>
                  </a:extLst>
                </a:gridCol>
                <a:gridCol w="199066">
                  <a:extLst>
                    <a:ext uri="{9D8B030D-6E8A-4147-A177-3AD203B41FA5}">
                      <a16:colId xmlns:a16="http://schemas.microsoft.com/office/drawing/2014/main" val="3602541442"/>
                    </a:ext>
                  </a:extLst>
                </a:gridCol>
              </a:tblGrid>
              <a:tr h="211476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Metro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83593485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05454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Metro App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Metro Play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8629493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159240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2367054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705827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Visual Voicemail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8681097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0357925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5990450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885689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Metro</a:t>
                      </a:r>
                    </a:p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Zone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142577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9782762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6073934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0527355"/>
                  </a:ext>
                </a:extLst>
              </a:tr>
              <a:tr h="167470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CM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24319942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8701D71E-002B-80A5-5115-1BE59DE0EE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0502508"/>
              </p:ext>
            </p:extLst>
          </p:nvPr>
        </p:nvGraphicFramePr>
        <p:xfrm>
          <a:off x="10255525" y="3759150"/>
          <a:ext cx="1103709" cy="2556100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103709">
                  <a:extLst>
                    <a:ext uri="{9D8B030D-6E8A-4147-A177-3AD203B41FA5}">
                      <a16:colId xmlns:a16="http://schemas.microsoft.com/office/drawing/2014/main" val="4283747700"/>
                    </a:ext>
                  </a:extLst>
                </a:gridCol>
              </a:tblGrid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App Tray</a:t>
                      </a:r>
                    </a:p>
                    <a:p>
                      <a:pPr algn="ctr"/>
                      <a:r>
                        <a:rPr lang="en-US" sz="800" dirty="0"/>
                        <a:t>Based on placement order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214296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Ad-It-Up (AS)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5456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Amazon Shopping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2397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TikTok (AS)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7691460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Facebook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25063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Instagram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905200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WhatsApp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2070764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65444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59221320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6A4DEF40-9FAA-488A-8DC3-B93DDD0D686A}"/>
              </a:ext>
            </a:extLst>
          </p:cNvPr>
          <p:cNvSpPr txBox="1"/>
          <p:nvPr/>
        </p:nvSpPr>
        <p:spPr>
          <a:xfrm>
            <a:off x="372381" y="2776301"/>
            <a:ext cx="7902375" cy="523220"/>
          </a:xfrm>
          <a:prstGeom prst="rect">
            <a:avLst/>
          </a:prstGeom>
          <a:noFill/>
          <a:ln w="28575">
            <a:solidFill>
              <a:srgbClr val="7030A0"/>
            </a:solidFill>
          </a:ln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rgbClr val="7030A0"/>
                </a:solidFill>
              </a:rPr>
              <a:t>SMARTPHONE - METRO 4X6 SCREEN SIZE TEMPLATE</a:t>
            </a:r>
          </a:p>
        </p:txBody>
      </p:sp>
    </p:spTree>
    <p:extLst>
      <p:ext uri="{BB962C8B-B14F-4D97-AF65-F5344CB8AC3E}">
        <p14:creationId xmlns:p14="http://schemas.microsoft.com/office/powerpoint/2010/main" val="416248866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925176-1CF0-3B05-4794-93E31A5A6B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49D8FF34-7F5B-2625-EFB4-DC27683946F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4484" y="31799"/>
            <a:ext cx="10750998" cy="947750"/>
          </a:xfrm>
        </p:spPr>
        <p:txBody>
          <a:bodyPr>
            <a:normAutofit/>
          </a:bodyPr>
          <a:lstStyle/>
          <a:p>
            <a:r>
              <a:rPr lang="en-US" sz="3200" dirty="0">
                <a:solidFill>
                  <a:srgbClr val="7030A0"/>
                </a:solidFill>
              </a:rPr>
              <a:t>Metro Brand 4x6 (Lock +Unlock)</a:t>
            </a:r>
          </a:p>
        </p:txBody>
      </p:sp>
      <p:pic>
        <p:nvPicPr>
          <p:cNvPr id="243" name="Picture 242">
            <a:extLst>
              <a:ext uri="{FF2B5EF4-FFF2-40B4-BE49-F238E27FC236}">
                <a16:creationId xmlns:a16="http://schemas.microsoft.com/office/drawing/2014/main" id="{388E13A0-DB57-D08C-82B8-C2ECB2E1688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440811" y="31799"/>
            <a:ext cx="2163469" cy="652204"/>
          </a:xfrm>
          <a:prstGeom prst="rect">
            <a:avLst/>
          </a:prstGeom>
        </p:spPr>
      </p:pic>
      <p:sp>
        <p:nvSpPr>
          <p:cNvPr id="20" name="TextBox 11">
            <a:extLst>
              <a:ext uri="{FF2B5EF4-FFF2-40B4-BE49-F238E27FC236}">
                <a16:creationId xmlns:a16="http://schemas.microsoft.com/office/drawing/2014/main" id="{BDD55ACE-7F1C-C98E-2BEA-1BBFDD3EFA45}"/>
              </a:ext>
            </a:extLst>
          </p:cNvPr>
          <p:cNvSpPr txBox="1"/>
          <p:nvPr/>
        </p:nvSpPr>
        <p:spPr>
          <a:xfrm>
            <a:off x="864286" y="11823712"/>
            <a:ext cx="1463073" cy="272348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/>
              <a:t>Google Discover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042CF3F4-3E78-6BC7-1894-4B8CDE111E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1275456"/>
              </p:ext>
            </p:extLst>
          </p:nvPr>
        </p:nvGraphicFramePr>
        <p:xfrm>
          <a:off x="460753" y="666025"/>
          <a:ext cx="4285417" cy="4537282"/>
        </p:xfrm>
        <a:graphic>
          <a:graphicData uri="http://schemas.openxmlformats.org/drawingml/2006/table">
            <a:tbl>
              <a:tblPr/>
              <a:tblGrid>
                <a:gridCol w="323199">
                  <a:extLst>
                    <a:ext uri="{9D8B030D-6E8A-4147-A177-3AD203B41FA5}">
                      <a16:colId xmlns:a16="http://schemas.microsoft.com/office/drawing/2014/main" val="122851149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38574171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1034406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765835962"/>
                    </a:ext>
                  </a:extLst>
                </a:gridCol>
                <a:gridCol w="227994">
                  <a:extLst>
                    <a:ext uri="{9D8B030D-6E8A-4147-A177-3AD203B41FA5}">
                      <a16:colId xmlns:a16="http://schemas.microsoft.com/office/drawing/2014/main" val="3032794130"/>
                    </a:ext>
                  </a:extLst>
                </a:gridCol>
                <a:gridCol w="276517">
                  <a:extLst>
                    <a:ext uri="{9D8B030D-6E8A-4147-A177-3AD203B41FA5}">
                      <a16:colId xmlns:a16="http://schemas.microsoft.com/office/drawing/2014/main" val="541524318"/>
                    </a:ext>
                  </a:extLst>
                </a:gridCol>
                <a:gridCol w="243662">
                  <a:extLst>
                    <a:ext uri="{9D8B030D-6E8A-4147-A177-3AD203B41FA5}">
                      <a16:colId xmlns:a16="http://schemas.microsoft.com/office/drawing/2014/main" val="147404175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87507260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136874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18794909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42879882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2678500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5382073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72920100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415853704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86910272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558557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255814577"/>
                    </a:ext>
                  </a:extLst>
                </a:gridCol>
                <a:gridCol w="323199">
                  <a:extLst>
                    <a:ext uri="{9D8B030D-6E8A-4147-A177-3AD203B41FA5}">
                      <a16:colId xmlns:a16="http://schemas.microsoft.com/office/drawing/2014/main" val="650234665"/>
                    </a:ext>
                  </a:extLst>
                </a:gridCol>
              </a:tblGrid>
              <a:tr h="205879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Lock Screen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0995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704942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6546747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1761008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238531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8044488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gridSpan="15">
                  <a:txBody>
                    <a:bodyPr/>
                    <a:lstStyle/>
                    <a:p>
                      <a:pPr algn="ctr" fontAlgn="ctr"/>
                      <a:r>
                        <a:rPr lang="en-US" sz="20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Metro Play</a:t>
                      </a:r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4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9239566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7918914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8934769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496596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2743560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6333289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9844401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28475292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3377790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5461106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8258329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6355017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6054402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746340574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2335085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9395224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428589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3035375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6969364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6587648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0832905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4509624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7078814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58620133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1655012"/>
                  </a:ext>
                </a:extLst>
              </a:tr>
              <a:tr h="13485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242736861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A8D9CEA0-0575-42E7-B69C-12131FCC82C8}"/>
              </a:ext>
            </a:extLst>
          </p:cNvPr>
          <p:cNvGraphicFramePr>
            <a:graphicFrameLocks noGrp="1"/>
          </p:cNvGraphicFramePr>
          <p:nvPr/>
        </p:nvGraphicFramePr>
        <p:xfrm>
          <a:off x="5358006" y="684003"/>
          <a:ext cx="4285417" cy="4537282"/>
        </p:xfrm>
        <a:graphic>
          <a:graphicData uri="http://schemas.openxmlformats.org/drawingml/2006/table">
            <a:tbl>
              <a:tblPr/>
              <a:tblGrid>
                <a:gridCol w="323199">
                  <a:extLst>
                    <a:ext uri="{9D8B030D-6E8A-4147-A177-3AD203B41FA5}">
                      <a16:colId xmlns:a16="http://schemas.microsoft.com/office/drawing/2014/main" val="122851149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38574171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1034406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765835962"/>
                    </a:ext>
                  </a:extLst>
                </a:gridCol>
                <a:gridCol w="227994">
                  <a:extLst>
                    <a:ext uri="{9D8B030D-6E8A-4147-A177-3AD203B41FA5}">
                      <a16:colId xmlns:a16="http://schemas.microsoft.com/office/drawing/2014/main" val="3032794130"/>
                    </a:ext>
                  </a:extLst>
                </a:gridCol>
                <a:gridCol w="276517">
                  <a:extLst>
                    <a:ext uri="{9D8B030D-6E8A-4147-A177-3AD203B41FA5}">
                      <a16:colId xmlns:a16="http://schemas.microsoft.com/office/drawing/2014/main" val="541524318"/>
                    </a:ext>
                  </a:extLst>
                </a:gridCol>
                <a:gridCol w="243662">
                  <a:extLst>
                    <a:ext uri="{9D8B030D-6E8A-4147-A177-3AD203B41FA5}">
                      <a16:colId xmlns:a16="http://schemas.microsoft.com/office/drawing/2014/main" val="147404175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87507260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136874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18794909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42879882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2678500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5382073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72920100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415853704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86910272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558557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255814577"/>
                    </a:ext>
                  </a:extLst>
                </a:gridCol>
                <a:gridCol w="323199">
                  <a:extLst>
                    <a:ext uri="{9D8B030D-6E8A-4147-A177-3AD203B41FA5}">
                      <a16:colId xmlns:a16="http://schemas.microsoft.com/office/drawing/2014/main" val="650234665"/>
                    </a:ext>
                  </a:extLst>
                </a:gridCol>
              </a:tblGrid>
              <a:tr h="205879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Unlock Screen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0995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704942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gridSpan="15">
                  <a:txBody>
                    <a:bodyPr/>
                    <a:lstStyle/>
                    <a:p>
                      <a:pPr algn="ctr" fontAlgn="ctr"/>
                      <a:r>
                        <a:rPr lang="en-US" sz="20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MetroZone</a:t>
                      </a:r>
                      <a:endParaRPr lang="en-US" sz="2000" b="0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8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6546747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1761008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238531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8044488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9239566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7918914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8934769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496596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2743560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6333289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9844401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28475292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3377790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5461106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8258329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6355017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6054402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746340574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2335085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9395224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428589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3035375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6969364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6587648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0832905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4509624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7078814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58620133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1655012"/>
                  </a:ext>
                </a:extLst>
              </a:tr>
              <a:tr h="13485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24273686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E9683AC-E5F6-75A5-441E-5ACEB16F1696}"/>
              </a:ext>
            </a:extLst>
          </p:cNvPr>
          <p:cNvSpPr txBox="1"/>
          <p:nvPr/>
        </p:nvSpPr>
        <p:spPr>
          <a:xfrm>
            <a:off x="606558" y="5206856"/>
            <a:ext cx="6050561" cy="646331"/>
          </a:xfrm>
          <a:prstGeom prst="rect">
            <a:avLst/>
          </a:prstGeom>
          <a:noFill/>
        </p:spPr>
        <p:txBody>
          <a:bodyPr wrap="square" lIns="91440" tIns="45720" rIns="91440" bIns="45720" anchor="t">
            <a:spAutoFit/>
          </a:bodyPr>
          <a:lstStyle/>
          <a:p>
            <a:pPr fontAlgn="b"/>
            <a:r>
              <a:rPr lang="en-US" sz="1200" b="1" i="0" u="none" strike="noStrike" dirty="0">
                <a:solidFill>
                  <a:srgbClr val="000000"/>
                </a:solidFill>
                <a:effectLst/>
                <a:latin typeface="Calibri"/>
                <a:ea typeface="Calibri"/>
                <a:cs typeface="Calibri"/>
              </a:rPr>
              <a:t>OEM Instructions: </a:t>
            </a:r>
            <a:r>
              <a:rPr lang="en-US" sz="1200" b="1" i="0" u="sng" strike="noStrike" dirty="0">
                <a:solidFill>
                  <a:srgbClr val="4472C4"/>
                </a:solidFill>
                <a:effectLst/>
                <a:latin typeface="Calibri"/>
                <a:ea typeface="Calibri"/>
                <a:cs typeface="Calibri"/>
              </a:rPr>
              <a:t> </a:t>
            </a:r>
            <a:br>
              <a:rPr lang="en-US" sz="1200" b="0" i="0" u="none" strike="noStrike" dirty="0"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/>
                <a:ea typeface="Calibri"/>
                <a:cs typeface="Calibri"/>
              </a:rPr>
              <a:t>Please provid</a:t>
            </a:r>
            <a:r>
              <a:rPr lang="en-US" sz="1200" dirty="0">
                <a:solidFill>
                  <a:srgbClr val="000000"/>
                </a:solidFill>
                <a:latin typeface="Calibri"/>
                <a:ea typeface="Calibri"/>
                <a:cs typeface="Calibri"/>
              </a:rPr>
              <a:t>e the mapping or the device’s Lock and Unlock screen. Please feel free to </a:t>
            </a:r>
            <a:r>
              <a:rPr lang="en-US" sz="1200">
                <a:solidFill>
                  <a:srgbClr val="000000"/>
                </a:solidFill>
                <a:latin typeface="Calibri"/>
                <a:ea typeface="Calibri"/>
                <a:cs typeface="Calibri"/>
              </a:rPr>
              <a:t>populate the screens as you would with any other device screen. </a:t>
            </a:r>
            <a:endParaRPr lang="en-US" sz="1200" b="0" i="0" u="none" strike="noStrike">
              <a:solidFill>
                <a:srgbClr val="000000"/>
              </a:solidFill>
              <a:effectLst/>
              <a:latin typeface="Calibri" panose="020F0502020204030204" pitchFamily="34" charset="0"/>
              <a:ea typeface="Calibri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120626826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8AEC0161-37B8-4239-94D4-D51FBC3CE5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597153"/>
              </p:ext>
            </p:extLst>
          </p:nvPr>
        </p:nvGraphicFramePr>
        <p:xfrm>
          <a:off x="64484" y="743412"/>
          <a:ext cx="8349786" cy="3892217"/>
        </p:xfrm>
        <a:graphic>
          <a:graphicData uri="http://schemas.openxmlformats.org/drawingml/2006/table">
            <a:tbl>
              <a:tblPr/>
              <a:tblGrid>
                <a:gridCol w="312144">
                  <a:extLst>
                    <a:ext uri="{9D8B030D-6E8A-4147-A177-3AD203B41FA5}">
                      <a16:colId xmlns:a16="http://schemas.microsoft.com/office/drawing/2014/main" val="2319421680"/>
                    </a:ext>
                  </a:extLst>
                </a:gridCol>
                <a:gridCol w="26133">
                  <a:extLst>
                    <a:ext uri="{9D8B030D-6E8A-4147-A177-3AD203B41FA5}">
                      <a16:colId xmlns:a16="http://schemas.microsoft.com/office/drawing/2014/main" val="2487212139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258749514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688824913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730968431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11244628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1395468240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1248365158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671526487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663460518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530145382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905296186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898293556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419694876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088438126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953334433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396912946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094209283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503090355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699471188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134062529"/>
                    </a:ext>
                  </a:extLst>
                </a:gridCol>
                <a:gridCol w="27182">
                  <a:extLst>
                    <a:ext uri="{9D8B030D-6E8A-4147-A177-3AD203B41FA5}">
                      <a16:colId xmlns:a16="http://schemas.microsoft.com/office/drawing/2014/main" val="99170023"/>
                    </a:ext>
                  </a:extLst>
                </a:gridCol>
                <a:gridCol w="310365">
                  <a:extLst>
                    <a:ext uri="{9D8B030D-6E8A-4147-A177-3AD203B41FA5}">
                      <a16:colId xmlns:a16="http://schemas.microsoft.com/office/drawing/2014/main" val="3555223420"/>
                    </a:ext>
                  </a:extLst>
                </a:gridCol>
                <a:gridCol w="205961">
                  <a:extLst>
                    <a:ext uri="{9D8B030D-6E8A-4147-A177-3AD203B41FA5}">
                      <a16:colId xmlns:a16="http://schemas.microsoft.com/office/drawing/2014/main" val="1379327508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149334977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1482904265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526262848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244952669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045248005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805736153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367213290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153737210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501711133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4127103117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922930108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911570229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639499143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1398237310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348019073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72267440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15873548"/>
                    </a:ext>
                  </a:extLst>
                </a:gridCol>
                <a:gridCol w="205961">
                  <a:extLst>
                    <a:ext uri="{9D8B030D-6E8A-4147-A177-3AD203B41FA5}">
                      <a16:colId xmlns:a16="http://schemas.microsoft.com/office/drawing/2014/main" val="1228511495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385741718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1103440694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1765835962"/>
                    </a:ext>
                  </a:extLst>
                </a:gridCol>
                <a:gridCol w="145291">
                  <a:extLst>
                    <a:ext uri="{9D8B030D-6E8A-4147-A177-3AD203B41FA5}">
                      <a16:colId xmlns:a16="http://schemas.microsoft.com/office/drawing/2014/main" val="3032794130"/>
                    </a:ext>
                  </a:extLst>
                </a:gridCol>
                <a:gridCol w="176213">
                  <a:extLst>
                    <a:ext uri="{9D8B030D-6E8A-4147-A177-3AD203B41FA5}">
                      <a16:colId xmlns:a16="http://schemas.microsoft.com/office/drawing/2014/main" val="541524318"/>
                    </a:ext>
                  </a:extLst>
                </a:gridCol>
                <a:gridCol w="155275">
                  <a:extLst>
                    <a:ext uri="{9D8B030D-6E8A-4147-A177-3AD203B41FA5}">
                      <a16:colId xmlns:a16="http://schemas.microsoft.com/office/drawing/2014/main" val="1474041755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1875072607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713687494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187949098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428798827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226785004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253820735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729201000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4158537040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869102720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375585570"/>
                    </a:ext>
                  </a:extLst>
                </a:gridCol>
                <a:gridCol w="131586">
                  <a:extLst>
                    <a:ext uri="{9D8B030D-6E8A-4147-A177-3AD203B41FA5}">
                      <a16:colId xmlns:a16="http://schemas.microsoft.com/office/drawing/2014/main" val="2255814577"/>
                    </a:ext>
                  </a:extLst>
                </a:gridCol>
                <a:gridCol w="205961">
                  <a:extLst>
                    <a:ext uri="{9D8B030D-6E8A-4147-A177-3AD203B41FA5}">
                      <a16:colId xmlns:a16="http://schemas.microsoft.com/office/drawing/2014/main" val="650234665"/>
                    </a:ext>
                  </a:extLst>
                </a:gridCol>
              </a:tblGrid>
              <a:tr h="16946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1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1L - Minus One Screen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Home- Screen 0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1R - Plus One Screen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099500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7049428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28" gridSpan="19">
                  <a:txBody>
                    <a:bodyPr/>
                    <a:lstStyle/>
                    <a:p>
                      <a:pPr algn="ctr" fontAlgn="b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Assistant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15"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Search (4x1)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15"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  <a:p>
                      <a:pPr algn="ctr" fontAlgn="ctr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Metrozone 4x1 </a:t>
                      </a:r>
                    </a:p>
                    <a:p>
                      <a:pPr algn="ctr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  <a:p>
                      <a:pPr algn="ctr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5467476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17610089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853100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444886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2395665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9189148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47693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84965967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27435607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33328931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8444015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8475292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33777908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4611063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2583297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3550175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b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Ad It Up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0544025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6340574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3350851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3952246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FOLDER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PLAYSTORE</a:t>
                      </a:r>
                      <a:endParaRPr lang="en-US" sz="8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ASSIST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METRO FOLDER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Email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Clock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Amazon Shopping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TikTok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4285896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0353757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6936431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8764831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329055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Phone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Messages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Chrome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Phone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Messages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Chrome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5096240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0788147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6201339"/>
                  </a:ext>
                </a:extLst>
              </a:tr>
              <a:tr h="11514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81655012"/>
                  </a:ext>
                </a:extLst>
              </a:tr>
              <a:tr h="111000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42736861"/>
                  </a:ext>
                </a:extLst>
              </a:tr>
            </a:tbl>
          </a:graphicData>
        </a:graphic>
      </p:graphicFrame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B4DFBEA-C9E3-485D-B4A5-063CDD28548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4484" y="31799"/>
            <a:ext cx="10750998" cy="947750"/>
          </a:xfrm>
        </p:spPr>
        <p:txBody>
          <a:bodyPr>
            <a:normAutofit/>
          </a:bodyPr>
          <a:lstStyle/>
          <a:p>
            <a:r>
              <a:rPr lang="en-US" sz="3200" dirty="0">
                <a:solidFill>
                  <a:srgbClr val="7030A0"/>
                </a:solidFill>
              </a:rPr>
              <a:t>Metro Brand 4x6 (Homescreen + Panel Layout)</a:t>
            </a:r>
          </a:p>
        </p:txBody>
      </p:sp>
      <p:cxnSp>
        <p:nvCxnSpPr>
          <p:cNvPr id="212" name="Straight Connector 211">
            <a:extLst>
              <a:ext uri="{FF2B5EF4-FFF2-40B4-BE49-F238E27FC236}">
                <a16:creationId xmlns:a16="http://schemas.microsoft.com/office/drawing/2014/main" id="{5E9FBB07-CA2F-4F04-8D07-256E73ADB63A}"/>
              </a:ext>
            </a:extLst>
          </p:cNvPr>
          <p:cNvCxnSpPr>
            <a:cxnSpLocks/>
          </p:cNvCxnSpPr>
          <p:nvPr/>
        </p:nvCxnSpPr>
        <p:spPr>
          <a:xfrm>
            <a:off x="1611390" y="1031997"/>
            <a:ext cx="0" cy="689748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214" name="TextBox 4">
            <a:extLst>
              <a:ext uri="{FF2B5EF4-FFF2-40B4-BE49-F238E27FC236}">
                <a16:creationId xmlns:a16="http://schemas.microsoft.com/office/drawing/2014/main" id="{529360FF-3277-42AE-BDD2-D6A853A668D8}"/>
              </a:ext>
            </a:extLst>
          </p:cNvPr>
          <p:cNvSpPr txBox="1"/>
          <p:nvPr/>
        </p:nvSpPr>
        <p:spPr>
          <a:xfrm>
            <a:off x="426424" y="1031997"/>
            <a:ext cx="1167988" cy="355600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100" dirty="0"/>
              <a:t>Google Discover</a:t>
            </a:r>
          </a:p>
        </p:txBody>
      </p:sp>
      <p:sp>
        <p:nvSpPr>
          <p:cNvPr id="215" name="TextBox 5">
            <a:extLst>
              <a:ext uri="{FF2B5EF4-FFF2-40B4-BE49-F238E27FC236}">
                <a16:creationId xmlns:a16="http://schemas.microsoft.com/office/drawing/2014/main" id="{2D9499AB-111A-404A-B5AB-E769C643A71E}"/>
              </a:ext>
            </a:extLst>
          </p:cNvPr>
          <p:cNvSpPr txBox="1"/>
          <p:nvPr/>
        </p:nvSpPr>
        <p:spPr>
          <a:xfrm>
            <a:off x="1625372" y="1031997"/>
            <a:ext cx="1258506" cy="355600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1100" dirty="0"/>
          </a:p>
        </p:txBody>
      </p:sp>
      <p:graphicFrame>
        <p:nvGraphicFramePr>
          <p:cNvPr id="219" name="Table 218">
            <a:extLst>
              <a:ext uri="{FF2B5EF4-FFF2-40B4-BE49-F238E27FC236}">
                <a16:creationId xmlns:a16="http://schemas.microsoft.com/office/drawing/2014/main" id="{8B5D9A88-0849-46A4-A3CF-1F96880BBC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8636976"/>
              </p:ext>
            </p:extLst>
          </p:nvPr>
        </p:nvGraphicFramePr>
        <p:xfrm>
          <a:off x="9980598" y="3309302"/>
          <a:ext cx="1669768" cy="2685909"/>
        </p:xfrm>
        <a:graphic>
          <a:graphicData uri="http://schemas.openxmlformats.org/drawingml/2006/table">
            <a:tbl>
              <a:tblPr/>
              <a:tblGrid>
                <a:gridCol w="199196">
                  <a:extLst>
                    <a:ext uri="{9D8B030D-6E8A-4147-A177-3AD203B41FA5}">
                      <a16:colId xmlns:a16="http://schemas.microsoft.com/office/drawing/2014/main" val="3072099247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2660851657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4051570774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841299941"/>
                    </a:ext>
                  </a:extLst>
                </a:gridCol>
                <a:gridCol w="76200">
                  <a:extLst>
                    <a:ext uri="{9D8B030D-6E8A-4147-A177-3AD203B41FA5}">
                      <a16:colId xmlns:a16="http://schemas.microsoft.com/office/drawing/2014/main" val="2697608583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2261431747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2738975599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54138011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3602541442"/>
                    </a:ext>
                  </a:extLst>
                </a:gridCol>
              </a:tblGrid>
              <a:tr h="163674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Metro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83593485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05454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Metro App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Metro Play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8629493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159240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2367054"/>
                  </a:ext>
                </a:extLst>
              </a:tr>
              <a:tr h="204329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705827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Visual Voicemail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kern="1200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8681097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0357925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5990450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885689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Metrozone</a:t>
                      </a:r>
                      <a:endParaRPr lang="en-US" sz="105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142577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9782762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6073934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0527355"/>
                  </a:ext>
                </a:extLst>
              </a:tr>
              <a:tr h="129615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CM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24319942"/>
                  </a:ext>
                </a:extLst>
              </a:tr>
            </a:tbl>
          </a:graphicData>
        </a:graphic>
      </p:graphicFrame>
      <p:graphicFrame>
        <p:nvGraphicFramePr>
          <p:cNvPr id="230" name="Table 229">
            <a:extLst>
              <a:ext uri="{FF2B5EF4-FFF2-40B4-BE49-F238E27FC236}">
                <a16:creationId xmlns:a16="http://schemas.microsoft.com/office/drawing/2014/main" id="{FD363AB1-CF80-413A-83A3-E3976F48C9F6}"/>
              </a:ext>
            </a:extLst>
          </p:cNvPr>
          <p:cNvGraphicFramePr>
            <a:graphicFrameLocks noGrp="1"/>
          </p:cNvGraphicFramePr>
          <p:nvPr/>
        </p:nvGraphicFramePr>
        <p:xfrm>
          <a:off x="562293" y="4652257"/>
          <a:ext cx="4841925" cy="1959610"/>
        </p:xfrm>
        <a:graphic>
          <a:graphicData uri="http://schemas.openxmlformats.org/drawingml/2006/table">
            <a:tbl>
              <a:tblPr/>
              <a:tblGrid>
                <a:gridCol w="193677">
                  <a:extLst>
                    <a:ext uri="{9D8B030D-6E8A-4147-A177-3AD203B41FA5}">
                      <a16:colId xmlns:a16="http://schemas.microsoft.com/office/drawing/2014/main" val="3668995254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222988551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2347258237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2887936937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1318809100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3695280320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470221836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2216682646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2355972019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3578656401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123117071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3320401500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216105740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2428869703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2882220615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3809203488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397926968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2073156503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3469739955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1677353316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3783650352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3043479574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1599976022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3942200419"/>
                    </a:ext>
                  </a:extLst>
                </a:gridCol>
                <a:gridCol w="193677">
                  <a:extLst>
                    <a:ext uri="{9D8B030D-6E8A-4147-A177-3AD203B41FA5}">
                      <a16:colId xmlns:a16="http://schemas.microsoft.com/office/drawing/2014/main" val="2114388392"/>
                    </a:ext>
                  </a:extLst>
                </a:gridCol>
              </a:tblGrid>
              <a:tr h="178415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90249396"/>
                  </a:ext>
                </a:extLst>
              </a:tr>
              <a:tr h="141288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7596179"/>
                  </a:ext>
                </a:extLst>
              </a:tr>
              <a:tr h="141288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Calendar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Wallet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14018275"/>
                  </a:ext>
                </a:extLst>
              </a:tr>
              <a:tr h="141288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7365489"/>
                  </a:ext>
                </a:extLst>
              </a:tr>
              <a:tr h="141288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5294176"/>
                  </a:ext>
                </a:extLst>
              </a:tr>
              <a:tr h="141288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0894459"/>
                  </a:ext>
                </a:extLst>
              </a:tr>
              <a:tr h="141288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Home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One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8432401"/>
                  </a:ext>
                </a:extLst>
              </a:tr>
              <a:tr h="141288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8345979"/>
                  </a:ext>
                </a:extLst>
              </a:tr>
              <a:tr h="141288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045608"/>
                  </a:ext>
                </a:extLst>
              </a:tr>
              <a:tr h="141288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1047355"/>
                  </a:ext>
                </a:extLst>
              </a:tr>
              <a:tr h="141288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OEM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65572867"/>
                  </a:ext>
                </a:extLst>
              </a:tr>
            </a:tbl>
          </a:graphicData>
        </a:graphic>
      </p:graphicFrame>
      <p:cxnSp>
        <p:nvCxnSpPr>
          <p:cNvPr id="239" name="Connector: Elbow 238">
            <a:extLst>
              <a:ext uri="{FF2B5EF4-FFF2-40B4-BE49-F238E27FC236}">
                <a16:creationId xmlns:a16="http://schemas.microsoft.com/office/drawing/2014/main" id="{7E592D28-9836-4A22-9374-6878C0E2F011}"/>
              </a:ext>
            </a:extLst>
          </p:cNvPr>
          <p:cNvCxnSpPr>
            <a:cxnSpLocks/>
          </p:cNvCxnSpPr>
          <p:nvPr/>
        </p:nvCxnSpPr>
        <p:spPr>
          <a:xfrm rot="5400000">
            <a:off x="2849092" y="3921388"/>
            <a:ext cx="986031" cy="475710"/>
          </a:xfrm>
          <a:prstGeom prst="bentConnector3">
            <a:avLst>
              <a:gd name="adj1" fmla="val -742"/>
            </a:avLst>
          </a:prstGeom>
          <a:ln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43" name="Picture 242">
            <a:extLst>
              <a:ext uri="{FF2B5EF4-FFF2-40B4-BE49-F238E27FC236}">
                <a16:creationId xmlns:a16="http://schemas.microsoft.com/office/drawing/2014/main" id="{16DAAD4E-E7A0-4A13-90CE-032F71D27A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51647" y="31799"/>
            <a:ext cx="2163469" cy="652204"/>
          </a:xfrm>
          <a:prstGeom prst="rect">
            <a:avLst/>
          </a:prstGeom>
        </p:spPr>
      </p:pic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AA9CFF15-0E84-4576-8410-A2577D0E445B}"/>
              </a:ext>
            </a:extLst>
          </p:cNvPr>
          <p:cNvCxnSpPr>
            <a:cxnSpLocks/>
          </p:cNvCxnSpPr>
          <p:nvPr/>
        </p:nvCxnSpPr>
        <p:spPr>
          <a:xfrm>
            <a:off x="2745476" y="11682424"/>
            <a:ext cx="28" cy="508149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20" name="TextBox 11">
            <a:extLst>
              <a:ext uri="{FF2B5EF4-FFF2-40B4-BE49-F238E27FC236}">
                <a16:creationId xmlns:a16="http://schemas.microsoft.com/office/drawing/2014/main" id="{2FF09C95-3D1A-43DA-B8C1-971FF82A1A15}"/>
              </a:ext>
            </a:extLst>
          </p:cNvPr>
          <p:cNvSpPr txBox="1"/>
          <p:nvPr/>
        </p:nvSpPr>
        <p:spPr>
          <a:xfrm>
            <a:off x="864286" y="11823712"/>
            <a:ext cx="1463073" cy="272348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/>
              <a:t>Google Discover</a:t>
            </a:r>
          </a:p>
        </p:txBody>
      </p:sp>
      <p:sp>
        <p:nvSpPr>
          <p:cNvPr id="21" name="TextBox 12">
            <a:extLst>
              <a:ext uri="{FF2B5EF4-FFF2-40B4-BE49-F238E27FC236}">
                <a16:creationId xmlns:a16="http://schemas.microsoft.com/office/drawing/2014/main" id="{066D3A9B-B4F6-4B28-AFFD-E0182F468E54}"/>
              </a:ext>
            </a:extLst>
          </p:cNvPr>
          <p:cNvSpPr txBox="1"/>
          <p:nvPr/>
        </p:nvSpPr>
        <p:spPr>
          <a:xfrm>
            <a:off x="864287" y="11823712"/>
            <a:ext cx="1460251" cy="268812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/>
              <a:t>Google Discover</a:t>
            </a:r>
          </a:p>
        </p:txBody>
      </p:sp>
      <p:sp>
        <p:nvSpPr>
          <p:cNvPr id="22" name="TextBox 13">
            <a:extLst>
              <a:ext uri="{FF2B5EF4-FFF2-40B4-BE49-F238E27FC236}">
                <a16:creationId xmlns:a16="http://schemas.microsoft.com/office/drawing/2014/main" id="{7E56E24B-2A55-4DF5-A2BC-23AFD286585C}"/>
              </a:ext>
            </a:extLst>
          </p:cNvPr>
          <p:cNvSpPr txBox="1"/>
          <p:nvPr/>
        </p:nvSpPr>
        <p:spPr>
          <a:xfrm>
            <a:off x="3104250" y="11834823"/>
            <a:ext cx="1460250" cy="260559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/>
              <a:t>T-Mobile Play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468B4B7-A7D1-4355-3B66-8EBE95B90F0F}"/>
              </a:ext>
            </a:extLst>
          </p:cNvPr>
          <p:cNvSpPr txBox="1"/>
          <p:nvPr/>
        </p:nvSpPr>
        <p:spPr>
          <a:xfrm>
            <a:off x="5726933" y="4754899"/>
            <a:ext cx="537467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fontAlgn="b"/>
            <a:r>
              <a:rPr lang="en-US" sz="1200" b="1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Customization Files may be found here: 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1" i="0" u="sng" strike="noStrike" dirty="0">
                <a:solidFill>
                  <a:srgbClr val="4472C4"/>
                </a:solidFill>
                <a:effectLst/>
                <a:latin typeface="Calibri" panose="020F0502020204030204" pitchFamily="34" charset="0"/>
                <a:hlinkClick r:id="rId3"/>
              </a:rPr>
              <a:t>https://tmap.t-mobile.com/portals/ayibw7iw/OEMToolkit</a:t>
            </a:r>
            <a:r>
              <a:rPr lang="en-US" sz="1200" b="1" i="0" u="sng" strike="noStrike" dirty="0">
                <a:solidFill>
                  <a:srgbClr val="4472C4"/>
                </a:solidFill>
                <a:effectLst/>
                <a:latin typeface="Calibri" panose="020F0502020204030204" pitchFamily="34" charset="0"/>
              </a:rPr>
              <a:t>  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This includes brand specific: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      •Power Up / Boot File animation and mnemonic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      •Ringtones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      •T-Mobile / Metro</a:t>
            </a:r>
          </a:p>
          <a:p>
            <a:pPr algn="l" fontAlgn="b"/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NOTES: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1.  Google One application includes a Set Up Wizard that is required for Metro</a:t>
            </a:r>
          </a:p>
        </p:txBody>
      </p:sp>
      <p:cxnSp>
        <p:nvCxnSpPr>
          <p:cNvPr id="7" name="Connector: Elbow 6">
            <a:extLst>
              <a:ext uri="{FF2B5EF4-FFF2-40B4-BE49-F238E27FC236}">
                <a16:creationId xmlns:a16="http://schemas.microsoft.com/office/drawing/2014/main" id="{CB357488-7380-7EB5-F42D-38CD495DBDF9}"/>
              </a:ext>
            </a:extLst>
          </p:cNvPr>
          <p:cNvCxnSpPr>
            <a:endCxn id="219" idx="1"/>
          </p:cNvCxnSpPr>
          <p:nvPr/>
        </p:nvCxnSpPr>
        <p:spPr>
          <a:xfrm>
            <a:off x="5555411" y="3666226"/>
            <a:ext cx="4425187" cy="986030"/>
          </a:xfrm>
          <a:prstGeom prst="bentConnector3">
            <a:avLst>
              <a:gd name="adj1" fmla="val 5701"/>
            </a:avLst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5C337C18-A652-342C-5B80-E96A933FE2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9086143"/>
              </p:ext>
            </p:extLst>
          </p:nvPr>
        </p:nvGraphicFramePr>
        <p:xfrm>
          <a:off x="8284898" y="751480"/>
          <a:ext cx="1669767" cy="207939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69767">
                  <a:extLst>
                    <a:ext uri="{9D8B030D-6E8A-4147-A177-3AD203B41FA5}">
                      <a16:colId xmlns:a16="http://schemas.microsoft.com/office/drawing/2014/main" val="4009581341"/>
                    </a:ext>
                  </a:extLst>
                </a:gridCol>
              </a:tblGrid>
              <a:tr h="321267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Plus – One Applications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05086144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Ad-It-Up (AS)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58167358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Amazon Shopping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37964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TikTok (AS)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80852661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Facebook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3738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Instagram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47147261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WhatsApp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39196830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412D5CD9-51DE-A046-0EEB-E47C247BC2BB}"/>
              </a:ext>
            </a:extLst>
          </p:cNvPr>
          <p:cNvSpPr txBox="1"/>
          <p:nvPr/>
        </p:nvSpPr>
        <p:spPr>
          <a:xfrm>
            <a:off x="8309102" y="2822442"/>
            <a:ext cx="171141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900" dirty="0"/>
              <a:t>* Plus-One Applications will follow first available.</a:t>
            </a:r>
          </a:p>
        </p:txBody>
      </p:sp>
    </p:spTree>
    <p:extLst>
      <p:ext uri="{BB962C8B-B14F-4D97-AF65-F5344CB8AC3E}">
        <p14:creationId xmlns:p14="http://schemas.microsoft.com/office/powerpoint/2010/main" val="1873640556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B4DFBEA-C9E3-485D-B4A5-063CDD28548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4484" y="31799"/>
            <a:ext cx="10750998" cy="947750"/>
          </a:xfrm>
        </p:spPr>
        <p:txBody>
          <a:bodyPr>
            <a:normAutofit/>
          </a:bodyPr>
          <a:lstStyle/>
          <a:p>
            <a:r>
              <a:rPr lang="en-US" sz="3200" dirty="0">
                <a:solidFill>
                  <a:srgbClr val="7030A0"/>
                </a:solidFill>
              </a:rPr>
              <a:t>Metro Brand 4x6 (APP TRAY)</a:t>
            </a:r>
          </a:p>
        </p:txBody>
      </p:sp>
      <p:pic>
        <p:nvPicPr>
          <p:cNvPr id="243" name="Picture 242">
            <a:extLst>
              <a:ext uri="{FF2B5EF4-FFF2-40B4-BE49-F238E27FC236}">
                <a16:creationId xmlns:a16="http://schemas.microsoft.com/office/drawing/2014/main" id="{16DAAD4E-E7A0-4A13-90CE-032F71D27A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652013" y="52139"/>
            <a:ext cx="2163469" cy="652204"/>
          </a:xfrm>
          <a:prstGeom prst="rect">
            <a:avLst/>
          </a:prstGeom>
        </p:spPr>
      </p:pic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084BD0EE-3F05-478F-935E-D48024FC8E7E}"/>
              </a:ext>
            </a:extLst>
          </p:cNvPr>
          <p:cNvGraphicFramePr>
            <a:graphicFrameLocks noGrp="1"/>
          </p:cNvGraphicFramePr>
          <p:nvPr/>
        </p:nvGraphicFramePr>
        <p:xfrm>
          <a:off x="7302953" y="3796575"/>
          <a:ext cx="1298732" cy="2159016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298732">
                  <a:extLst>
                    <a:ext uri="{9D8B030D-6E8A-4147-A177-3AD203B41FA5}">
                      <a16:colId xmlns:a16="http://schemas.microsoft.com/office/drawing/2014/main" val="4283747700"/>
                    </a:ext>
                  </a:extLst>
                </a:gridCol>
              </a:tblGrid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OEM FOLDER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214296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5456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2397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7691460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25063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905200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2070764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6544440"/>
                  </a:ext>
                </a:extLst>
              </a:tr>
            </a:tbl>
          </a:graphicData>
        </a:graphic>
      </p:graphicFrame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D82C608A-E4A4-4FE4-83C8-D28C151694F4}"/>
              </a:ext>
            </a:extLst>
          </p:cNvPr>
          <p:cNvGraphicFramePr>
            <a:graphicFrameLocks noGrp="1"/>
          </p:cNvGraphicFramePr>
          <p:nvPr/>
        </p:nvGraphicFramePr>
        <p:xfrm>
          <a:off x="8696613" y="3796575"/>
          <a:ext cx="1223344" cy="2159016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223344">
                  <a:extLst>
                    <a:ext uri="{9D8B030D-6E8A-4147-A177-3AD203B41FA5}">
                      <a16:colId xmlns:a16="http://schemas.microsoft.com/office/drawing/2014/main" val="4283747700"/>
                    </a:ext>
                  </a:extLst>
                </a:gridCol>
              </a:tblGrid>
              <a:tr h="273476">
                <a:tc>
                  <a:txBody>
                    <a:bodyPr/>
                    <a:lstStyle/>
                    <a:p>
                      <a:r>
                        <a:rPr lang="en-US" sz="1100" dirty="0"/>
                        <a:t> OTHER FOLDER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214296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5456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2397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7691460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25063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905200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2070764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6544440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FB103680-3495-417B-9674-4F78F99BBE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498885"/>
              </p:ext>
            </p:extLst>
          </p:nvPr>
        </p:nvGraphicFramePr>
        <p:xfrm>
          <a:off x="5319798" y="3796575"/>
          <a:ext cx="1728018" cy="2655570"/>
        </p:xfrm>
        <a:graphic>
          <a:graphicData uri="http://schemas.openxmlformats.org/drawingml/2006/table">
            <a:tbl>
              <a:tblPr/>
              <a:tblGrid>
                <a:gridCol w="206145">
                  <a:extLst>
                    <a:ext uri="{9D8B030D-6E8A-4147-A177-3AD203B41FA5}">
                      <a16:colId xmlns:a16="http://schemas.microsoft.com/office/drawing/2014/main" val="3072099247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2660851657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4051570774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841299941"/>
                    </a:ext>
                  </a:extLst>
                </a:gridCol>
                <a:gridCol w="78858">
                  <a:extLst>
                    <a:ext uri="{9D8B030D-6E8A-4147-A177-3AD203B41FA5}">
                      <a16:colId xmlns:a16="http://schemas.microsoft.com/office/drawing/2014/main" val="2697608583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2261431747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2738975599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54138011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3602541442"/>
                    </a:ext>
                  </a:extLst>
                </a:gridCol>
              </a:tblGrid>
              <a:tr h="211476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Metro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83593485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05454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Metro App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Metro Play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8629493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159240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2367054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705827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Visual Voicemail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8681097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0357925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5990450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885689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Metrozone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142577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9782762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6073934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0527355"/>
                  </a:ext>
                </a:extLst>
              </a:tr>
              <a:tr h="167470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CM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24319942"/>
                  </a:ext>
                </a:extLst>
              </a:tr>
            </a:tbl>
          </a:graphicData>
        </a:graphic>
      </p:graphicFrame>
      <p:graphicFrame>
        <p:nvGraphicFramePr>
          <p:cNvPr id="18" name="Table 17">
            <a:extLst>
              <a:ext uri="{FF2B5EF4-FFF2-40B4-BE49-F238E27FC236}">
                <a16:creationId xmlns:a16="http://schemas.microsoft.com/office/drawing/2014/main" id="{365C2058-AF86-4C1C-B095-AD6AFDE77C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7263843"/>
              </p:ext>
            </p:extLst>
          </p:nvPr>
        </p:nvGraphicFramePr>
        <p:xfrm>
          <a:off x="226404" y="4646156"/>
          <a:ext cx="4707550" cy="1959610"/>
        </p:xfrm>
        <a:graphic>
          <a:graphicData uri="http://schemas.openxmlformats.org/drawingml/2006/table">
            <a:tbl>
              <a:tblPr/>
              <a:tblGrid>
                <a:gridCol w="188302">
                  <a:extLst>
                    <a:ext uri="{9D8B030D-6E8A-4147-A177-3AD203B41FA5}">
                      <a16:colId xmlns:a16="http://schemas.microsoft.com/office/drawing/2014/main" val="3668995254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222988551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2347258237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2887936937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1318809100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3695280320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470221836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2216682646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2355972019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3578656401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123117071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3320401500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216105740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2428869703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2882220615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3809203488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397926968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2073156503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3469739955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1677353316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3783650352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3043479574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1599976022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3942200419"/>
                    </a:ext>
                  </a:extLst>
                </a:gridCol>
                <a:gridCol w="188302">
                  <a:extLst>
                    <a:ext uri="{9D8B030D-6E8A-4147-A177-3AD203B41FA5}">
                      <a16:colId xmlns:a16="http://schemas.microsoft.com/office/drawing/2014/main" val="2114388392"/>
                    </a:ext>
                  </a:extLst>
                </a:gridCol>
              </a:tblGrid>
              <a:tr h="184595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90249396"/>
                  </a:ext>
                </a:extLst>
              </a:tr>
              <a:tr h="146182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7596179"/>
                  </a:ext>
                </a:extLst>
              </a:tr>
              <a:tr h="146182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Calendar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Wallet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Chrome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14018275"/>
                  </a:ext>
                </a:extLst>
              </a:tr>
              <a:tr h="146182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7365489"/>
                  </a:ext>
                </a:extLst>
              </a:tr>
              <a:tr h="146182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5294176"/>
                  </a:ext>
                </a:extLst>
              </a:tr>
              <a:tr h="146182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0894459"/>
                  </a:ext>
                </a:extLst>
              </a:tr>
              <a:tr h="146182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Home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One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Search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8432401"/>
                  </a:ext>
                </a:extLst>
              </a:tr>
              <a:tr h="146182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8345979"/>
                  </a:ext>
                </a:extLst>
              </a:tr>
              <a:tr h="146182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045608"/>
                  </a:ext>
                </a:extLst>
              </a:tr>
              <a:tr h="146182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1047355"/>
                  </a:ext>
                </a:extLst>
              </a:tr>
              <a:tr h="146182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OEM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65572867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D66739E3-E190-49D0-BAFB-3E611ECDF037}"/>
              </a:ext>
            </a:extLst>
          </p:cNvPr>
          <p:cNvGraphicFramePr>
            <a:graphicFrameLocks noGrp="1"/>
          </p:cNvGraphicFramePr>
          <p:nvPr/>
        </p:nvGraphicFramePr>
        <p:xfrm>
          <a:off x="12105" y="508531"/>
          <a:ext cx="2658306" cy="4215867"/>
        </p:xfrm>
        <a:graphic>
          <a:graphicData uri="http://schemas.openxmlformats.org/drawingml/2006/table">
            <a:tbl>
              <a:tblPr/>
              <a:tblGrid>
                <a:gridCol w="206694">
                  <a:extLst>
                    <a:ext uri="{9D8B030D-6E8A-4147-A177-3AD203B41FA5}">
                      <a16:colId xmlns:a16="http://schemas.microsoft.com/office/drawing/2014/main" val="567885774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796951820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763050868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48264384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285632916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477863979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295058144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532864766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212963500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2868736158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68651000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2329397121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148893673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004013726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961217591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762343034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1133969293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1591511040"/>
                    </a:ext>
                  </a:extLst>
                </a:gridCol>
                <a:gridCol w="206694">
                  <a:extLst>
                    <a:ext uri="{9D8B030D-6E8A-4147-A177-3AD203B41FA5}">
                      <a16:colId xmlns:a16="http://schemas.microsoft.com/office/drawing/2014/main" val="1419320222"/>
                    </a:ext>
                  </a:extLst>
                </a:gridCol>
              </a:tblGrid>
              <a:tr h="13644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APP TRAY 1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5292620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04230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643511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4090153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571517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81063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84205984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23461691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4099842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3041736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21956089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7020049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2495695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9437557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7951514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583240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156809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6222117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9997020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55603711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273385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3155394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847773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8623584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32331515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8233786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Phone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Messages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Chrome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5009887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86071489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1143924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057227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1625943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367BC488-3427-4637-9128-22A891D249FB}"/>
              </a:ext>
            </a:extLst>
          </p:cNvPr>
          <p:cNvGraphicFramePr>
            <a:graphicFrameLocks noGrp="1"/>
          </p:cNvGraphicFramePr>
          <p:nvPr/>
        </p:nvGraphicFramePr>
        <p:xfrm>
          <a:off x="2406355" y="505674"/>
          <a:ext cx="2658306" cy="4215867"/>
        </p:xfrm>
        <a:graphic>
          <a:graphicData uri="http://schemas.openxmlformats.org/drawingml/2006/table">
            <a:tbl>
              <a:tblPr/>
              <a:tblGrid>
                <a:gridCol w="206694">
                  <a:extLst>
                    <a:ext uri="{9D8B030D-6E8A-4147-A177-3AD203B41FA5}">
                      <a16:colId xmlns:a16="http://schemas.microsoft.com/office/drawing/2014/main" val="567885774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796951820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763050868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48264384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285632916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477863979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295058144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532864766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212963500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2868736158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68651000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2329397121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148893673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004013726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961217591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3762343034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1133969293"/>
                    </a:ext>
                  </a:extLst>
                </a:gridCol>
                <a:gridCol w="132054">
                  <a:extLst>
                    <a:ext uri="{9D8B030D-6E8A-4147-A177-3AD203B41FA5}">
                      <a16:colId xmlns:a16="http://schemas.microsoft.com/office/drawing/2014/main" val="1591511040"/>
                    </a:ext>
                  </a:extLst>
                </a:gridCol>
                <a:gridCol w="206694">
                  <a:extLst>
                    <a:ext uri="{9D8B030D-6E8A-4147-A177-3AD203B41FA5}">
                      <a16:colId xmlns:a16="http://schemas.microsoft.com/office/drawing/2014/main" val="1419320222"/>
                    </a:ext>
                  </a:extLst>
                </a:gridCol>
              </a:tblGrid>
              <a:tr h="136448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APP TRAY 2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5292620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04230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643511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4090153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571517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81063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84205984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23461691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4099842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3041736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21956089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7020049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2495695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9437557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7951514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583240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156809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6222117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9997020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55603711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273385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3155394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3634793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9671686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7090049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8233786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Phone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Messages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Chrome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5009887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86071489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1143924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0572278"/>
                  </a:ext>
                </a:extLst>
              </a:tr>
              <a:tr h="13530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1625943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DFA53BA0-F310-9007-6E56-1390830E2E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7316281"/>
              </p:ext>
            </p:extLst>
          </p:nvPr>
        </p:nvGraphicFramePr>
        <p:xfrm>
          <a:off x="5228051" y="724683"/>
          <a:ext cx="5715000" cy="2856230"/>
        </p:xfrm>
        <a:graphic>
          <a:graphicData uri="http://schemas.openxmlformats.org/drawingml/2006/table">
            <a:tbl>
              <a:tblPr/>
              <a:tblGrid>
                <a:gridCol w="5715000">
                  <a:extLst>
                    <a:ext uri="{9D8B030D-6E8A-4147-A177-3AD203B41FA5}">
                      <a16:colId xmlns:a16="http://schemas.microsoft.com/office/drawing/2014/main" val="383390548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l" fontAlgn="t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For App Tray</a:t>
                      </a:r>
                      <a:b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a. </a:t>
                      </a:r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applications should be placed in </a:t>
                      </a:r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folder</a:t>
                      </a:r>
                      <a:b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b. Ensure Google One is preloaded</a:t>
                      </a:r>
                      <a:b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c. OEM applications should be placed in OEM folder</a:t>
                      </a:r>
                      <a:b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d. OEM applications must be reviewed and approved prior to RC1</a:t>
                      </a:r>
                      <a:b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e. Applications okay to appear in app tray (not in folder)</a:t>
                      </a:r>
                      <a:b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Calculator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Calendar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Camera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Clock 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Contacts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Files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Android Messages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Phone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Settings</a:t>
                      </a:r>
                    </a:p>
                    <a:p>
                      <a:pPr algn="l" fontAlgn="t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algn="l" fontAlgn="t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For Browser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 Chrome Browser Default Homepage -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hlinkClick r:id="rId3"/>
                        </a:rPr>
                        <a:t>https://www.metropcs.mobi/en/home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5186180"/>
                  </a:ext>
                </a:extLst>
              </a:tr>
            </a:tbl>
          </a:graphicData>
        </a:graphic>
      </p:graphicFrame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F23BE55A-0A62-71E8-B3A3-C2A09024A1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5550255"/>
              </p:ext>
            </p:extLst>
          </p:nvPr>
        </p:nvGraphicFramePr>
        <p:xfrm>
          <a:off x="10014885" y="3796575"/>
          <a:ext cx="1103709" cy="2282624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103709">
                  <a:extLst>
                    <a:ext uri="{9D8B030D-6E8A-4147-A177-3AD203B41FA5}">
                      <a16:colId xmlns:a16="http://schemas.microsoft.com/office/drawing/2014/main" val="4283747700"/>
                    </a:ext>
                  </a:extLst>
                </a:gridCol>
              </a:tblGrid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App Tray</a:t>
                      </a:r>
                    </a:p>
                    <a:p>
                      <a:pPr algn="ctr"/>
                      <a:r>
                        <a:rPr lang="en-US" sz="800" dirty="0"/>
                        <a:t>Based on placement order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214296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Ad-It-Up (AS)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5456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Amazon Shopping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2397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TikTok (AS)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7691460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Facebook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25063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Instagram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905200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WhatsApp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207076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30082521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6A4DEF40-9FAA-488A-8DC3-B93DDD0D686A}"/>
              </a:ext>
            </a:extLst>
          </p:cNvPr>
          <p:cNvSpPr txBox="1"/>
          <p:nvPr/>
        </p:nvSpPr>
        <p:spPr>
          <a:xfrm>
            <a:off x="372381" y="2776301"/>
            <a:ext cx="8670019" cy="1384995"/>
          </a:xfrm>
          <a:prstGeom prst="rect">
            <a:avLst/>
          </a:prstGeom>
          <a:noFill/>
          <a:ln w="28575">
            <a:solidFill>
              <a:srgbClr val="00B0F0"/>
            </a:solidFill>
          </a:ln>
        </p:spPr>
        <p:txBody>
          <a:bodyPr wrap="square" rtlCol="0">
            <a:spAutoFit/>
          </a:bodyPr>
          <a:lstStyle/>
          <a:p>
            <a:r>
              <a:rPr lang="en-US" sz="2800" b="1" strike="sngStrike" dirty="0">
                <a:solidFill>
                  <a:srgbClr val="00B0F0"/>
                </a:solidFill>
              </a:rPr>
              <a:t>SMARTPHONE - ASSURANCE TEMPLATE</a:t>
            </a:r>
          </a:p>
          <a:p>
            <a:r>
              <a:rPr lang="en-US" sz="2800" b="1" dirty="0">
                <a:solidFill>
                  <a:srgbClr val="FF0000"/>
                </a:solidFill>
              </a:rPr>
              <a:t>NOTICE: ASW brand profile support for new devices terminated on 8/1/2024.</a:t>
            </a:r>
          </a:p>
        </p:txBody>
      </p:sp>
    </p:spTree>
    <p:extLst>
      <p:ext uri="{BB962C8B-B14F-4D97-AF65-F5344CB8AC3E}">
        <p14:creationId xmlns:p14="http://schemas.microsoft.com/office/powerpoint/2010/main" val="415870450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3123DC44-F3F4-49E8-9281-BD4E386D9AF0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958188" y="2481250"/>
            <a:ext cx="3094523" cy="947750"/>
          </a:xfrm>
          <a:ln w="28575">
            <a:solidFill>
              <a:schemeClr val="bg1"/>
            </a:solidFill>
          </a:ln>
        </p:spPr>
        <p:txBody>
          <a:bodyPr>
            <a:normAutofit/>
          </a:bodyPr>
          <a:lstStyle/>
          <a:p>
            <a:r>
              <a:rPr lang="en-US" sz="6000" dirty="0"/>
              <a:t> TABLETS</a:t>
            </a:r>
          </a:p>
        </p:txBody>
      </p:sp>
    </p:spTree>
    <p:extLst>
      <p:ext uri="{BB962C8B-B14F-4D97-AF65-F5344CB8AC3E}">
        <p14:creationId xmlns:p14="http://schemas.microsoft.com/office/powerpoint/2010/main" val="406456159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6A4DEF40-9FAA-488A-8DC3-B93DDD0D686A}"/>
              </a:ext>
            </a:extLst>
          </p:cNvPr>
          <p:cNvSpPr txBox="1"/>
          <p:nvPr/>
        </p:nvSpPr>
        <p:spPr>
          <a:xfrm>
            <a:off x="372381" y="2776301"/>
            <a:ext cx="7202463" cy="523220"/>
          </a:xfrm>
          <a:prstGeom prst="rect">
            <a:avLst/>
          </a:prstGeom>
          <a:noFill/>
          <a:ln w="28575">
            <a:solidFill>
              <a:schemeClr val="accent1"/>
            </a:solidFill>
          </a:ln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chemeClr val="accent1"/>
                </a:solidFill>
              </a:rPr>
              <a:t>TABLET - T-MOBILE 6X5 SCREEN SIZE TEMPLATE</a:t>
            </a:r>
          </a:p>
        </p:txBody>
      </p:sp>
    </p:spTree>
    <p:extLst>
      <p:ext uri="{BB962C8B-B14F-4D97-AF65-F5344CB8AC3E}">
        <p14:creationId xmlns:p14="http://schemas.microsoft.com/office/powerpoint/2010/main" val="3067780967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F8BD05-55ED-D911-3096-054D851B42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9ED6C003-58F8-4760-2C4F-6BBA32F56C5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4484" y="31799"/>
            <a:ext cx="10750998" cy="947750"/>
          </a:xfrm>
        </p:spPr>
        <p:txBody>
          <a:bodyPr>
            <a:normAutofit/>
          </a:bodyPr>
          <a:lstStyle/>
          <a:p>
            <a:r>
              <a:rPr lang="en-US" sz="3200" dirty="0"/>
              <a:t>T-Mobile Brand 6x5 (Lock +Unlock)</a:t>
            </a:r>
          </a:p>
        </p:txBody>
      </p:sp>
      <p:pic>
        <p:nvPicPr>
          <p:cNvPr id="243" name="Picture 242">
            <a:extLst>
              <a:ext uri="{FF2B5EF4-FFF2-40B4-BE49-F238E27FC236}">
                <a16:creationId xmlns:a16="http://schemas.microsoft.com/office/drawing/2014/main" id="{C5368759-EFEC-A609-D421-800F6D39E2F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51647" y="31799"/>
            <a:ext cx="2163469" cy="652204"/>
          </a:xfrm>
          <a:prstGeom prst="rect">
            <a:avLst/>
          </a:prstGeom>
        </p:spPr>
      </p:pic>
      <p:sp>
        <p:nvSpPr>
          <p:cNvPr id="20" name="TextBox 11">
            <a:extLst>
              <a:ext uri="{FF2B5EF4-FFF2-40B4-BE49-F238E27FC236}">
                <a16:creationId xmlns:a16="http://schemas.microsoft.com/office/drawing/2014/main" id="{8701C50C-1645-FDAE-6301-D49D53EDFD39}"/>
              </a:ext>
            </a:extLst>
          </p:cNvPr>
          <p:cNvSpPr txBox="1"/>
          <p:nvPr/>
        </p:nvSpPr>
        <p:spPr>
          <a:xfrm>
            <a:off x="864286" y="11823712"/>
            <a:ext cx="1463073" cy="272348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/>
              <a:t>Google Discover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068A54D5-6AFC-B0BE-DEFE-7B53936DF7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97141134"/>
              </p:ext>
            </p:extLst>
          </p:nvPr>
        </p:nvGraphicFramePr>
        <p:xfrm>
          <a:off x="460753" y="666025"/>
          <a:ext cx="4285417" cy="4537282"/>
        </p:xfrm>
        <a:graphic>
          <a:graphicData uri="http://schemas.openxmlformats.org/drawingml/2006/table">
            <a:tbl>
              <a:tblPr/>
              <a:tblGrid>
                <a:gridCol w="323199">
                  <a:extLst>
                    <a:ext uri="{9D8B030D-6E8A-4147-A177-3AD203B41FA5}">
                      <a16:colId xmlns:a16="http://schemas.microsoft.com/office/drawing/2014/main" val="122851149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38574171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1034406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765835962"/>
                    </a:ext>
                  </a:extLst>
                </a:gridCol>
                <a:gridCol w="227994">
                  <a:extLst>
                    <a:ext uri="{9D8B030D-6E8A-4147-A177-3AD203B41FA5}">
                      <a16:colId xmlns:a16="http://schemas.microsoft.com/office/drawing/2014/main" val="3032794130"/>
                    </a:ext>
                  </a:extLst>
                </a:gridCol>
                <a:gridCol w="276517">
                  <a:extLst>
                    <a:ext uri="{9D8B030D-6E8A-4147-A177-3AD203B41FA5}">
                      <a16:colId xmlns:a16="http://schemas.microsoft.com/office/drawing/2014/main" val="541524318"/>
                    </a:ext>
                  </a:extLst>
                </a:gridCol>
                <a:gridCol w="243662">
                  <a:extLst>
                    <a:ext uri="{9D8B030D-6E8A-4147-A177-3AD203B41FA5}">
                      <a16:colId xmlns:a16="http://schemas.microsoft.com/office/drawing/2014/main" val="147404175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87507260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136874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18794909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42879882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2678500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5382073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72920100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415853704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86910272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558557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255814577"/>
                    </a:ext>
                  </a:extLst>
                </a:gridCol>
                <a:gridCol w="323199">
                  <a:extLst>
                    <a:ext uri="{9D8B030D-6E8A-4147-A177-3AD203B41FA5}">
                      <a16:colId xmlns:a16="http://schemas.microsoft.com/office/drawing/2014/main" val="650234665"/>
                    </a:ext>
                  </a:extLst>
                </a:gridCol>
              </a:tblGrid>
              <a:tr h="205879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Lock Screen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0995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704942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6546747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1761008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238531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8044488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9239566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7918914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8934769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496596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2743560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6333289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9844401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28475292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3377790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5461106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8258329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6355017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6054402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746340574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2335085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9395224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428589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3035375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6969364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6587648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0832905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4509624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7078814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58620133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1655012"/>
                  </a:ext>
                </a:extLst>
              </a:tr>
              <a:tr h="13485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242736861"/>
                  </a:ext>
                </a:extLst>
              </a:tr>
            </a:tbl>
          </a:graphicData>
        </a:graphic>
      </p:graphicFrame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F5A70EEC-79B4-52FE-C5C2-82BFE75F8E65}"/>
              </a:ext>
            </a:extLst>
          </p:cNvPr>
          <p:cNvGraphicFramePr>
            <a:graphicFrameLocks noGrp="1"/>
          </p:cNvGraphicFramePr>
          <p:nvPr/>
        </p:nvGraphicFramePr>
        <p:xfrm>
          <a:off x="5358006" y="684003"/>
          <a:ext cx="4285417" cy="4537282"/>
        </p:xfrm>
        <a:graphic>
          <a:graphicData uri="http://schemas.openxmlformats.org/drawingml/2006/table">
            <a:tbl>
              <a:tblPr/>
              <a:tblGrid>
                <a:gridCol w="323199">
                  <a:extLst>
                    <a:ext uri="{9D8B030D-6E8A-4147-A177-3AD203B41FA5}">
                      <a16:colId xmlns:a16="http://schemas.microsoft.com/office/drawing/2014/main" val="122851149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38574171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1034406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765835962"/>
                    </a:ext>
                  </a:extLst>
                </a:gridCol>
                <a:gridCol w="227994">
                  <a:extLst>
                    <a:ext uri="{9D8B030D-6E8A-4147-A177-3AD203B41FA5}">
                      <a16:colId xmlns:a16="http://schemas.microsoft.com/office/drawing/2014/main" val="3032794130"/>
                    </a:ext>
                  </a:extLst>
                </a:gridCol>
                <a:gridCol w="276517">
                  <a:extLst>
                    <a:ext uri="{9D8B030D-6E8A-4147-A177-3AD203B41FA5}">
                      <a16:colId xmlns:a16="http://schemas.microsoft.com/office/drawing/2014/main" val="541524318"/>
                    </a:ext>
                  </a:extLst>
                </a:gridCol>
                <a:gridCol w="243662">
                  <a:extLst>
                    <a:ext uri="{9D8B030D-6E8A-4147-A177-3AD203B41FA5}">
                      <a16:colId xmlns:a16="http://schemas.microsoft.com/office/drawing/2014/main" val="147404175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87507260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136874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18794909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42879882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2678500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5382073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72920100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415853704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86910272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558557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255814577"/>
                    </a:ext>
                  </a:extLst>
                </a:gridCol>
                <a:gridCol w="323199">
                  <a:extLst>
                    <a:ext uri="{9D8B030D-6E8A-4147-A177-3AD203B41FA5}">
                      <a16:colId xmlns:a16="http://schemas.microsoft.com/office/drawing/2014/main" val="650234665"/>
                    </a:ext>
                  </a:extLst>
                </a:gridCol>
              </a:tblGrid>
              <a:tr h="205879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Unlock Screen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0995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704942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gridSpan="15">
                  <a:txBody>
                    <a:bodyPr/>
                    <a:lstStyle/>
                    <a:p>
                      <a:pPr algn="ctr" fontAlgn="ctr"/>
                      <a:r>
                        <a:rPr lang="en-US" sz="20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T-Play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8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6546747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1761008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238531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8044488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9239566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7918914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8934769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496596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2743560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6333289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9844401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28475292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3377790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5461106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8258329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6355017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6054402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746340574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2335085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9395224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428589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3035375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6969364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6587648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0832905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4509624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7078814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58620133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1655012"/>
                  </a:ext>
                </a:extLst>
              </a:tr>
              <a:tr h="13485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24273686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FECEF449-84C6-F2CC-946B-D24005735CDF}"/>
              </a:ext>
            </a:extLst>
          </p:cNvPr>
          <p:cNvSpPr txBox="1"/>
          <p:nvPr/>
        </p:nvSpPr>
        <p:spPr>
          <a:xfrm>
            <a:off x="606558" y="5206856"/>
            <a:ext cx="6050561" cy="646331"/>
          </a:xfrm>
          <a:prstGeom prst="rect">
            <a:avLst/>
          </a:prstGeom>
          <a:noFill/>
        </p:spPr>
        <p:txBody>
          <a:bodyPr wrap="square" lIns="91440" tIns="45720" rIns="91440" bIns="45720" anchor="t">
            <a:spAutoFit/>
          </a:bodyPr>
          <a:lstStyle/>
          <a:p>
            <a:pPr fontAlgn="b"/>
            <a:r>
              <a:rPr lang="en-US" sz="1200" b="1" i="0" u="none" strike="noStrike" dirty="0">
                <a:solidFill>
                  <a:srgbClr val="000000"/>
                </a:solidFill>
                <a:effectLst/>
                <a:latin typeface="Calibri"/>
                <a:ea typeface="Calibri"/>
                <a:cs typeface="Calibri"/>
              </a:rPr>
              <a:t>OEM Instructions: </a:t>
            </a:r>
            <a:r>
              <a:rPr lang="en-US" sz="1200" b="1" i="0" u="sng" strike="noStrike" dirty="0">
                <a:solidFill>
                  <a:srgbClr val="4472C4"/>
                </a:solidFill>
                <a:effectLst/>
                <a:latin typeface="Calibri"/>
                <a:ea typeface="Calibri"/>
                <a:cs typeface="Calibri"/>
              </a:rPr>
              <a:t> </a:t>
            </a:r>
            <a:br>
              <a:rPr lang="en-US" sz="1200" b="0" i="0" u="none" strike="noStrike" dirty="0"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/>
                <a:ea typeface="Calibri"/>
                <a:cs typeface="Calibri"/>
              </a:rPr>
              <a:t>Please provid</a:t>
            </a:r>
            <a:r>
              <a:rPr lang="en-US" sz="1200" dirty="0">
                <a:solidFill>
                  <a:srgbClr val="000000"/>
                </a:solidFill>
                <a:latin typeface="Calibri"/>
                <a:ea typeface="Calibri"/>
                <a:cs typeface="Calibri"/>
              </a:rPr>
              <a:t>e the mapping or the device’s Lock and Unlock screen. Please feel free to </a:t>
            </a:r>
            <a:r>
              <a:rPr lang="en-US" sz="1200">
                <a:solidFill>
                  <a:srgbClr val="000000"/>
                </a:solidFill>
                <a:latin typeface="Calibri"/>
                <a:ea typeface="Calibri"/>
                <a:cs typeface="Calibri"/>
              </a:rPr>
              <a:t>populate the screens as you would with any other device screen. </a:t>
            </a:r>
            <a:endParaRPr lang="en-US" sz="1200" b="0" i="0" u="none" strike="noStrike">
              <a:solidFill>
                <a:srgbClr val="000000"/>
              </a:solidFill>
              <a:effectLst/>
              <a:latin typeface="Calibri" panose="020F0502020204030204" pitchFamily="34" charset="0"/>
              <a:ea typeface="Calibri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245919958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ext Placeholder 5">
            <a:extLst>
              <a:ext uri="{FF2B5EF4-FFF2-40B4-BE49-F238E27FC236}">
                <a16:creationId xmlns:a16="http://schemas.microsoft.com/office/drawing/2014/main" id="{06CB8FB9-1BA0-402C-87C7-06019542617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4484" y="31799"/>
            <a:ext cx="10750998" cy="947750"/>
          </a:xfrm>
        </p:spPr>
        <p:txBody>
          <a:bodyPr>
            <a:normAutofit/>
          </a:bodyPr>
          <a:lstStyle/>
          <a:p>
            <a:r>
              <a:rPr lang="en-US" sz="3200" dirty="0"/>
              <a:t>TABLET - T-Mobile Brand 6x5 (Homescreen + Panel Layout)</a:t>
            </a:r>
          </a:p>
        </p:txBody>
      </p:sp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177F6E49-B7EF-44F1-A51C-197DFD0039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9713451"/>
              </p:ext>
            </p:extLst>
          </p:nvPr>
        </p:nvGraphicFramePr>
        <p:xfrm>
          <a:off x="5581650" y="4830713"/>
          <a:ext cx="5403850" cy="920750"/>
        </p:xfrm>
        <a:graphic>
          <a:graphicData uri="http://schemas.openxmlformats.org/drawingml/2006/table">
            <a:tbl>
              <a:tblPr/>
              <a:tblGrid>
                <a:gridCol w="5403850">
                  <a:extLst>
                    <a:ext uri="{9D8B030D-6E8A-4147-A177-3AD203B41FA5}">
                      <a16:colId xmlns:a16="http://schemas.microsoft.com/office/drawing/2014/main" val="4123267365"/>
                    </a:ext>
                  </a:extLst>
                </a:gridCol>
              </a:tblGrid>
              <a:tr h="808646">
                <a:tc>
                  <a:txBody>
                    <a:bodyPr/>
                    <a:lstStyle/>
                    <a:p>
                      <a:pPr algn="l" fontAlgn="b"/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Customization Files may be found here: 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https://tmap.t-mobile.com/portals/ayibw7iw/OEMToolkit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This includes brand specific: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  •Power Up / Boot File animation and mnemonic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  •T-Mobile / Metro</a:t>
                      </a:r>
                    </a:p>
                  </a:txBody>
                  <a:tcPr marL="6350" marR="6350" marT="635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68333052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893B82D9-946F-49D9-9F91-33BCA063D3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0125028"/>
              </p:ext>
            </p:extLst>
          </p:nvPr>
        </p:nvGraphicFramePr>
        <p:xfrm>
          <a:off x="242910" y="4674430"/>
          <a:ext cx="4842150" cy="1959610"/>
        </p:xfrm>
        <a:graphic>
          <a:graphicData uri="http://schemas.openxmlformats.org/drawingml/2006/table">
            <a:tbl>
              <a:tblPr/>
              <a:tblGrid>
                <a:gridCol w="193686">
                  <a:extLst>
                    <a:ext uri="{9D8B030D-6E8A-4147-A177-3AD203B41FA5}">
                      <a16:colId xmlns:a16="http://schemas.microsoft.com/office/drawing/2014/main" val="3668995254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2298855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347258237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887936937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31880910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69528032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47022183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21668264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355972019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57865640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2311707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32040150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1610574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428869703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882220615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809203488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97926968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073156503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469739955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67735331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783650352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043479574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599976022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942200419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114388392"/>
                    </a:ext>
                  </a:extLst>
                </a:gridCol>
              </a:tblGrid>
              <a:tr h="63404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90249396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759617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Calendar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Wallet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Chrome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14018275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736548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5294176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089445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Home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One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Search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8432401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834597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045608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1047355"/>
                  </a:ext>
                </a:extLst>
              </a:tr>
              <a:tr h="121273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OEM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65572867"/>
                  </a:ext>
                </a:extLst>
              </a:tr>
            </a:tbl>
          </a:graphicData>
        </a:graphic>
      </p:graphicFrame>
      <p:pic>
        <p:nvPicPr>
          <p:cNvPr id="18" name="Picture 17">
            <a:extLst>
              <a:ext uri="{FF2B5EF4-FFF2-40B4-BE49-F238E27FC236}">
                <a16:creationId xmlns:a16="http://schemas.microsoft.com/office/drawing/2014/main" id="{DE21FFF7-E72F-4177-B168-020618432F9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903765" y="824024"/>
            <a:ext cx="2163469" cy="652204"/>
          </a:xfrm>
          <a:prstGeom prst="rect">
            <a:avLst/>
          </a:prstGeom>
        </p:spPr>
      </p:pic>
      <p:graphicFrame>
        <p:nvGraphicFramePr>
          <p:cNvPr id="19" name="Table 18">
            <a:extLst>
              <a:ext uri="{FF2B5EF4-FFF2-40B4-BE49-F238E27FC236}">
                <a16:creationId xmlns:a16="http://schemas.microsoft.com/office/drawing/2014/main" id="{9B75B4D5-D900-4B3B-8DA8-197E3A0B94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7755235"/>
              </p:ext>
            </p:extLst>
          </p:nvPr>
        </p:nvGraphicFramePr>
        <p:xfrm>
          <a:off x="10026869" y="1577346"/>
          <a:ext cx="1669768" cy="2655570"/>
        </p:xfrm>
        <a:graphic>
          <a:graphicData uri="http://schemas.openxmlformats.org/drawingml/2006/table">
            <a:tbl>
              <a:tblPr/>
              <a:tblGrid>
                <a:gridCol w="199196">
                  <a:extLst>
                    <a:ext uri="{9D8B030D-6E8A-4147-A177-3AD203B41FA5}">
                      <a16:colId xmlns:a16="http://schemas.microsoft.com/office/drawing/2014/main" val="3072099247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2660851657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4051570774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841299941"/>
                    </a:ext>
                  </a:extLst>
                </a:gridCol>
                <a:gridCol w="76200">
                  <a:extLst>
                    <a:ext uri="{9D8B030D-6E8A-4147-A177-3AD203B41FA5}">
                      <a16:colId xmlns:a16="http://schemas.microsoft.com/office/drawing/2014/main" val="2697608583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2261431747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2738975599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54138011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3602541442"/>
                    </a:ext>
                  </a:extLst>
                </a:gridCol>
              </a:tblGrid>
              <a:tr h="163674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T-Mobile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007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83593485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05454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1" i="0" u="none" strike="noStrike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T-Mobile Play</a:t>
                      </a:r>
                    </a:p>
                    <a:p>
                      <a:pPr algn="ctr" fontAlgn="ctr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8629493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1" i="0" u="none" strike="noStrike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159240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2367054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705827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8681097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0357925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5990450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885689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142577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9782762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6073934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0527355"/>
                  </a:ext>
                </a:extLst>
              </a:tr>
              <a:tr h="129615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CM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24319942"/>
                  </a:ext>
                </a:extLst>
              </a:tr>
            </a:tbl>
          </a:graphicData>
        </a:graphic>
      </p:graphicFrame>
      <p:cxnSp>
        <p:nvCxnSpPr>
          <p:cNvPr id="26" name="Connector: Elbow 25">
            <a:extLst>
              <a:ext uri="{FF2B5EF4-FFF2-40B4-BE49-F238E27FC236}">
                <a16:creationId xmlns:a16="http://schemas.microsoft.com/office/drawing/2014/main" id="{19FF37E9-F6F8-4C6F-994F-4F6746164B3D}"/>
              </a:ext>
            </a:extLst>
          </p:cNvPr>
          <p:cNvCxnSpPr>
            <a:cxnSpLocks/>
          </p:cNvCxnSpPr>
          <p:nvPr/>
        </p:nvCxnSpPr>
        <p:spPr>
          <a:xfrm rot="5400000">
            <a:off x="2587210" y="3870740"/>
            <a:ext cx="1245430" cy="361950"/>
          </a:xfrm>
          <a:prstGeom prst="bentConnector3">
            <a:avLst>
              <a:gd name="adj1" fmla="val 11250"/>
            </a:avLst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Connector: Elbow 34">
            <a:extLst>
              <a:ext uri="{FF2B5EF4-FFF2-40B4-BE49-F238E27FC236}">
                <a16:creationId xmlns:a16="http://schemas.microsoft.com/office/drawing/2014/main" id="{71B506AE-A878-4D2E-8F2F-6C92D3EF4A4C}"/>
              </a:ext>
            </a:extLst>
          </p:cNvPr>
          <p:cNvCxnSpPr>
            <a:cxnSpLocks/>
          </p:cNvCxnSpPr>
          <p:nvPr/>
        </p:nvCxnSpPr>
        <p:spPr>
          <a:xfrm>
            <a:off x="6280145" y="3429000"/>
            <a:ext cx="3746724" cy="179173"/>
          </a:xfrm>
          <a:prstGeom prst="bentConnector3">
            <a:avLst>
              <a:gd name="adj1" fmla="val 50000"/>
            </a:avLst>
          </a:prstGeom>
          <a:ln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6CCB6264-815D-4CB3-BC3D-4098D5B935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6696776"/>
              </p:ext>
            </p:extLst>
          </p:nvPr>
        </p:nvGraphicFramePr>
        <p:xfrm>
          <a:off x="139706" y="724683"/>
          <a:ext cx="9811941" cy="3522527"/>
        </p:xfrm>
        <a:graphic>
          <a:graphicData uri="http://schemas.openxmlformats.org/drawingml/2006/table">
            <a:tbl>
              <a:tblPr/>
              <a:tblGrid>
                <a:gridCol w="129089">
                  <a:extLst>
                    <a:ext uri="{9D8B030D-6E8A-4147-A177-3AD203B41FA5}">
                      <a16:colId xmlns:a16="http://schemas.microsoft.com/office/drawing/2014/main" val="3431356663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3815651847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2972334428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2058731235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21584630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1097889096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5526880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2080648211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2027195535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3263462995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2674873106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3465899137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2686584494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1366173910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700533430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1178781857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1294999387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1099891746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858205477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997915758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478913740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533142327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1619271111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1119095114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1242718510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2758325470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2457001197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3668810253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3611776070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3406621336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2553834936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3467860183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1967447134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2850672745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3459780445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2119090976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2229281207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1037054402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3129317543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1502305787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4038291501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816257610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167759788"/>
                    </a:ext>
                  </a:extLst>
                </a:gridCol>
                <a:gridCol w="81617">
                  <a:extLst>
                    <a:ext uri="{9D8B030D-6E8A-4147-A177-3AD203B41FA5}">
                      <a16:colId xmlns:a16="http://schemas.microsoft.com/office/drawing/2014/main" val="1437706540"/>
                    </a:ext>
                  </a:extLst>
                </a:gridCol>
                <a:gridCol w="47472">
                  <a:extLst>
                    <a:ext uri="{9D8B030D-6E8A-4147-A177-3AD203B41FA5}">
                      <a16:colId xmlns:a16="http://schemas.microsoft.com/office/drawing/2014/main" val="4201809354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815371217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1335755840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3369587272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2311073020"/>
                    </a:ext>
                  </a:extLst>
                </a:gridCol>
                <a:gridCol w="109272">
                  <a:extLst>
                    <a:ext uri="{9D8B030D-6E8A-4147-A177-3AD203B41FA5}">
                      <a16:colId xmlns:a16="http://schemas.microsoft.com/office/drawing/2014/main" val="4251392459"/>
                    </a:ext>
                  </a:extLst>
                </a:gridCol>
                <a:gridCol w="148906">
                  <a:extLst>
                    <a:ext uri="{9D8B030D-6E8A-4147-A177-3AD203B41FA5}">
                      <a16:colId xmlns:a16="http://schemas.microsoft.com/office/drawing/2014/main" val="895012435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2658980035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1273115601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3403816734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3892215506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1969865511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2211490997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3521670814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2398432603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1208727331"/>
                    </a:ext>
                  </a:extLst>
                </a:gridCol>
                <a:gridCol w="92643">
                  <a:extLst>
                    <a:ext uri="{9D8B030D-6E8A-4147-A177-3AD203B41FA5}">
                      <a16:colId xmlns:a16="http://schemas.microsoft.com/office/drawing/2014/main" val="3572026842"/>
                    </a:ext>
                  </a:extLst>
                </a:gridCol>
                <a:gridCol w="36446">
                  <a:extLst>
                    <a:ext uri="{9D8B030D-6E8A-4147-A177-3AD203B41FA5}">
                      <a16:colId xmlns:a16="http://schemas.microsoft.com/office/drawing/2014/main" val="3483505649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4009713835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397807121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4110899862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3648815327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50102384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1309440126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1648007340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3577881300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3625379883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1240397963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3286743870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3637717702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279945344"/>
                    </a:ext>
                  </a:extLst>
                </a:gridCol>
                <a:gridCol w="129089">
                  <a:extLst>
                    <a:ext uri="{9D8B030D-6E8A-4147-A177-3AD203B41FA5}">
                      <a16:colId xmlns:a16="http://schemas.microsoft.com/office/drawing/2014/main" val="199490864"/>
                    </a:ext>
                  </a:extLst>
                </a:gridCol>
                <a:gridCol w="33086">
                  <a:extLst>
                    <a:ext uri="{9D8B030D-6E8A-4147-A177-3AD203B41FA5}">
                      <a16:colId xmlns:a16="http://schemas.microsoft.com/office/drawing/2014/main" val="3667829756"/>
                    </a:ext>
                  </a:extLst>
                </a:gridCol>
                <a:gridCol w="226269">
                  <a:extLst>
                    <a:ext uri="{9D8B030D-6E8A-4147-A177-3AD203B41FA5}">
                      <a16:colId xmlns:a16="http://schemas.microsoft.com/office/drawing/2014/main" val="2658955143"/>
                    </a:ext>
                  </a:extLst>
                </a:gridCol>
              </a:tblGrid>
              <a:tr h="121313">
                <a:tc>
                  <a:txBody>
                    <a:bodyPr/>
                    <a:lstStyle/>
                    <a:p>
                      <a:pPr algn="ctr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0460060"/>
                  </a:ext>
                </a:extLst>
              </a:tr>
              <a:tr h="12131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1">
                  <a:txBody>
                    <a:bodyPr/>
                    <a:lstStyle/>
                    <a:p>
                      <a:pPr algn="ctr" fontAlgn="b"/>
                      <a:r>
                        <a:rPr lang="en-US" sz="8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1L - Minus One Screen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6">
                  <a:txBody>
                    <a:bodyPr/>
                    <a:lstStyle/>
                    <a:p>
                      <a:pPr algn="ctr" fontAlgn="b"/>
                      <a:r>
                        <a:rPr lang="en-US" sz="8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Home- Screen 0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6"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1R - PLUS ONE SCREEN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400612"/>
                  </a:ext>
                </a:extLst>
              </a:tr>
              <a:tr h="12131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21949518"/>
                  </a:ext>
                </a:extLst>
              </a:tr>
              <a:tr h="12131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24" gridSpan="19"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Assistant &amp; T-Mobile Play                                (-1 Minus One) page</a:t>
                      </a:r>
                      <a:endParaRPr 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4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562287"/>
                  </a:ext>
                </a:extLst>
              </a:tr>
              <a:tr h="12131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4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96303198"/>
                  </a:ext>
                </a:extLst>
              </a:tr>
              <a:tr h="12131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4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7364831"/>
                  </a:ext>
                </a:extLst>
              </a:tr>
              <a:tr h="12131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23177002"/>
                  </a:ext>
                </a:extLst>
              </a:tr>
              <a:tr h="12131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4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3830516"/>
                  </a:ext>
                </a:extLst>
              </a:tr>
              <a:tr h="12131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4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7618462"/>
                  </a:ext>
                </a:extLst>
              </a:tr>
              <a:tr h="12131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4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97743116"/>
                  </a:ext>
                </a:extLst>
              </a:tr>
              <a:tr h="12131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645536"/>
                  </a:ext>
                </a:extLst>
              </a:tr>
              <a:tr h="12131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24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Search (6x1)</a:t>
                      </a:r>
                    </a:p>
                  </a:txBody>
                  <a:tcPr marL="3843" marR="3843" marT="384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4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438302"/>
                  </a:ext>
                </a:extLst>
              </a:tr>
              <a:tr h="12131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4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4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9940"/>
                  </a:ext>
                </a:extLst>
              </a:tr>
              <a:tr h="12131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4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4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9054637"/>
                  </a:ext>
                </a:extLst>
              </a:tr>
              <a:tr h="12131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7146118"/>
                  </a:ext>
                </a:extLst>
              </a:tr>
              <a:tr h="12131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4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4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58604958"/>
                  </a:ext>
                </a:extLst>
              </a:tr>
              <a:tr h="12131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4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4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0516171"/>
                  </a:ext>
                </a:extLst>
              </a:tr>
              <a:tr h="12131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4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4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4145586"/>
                  </a:ext>
                </a:extLst>
              </a:tr>
              <a:tr h="12131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10288562"/>
                  </a:ext>
                </a:extLst>
              </a:tr>
              <a:tr h="12131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FOLDER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PLAYSTORE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ASSIST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472C4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PHOTOS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4"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T-MOBILE FOLDER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TikTok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0459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4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1891845"/>
                  </a:ext>
                </a:extLst>
              </a:tr>
              <a:tr h="12131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4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4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3511936"/>
                  </a:ext>
                </a:extLst>
              </a:tr>
              <a:tr h="12131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4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4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98026031"/>
                  </a:ext>
                </a:extLst>
              </a:tr>
              <a:tr h="12131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65924608"/>
                  </a:ext>
                </a:extLst>
              </a:tr>
              <a:tr h="12131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1043299"/>
                  </a:ext>
                </a:extLst>
              </a:tr>
              <a:tr h="12131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Phone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Messages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Contacts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4">
                  <a:txBody>
                    <a:bodyPr/>
                    <a:lstStyle/>
                    <a:p>
                      <a:pPr algn="l" fontAlgn="b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Chrome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Chrome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Phone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Messages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4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Contacts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Chrome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8175886"/>
                  </a:ext>
                </a:extLst>
              </a:tr>
              <a:tr h="12131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4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4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56995414"/>
                  </a:ext>
                </a:extLst>
              </a:tr>
              <a:tr h="12131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4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4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7109581"/>
                  </a:ext>
                </a:extLst>
              </a:tr>
              <a:tr h="12131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47377154"/>
                  </a:ext>
                </a:extLst>
              </a:tr>
              <a:tr h="12131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90788026"/>
                  </a:ext>
                </a:extLst>
              </a:tr>
            </a:tbl>
          </a:graphicData>
        </a:graphic>
      </p:graphicFrame>
      <p:sp>
        <p:nvSpPr>
          <p:cNvPr id="10" name="TextBox 4">
            <a:extLst>
              <a:ext uri="{FF2B5EF4-FFF2-40B4-BE49-F238E27FC236}">
                <a16:creationId xmlns:a16="http://schemas.microsoft.com/office/drawing/2014/main" id="{89C62F5F-7FE3-4A80-9688-374C99C46EB0}"/>
              </a:ext>
            </a:extLst>
          </p:cNvPr>
          <p:cNvSpPr txBox="1"/>
          <p:nvPr/>
        </p:nvSpPr>
        <p:spPr>
          <a:xfrm>
            <a:off x="443881" y="1124964"/>
            <a:ext cx="1106891" cy="355600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 dirty="0"/>
              <a:t>Google Discover</a:t>
            </a:r>
          </a:p>
        </p:txBody>
      </p:sp>
      <p:sp>
        <p:nvSpPr>
          <p:cNvPr id="11" name="TextBox 5">
            <a:extLst>
              <a:ext uri="{FF2B5EF4-FFF2-40B4-BE49-F238E27FC236}">
                <a16:creationId xmlns:a16="http://schemas.microsoft.com/office/drawing/2014/main" id="{FAB79912-8BD1-4715-8861-81C11E6E1D0F}"/>
              </a:ext>
            </a:extLst>
          </p:cNvPr>
          <p:cNvSpPr txBox="1"/>
          <p:nvPr/>
        </p:nvSpPr>
        <p:spPr>
          <a:xfrm>
            <a:off x="1681465" y="1132256"/>
            <a:ext cx="1106891" cy="355600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/>
              <a:t>T-Mobile Play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42E9328B-3E9D-5538-6361-5613866B28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5195799"/>
              </p:ext>
            </p:extLst>
          </p:nvPr>
        </p:nvGraphicFramePr>
        <p:xfrm>
          <a:off x="10150615" y="4371468"/>
          <a:ext cx="1669767" cy="17863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69767">
                  <a:extLst>
                    <a:ext uri="{9D8B030D-6E8A-4147-A177-3AD203B41FA5}">
                      <a16:colId xmlns:a16="http://schemas.microsoft.com/office/drawing/2014/main" val="4009581341"/>
                    </a:ext>
                  </a:extLst>
                </a:gridCol>
              </a:tblGrid>
              <a:tr h="321267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Plus – One Applications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05086144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T-Life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58167358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TikTok (AS)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80852661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Facebook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4242014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Instagram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07362174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WhatsApp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602375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15513679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B4DFBEA-C9E3-485D-B4A5-063CDD28548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4484" y="31799"/>
            <a:ext cx="10750998" cy="947750"/>
          </a:xfrm>
        </p:spPr>
        <p:txBody>
          <a:bodyPr>
            <a:normAutofit/>
          </a:bodyPr>
          <a:lstStyle/>
          <a:p>
            <a:r>
              <a:rPr lang="en-US" sz="3200" dirty="0"/>
              <a:t>TABLET - T-Mobile Brand 6x5 (APP TRAY)</a:t>
            </a:r>
          </a:p>
        </p:txBody>
      </p:sp>
      <p:pic>
        <p:nvPicPr>
          <p:cNvPr id="243" name="Picture 242">
            <a:extLst>
              <a:ext uri="{FF2B5EF4-FFF2-40B4-BE49-F238E27FC236}">
                <a16:creationId xmlns:a16="http://schemas.microsoft.com/office/drawing/2014/main" id="{16DAAD4E-E7A0-4A13-90CE-032F71D27A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096513" y="65941"/>
            <a:ext cx="2163469" cy="652204"/>
          </a:xfrm>
          <a:prstGeom prst="rect">
            <a:avLst/>
          </a:prstGeom>
        </p:spPr>
      </p:pic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084BD0EE-3F05-478F-935E-D48024FC8E7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4393455"/>
              </p:ext>
            </p:extLst>
          </p:nvPr>
        </p:nvGraphicFramePr>
        <p:xfrm>
          <a:off x="9317344" y="3796687"/>
          <a:ext cx="1298732" cy="2159016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298732">
                  <a:extLst>
                    <a:ext uri="{9D8B030D-6E8A-4147-A177-3AD203B41FA5}">
                      <a16:colId xmlns:a16="http://schemas.microsoft.com/office/drawing/2014/main" val="4283747700"/>
                    </a:ext>
                  </a:extLst>
                </a:gridCol>
              </a:tblGrid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OEM FOLDER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214296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5456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2397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7691460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25063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905200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2070764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6544440"/>
                  </a:ext>
                </a:extLst>
              </a:tr>
            </a:tbl>
          </a:graphicData>
        </a:graphic>
      </p:graphicFrame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D82C608A-E4A4-4FE4-83C8-D28C151694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8114501"/>
              </p:ext>
            </p:extLst>
          </p:nvPr>
        </p:nvGraphicFramePr>
        <p:xfrm>
          <a:off x="10743560" y="3796687"/>
          <a:ext cx="1223344" cy="2159016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223344">
                  <a:extLst>
                    <a:ext uri="{9D8B030D-6E8A-4147-A177-3AD203B41FA5}">
                      <a16:colId xmlns:a16="http://schemas.microsoft.com/office/drawing/2014/main" val="4283747700"/>
                    </a:ext>
                  </a:extLst>
                </a:gridCol>
              </a:tblGrid>
              <a:tr h="273476">
                <a:tc>
                  <a:txBody>
                    <a:bodyPr/>
                    <a:lstStyle/>
                    <a:p>
                      <a:r>
                        <a:rPr lang="en-US" sz="1100" dirty="0"/>
                        <a:t> OTHER FOLDER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214296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5456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2397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7691460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25063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905200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2070764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6544440"/>
                  </a:ext>
                </a:extLst>
              </a:tr>
            </a:tbl>
          </a:graphicData>
        </a:graphic>
      </p:graphicFrame>
      <p:graphicFrame>
        <p:nvGraphicFramePr>
          <p:cNvPr id="18" name="Table 17">
            <a:extLst>
              <a:ext uri="{FF2B5EF4-FFF2-40B4-BE49-F238E27FC236}">
                <a16:creationId xmlns:a16="http://schemas.microsoft.com/office/drawing/2014/main" id="{365C2058-AF86-4C1C-B095-AD6AFDE77C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4786109"/>
              </p:ext>
            </p:extLst>
          </p:nvPr>
        </p:nvGraphicFramePr>
        <p:xfrm>
          <a:off x="174296" y="4488164"/>
          <a:ext cx="4365950" cy="1959610"/>
        </p:xfrm>
        <a:graphic>
          <a:graphicData uri="http://schemas.openxmlformats.org/drawingml/2006/table">
            <a:tbl>
              <a:tblPr/>
              <a:tblGrid>
                <a:gridCol w="174638">
                  <a:extLst>
                    <a:ext uri="{9D8B030D-6E8A-4147-A177-3AD203B41FA5}">
                      <a16:colId xmlns:a16="http://schemas.microsoft.com/office/drawing/2014/main" val="3668995254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222988551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2347258237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2887936937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1318809100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3695280320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470221836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2216682646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2355972019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3578656401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123117071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3320401500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216105740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2428869703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2882220615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3809203488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397926968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2073156503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3469739955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1677353316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3783650352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3043479574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1599976022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3942200419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2114388392"/>
                    </a:ext>
                  </a:extLst>
                </a:gridCol>
              </a:tblGrid>
              <a:tr h="163894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90249396"/>
                  </a:ext>
                </a:extLst>
              </a:tr>
              <a:tr h="129789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7596179"/>
                  </a:ext>
                </a:extLst>
              </a:tr>
              <a:tr h="129789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Calendar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Wallet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Chrome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14018275"/>
                  </a:ext>
                </a:extLst>
              </a:tr>
              <a:tr h="129789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7365489"/>
                  </a:ext>
                </a:extLst>
              </a:tr>
              <a:tr h="129789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5294176"/>
                  </a:ext>
                </a:extLst>
              </a:tr>
              <a:tr h="129789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0894459"/>
                  </a:ext>
                </a:extLst>
              </a:tr>
              <a:tr h="129789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Home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One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Search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8432401"/>
                  </a:ext>
                </a:extLst>
              </a:tr>
              <a:tr h="129789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8345979"/>
                  </a:ext>
                </a:extLst>
              </a:tr>
              <a:tr h="129789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045608"/>
                  </a:ext>
                </a:extLst>
              </a:tr>
              <a:tr h="129789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1047355"/>
                  </a:ext>
                </a:extLst>
              </a:tr>
              <a:tr h="129789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OEM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65572867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46381E42-B6C2-4888-BDE8-9079B5D9B5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6130391"/>
              </p:ext>
            </p:extLst>
          </p:nvPr>
        </p:nvGraphicFramePr>
        <p:xfrm>
          <a:off x="-87358" y="902297"/>
          <a:ext cx="7550175" cy="2990066"/>
        </p:xfrm>
        <a:graphic>
          <a:graphicData uri="http://schemas.openxmlformats.org/drawingml/2006/table">
            <a:tbl>
              <a:tblPr/>
              <a:tblGrid>
                <a:gridCol w="204365">
                  <a:extLst>
                    <a:ext uri="{9D8B030D-6E8A-4147-A177-3AD203B41FA5}">
                      <a16:colId xmlns:a16="http://schemas.microsoft.com/office/drawing/2014/main" val="18124154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2888347395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3365214349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16927044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3035085234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4223102339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640500096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1711195040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3504842845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2531173114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1232434444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2662877828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2751452370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1649669089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3850033722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1279709101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2143635601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2100801785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303903506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1105925605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2042851665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2470062350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595043354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748496671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2060421688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3058744059"/>
                    </a:ext>
                  </a:extLst>
                </a:gridCol>
                <a:gridCol w="204365">
                  <a:extLst>
                    <a:ext uri="{9D8B030D-6E8A-4147-A177-3AD203B41FA5}">
                      <a16:colId xmlns:a16="http://schemas.microsoft.com/office/drawing/2014/main" val="262630938"/>
                    </a:ext>
                  </a:extLst>
                </a:gridCol>
                <a:gridCol w="204365">
                  <a:extLst>
                    <a:ext uri="{9D8B030D-6E8A-4147-A177-3AD203B41FA5}">
                      <a16:colId xmlns:a16="http://schemas.microsoft.com/office/drawing/2014/main" val="2139372832"/>
                    </a:ext>
                  </a:extLst>
                </a:gridCol>
                <a:gridCol w="204365">
                  <a:extLst>
                    <a:ext uri="{9D8B030D-6E8A-4147-A177-3AD203B41FA5}">
                      <a16:colId xmlns:a16="http://schemas.microsoft.com/office/drawing/2014/main" val="3398034123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198425464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1812753621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2014562133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3847602980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1327276974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1318632077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491654853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2005339240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1204011553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1630579173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3916995588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575719237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1778841579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776810828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1226057958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1446132046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3664715793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2021450181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930270115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1330364151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3991120143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3927343792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1092450872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2316250534"/>
                    </a:ext>
                  </a:extLst>
                </a:gridCol>
                <a:gridCol w="130567">
                  <a:extLst>
                    <a:ext uri="{9D8B030D-6E8A-4147-A177-3AD203B41FA5}">
                      <a16:colId xmlns:a16="http://schemas.microsoft.com/office/drawing/2014/main" val="1206111999"/>
                    </a:ext>
                  </a:extLst>
                </a:gridCol>
                <a:gridCol w="204365">
                  <a:extLst>
                    <a:ext uri="{9D8B030D-6E8A-4147-A177-3AD203B41FA5}">
                      <a16:colId xmlns:a16="http://schemas.microsoft.com/office/drawing/2014/main" val="1063460865"/>
                    </a:ext>
                  </a:extLst>
                </a:gridCol>
              </a:tblGrid>
              <a:tr h="164010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APP TRAY 1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APP TRAY 2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4605129"/>
                  </a:ext>
                </a:extLst>
              </a:tr>
              <a:tr h="12287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3288700"/>
                  </a:ext>
                </a:extLst>
              </a:tr>
              <a:tr h="12287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39018264"/>
                  </a:ext>
                </a:extLst>
              </a:tr>
              <a:tr h="12287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2347089"/>
                  </a:ext>
                </a:extLst>
              </a:tr>
              <a:tr h="12287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20414806"/>
                  </a:ext>
                </a:extLst>
              </a:tr>
              <a:tr h="12287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758717"/>
                  </a:ext>
                </a:extLst>
              </a:tr>
              <a:tr h="12287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3783952"/>
                  </a:ext>
                </a:extLst>
              </a:tr>
              <a:tr h="12287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7913910"/>
                  </a:ext>
                </a:extLst>
              </a:tr>
              <a:tr h="12287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677287"/>
                  </a:ext>
                </a:extLst>
              </a:tr>
              <a:tr h="12287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49056713"/>
                  </a:ext>
                </a:extLst>
              </a:tr>
              <a:tr h="12287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0006290"/>
                  </a:ext>
                </a:extLst>
              </a:tr>
              <a:tr h="12287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8448045"/>
                  </a:ext>
                </a:extLst>
              </a:tr>
              <a:tr h="12287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3883079"/>
                  </a:ext>
                </a:extLst>
              </a:tr>
              <a:tr h="12287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8379512"/>
                  </a:ext>
                </a:extLst>
              </a:tr>
              <a:tr h="12287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5403301"/>
                  </a:ext>
                </a:extLst>
              </a:tr>
              <a:tr h="12287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8706629"/>
                  </a:ext>
                </a:extLst>
              </a:tr>
              <a:tr h="12287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68255959"/>
                  </a:ext>
                </a:extLst>
              </a:tr>
              <a:tr h="12287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912170"/>
                  </a:ext>
                </a:extLst>
              </a:tr>
              <a:tr h="12287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2296020"/>
                  </a:ext>
                </a:extLst>
              </a:tr>
              <a:tr h="12287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51448629"/>
                  </a:ext>
                </a:extLst>
              </a:tr>
              <a:tr h="12287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7986535"/>
                  </a:ext>
                </a:extLst>
              </a:tr>
              <a:tr h="12287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7631844"/>
                  </a:ext>
                </a:extLst>
              </a:tr>
              <a:tr h="12287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1749398"/>
                  </a:ext>
                </a:extLst>
              </a:tr>
              <a:tr h="122872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17" marR="4317" marT="431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40880971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174E118A-79BF-4060-A472-4181F994A9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4338300"/>
              </p:ext>
            </p:extLst>
          </p:nvPr>
        </p:nvGraphicFramePr>
        <p:xfrm>
          <a:off x="7555196" y="3548410"/>
          <a:ext cx="1669768" cy="2655570"/>
        </p:xfrm>
        <a:graphic>
          <a:graphicData uri="http://schemas.openxmlformats.org/drawingml/2006/table">
            <a:tbl>
              <a:tblPr/>
              <a:tblGrid>
                <a:gridCol w="199196">
                  <a:extLst>
                    <a:ext uri="{9D8B030D-6E8A-4147-A177-3AD203B41FA5}">
                      <a16:colId xmlns:a16="http://schemas.microsoft.com/office/drawing/2014/main" val="3072099247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2660851657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4051570774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841299941"/>
                    </a:ext>
                  </a:extLst>
                </a:gridCol>
                <a:gridCol w="76200">
                  <a:extLst>
                    <a:ext uri="{9D8B030D-6E8A-4147-A177-3AD203B41FA5}">
                      <a16:colId xmlns:a16="http://schemas.microsoft.com/office/drawing/2014/main" val="2697608583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2261431747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2738975599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54138011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3602541442"/>
                    </a:ext>
                  </a:extLst>
                </a:gridCol>
              </a:tblGrid>
              <a:tr h="163674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T-Mobile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007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83593485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05454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T-Mobile Play</a:t>
                      </a:r>
                    </a:p>
                    <a:p>
                      <a:pPr algn="ctr" fontAlgn="ctr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8629493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159240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2367054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705827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8681097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0357925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5990450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885689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142577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9782762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6073934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0527355"/>
                  </a:ext>
                </a:extLst>
              </a:tr>
              <a:tr h="129615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CM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24319942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1174610E-84E4-4A4B-98E1-5860E7E2AE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457951"/>
              </p:ext>
            </p:extLst>
          </p:nvPr>
        </p:nvGraphicFramePr>
        <p:xfrm>
          <a:off x="7505724" y="902297"/>
          <a:ext cx="4577341" cy="2383790"/>
        </p:xfrm>
        <a:graphic>
          <a:graphicData uri="http://schemas.openxmlformats.org/drawingml/2006/table">
            <a:tbl>
              <a:tblPr/>
              <a:tblGrid>
                <a:gridCol w="4577341">
                  <a:extLst>
                    <a:ext uri="{9D8B030D-6E8A-4147-A177-3AD203B41FA5}">
                      <a16:colId xmlns:a16="http://schemas.microsoft.com/office/drawing/2014/main" val="52211753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algn="l" fontAlgn="ctr">
                        <a:buFont typeface="Arial" panose="020B0604020202020204" pitchFamily="34" charset="0"/>
                        <a:buNone/>
                      </a:pPr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For App Tray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a. Google applications should be placed in Google folder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b. T-Mobile applications should be placed in T-Mobile folder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c. OEM applications should be placed in OEM folder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a. OEM applications must be reviewed and approved prior to RC1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d. Applications okay to appear in app tray (not in folder)</a:t>
                      </a:r>
                    </a:p>
                    <a:p>
                      <a:pPr marL="628650" lvl="1" indent="-171450" algn="l" fontAlgn="ctr">
                        <a:buFont typeface="Arial" panose="020B0604020202020204" pitchFamily="34" charset="0"/>
                        <a:buChar char="•"/>
                      </a:pP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Calculator</a:t>
                      </a:r>
                    </a:p>
                    <a:p>
                      <a:pPr marL="628650" lvl="1" indent="-171450" algn="l" fontAlgn="ctr">
                        <a:buFont typeface="Arial" panose="020B0604020202020204" pitchFamily="34" charset="0"/>
                        <a:buChar char="•"/>
                      </a:pP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Calendar</a:t>
                      </a:r>
                    </a:p>
                    <a:p>
                      <a:pPr marL="628650" lvl="1" indent="-171450" algn="l" fontAlgn="ctr">
                        <a:buFont typeface="Arial" panose="020B0604020202020204" pitchFamily="34" charset="0"/>
                        <a:buChar char="•"/>
                      </a:pP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  <a:p>
                      <a:pPr marL="628650" lvl="1" indent="-171450" algn="l" fontAlgn="ctr">
                        <a:buFont typeface="Arial" panose="020B0604020202020204" pitchFamily="34" charset="0"/>
                        <a:buChar char="•"/>
                      </a:pP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Clock Contacts</a:t>
                      </a:r>
                    </a:p>
                    <a:p>
                      <a:pPr marL="628650" lvl="1" indent="-171450" algn="l" fontAlgn="ctr">
                        <a:buFont typeface="Arial" panose="020B0604020202020204" pitchFamily="34" charset="0"/>
                        <a:buChar char="•"/>
                      </a:pP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Messages</a:t>
                      </a:r>
                    </a:p>
                    <a:p>
                      <a:pPr marL="628650" lvl="1" indent="-171450" algn="l" fontAlgn="ctr">
                        <a:buFont typeface="Arial" panose="020B0604020202020204" pitchFamily="34" charset="0"/>
                        <a:buChar char="•"/>
                      </a:pP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Files</a:t>
                      </a:r>
                    </a:p>
                    <a:p>
                      <a:pPr marL="628650" lvl="1" indent="-171450" algn="l" fontAlgn="ctr">
                        <a:buFont typeface="Arial" panose="020B0604020202020204" pitchFamily="34" charset="0"/>
                        <a:buChar char="•"/>
                      </a:pP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Settings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9223971"/>
                  </a:ext>
                </a:extLst>
              </a:tr>
            </a:tbl>
          </a:graphicData>
        </a:graphic>
      </p:graphicFrame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635FF501-692E-BB42-2028-8016E45325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2648852"/>
              </p:ext>
            </p:extLst>
          </p:nvPr>
        </p:nvGraphicFramePr>
        <p:xfrm>
          <a:off x="5506644" y="4013594"/>
          <a:ext cx="1455746" cy="2160704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455746">
                  <a:extLst>
                    <a:ext uri="{9D8B030D-6E8A-4147-A177-3AD203B41FA5}">
                      <a16:colId xmlns:a16="http://schemas.microsoft.com/office/drawing/2014/main" val="4283747700"/>
                    </a:ext>
                  </a:extLst>
                </a:gridCol>
              </a:tblGrid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App Tray</a:t>
                      </a:r>
                    </a:p>
                    <a:p>
                      <a:pPr algn="ctr"/>
                      <a:r>
                        <a:rPr lang="en-US" sz="800" dirty="0"/>
                        <a:t>Based on placement order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214296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T-Life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5456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Amazon Shopping (AS)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2397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TikTok (AS)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7691460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Facebook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25063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Instagram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905200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WhatsApp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207076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77829893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6A4DEF40-9FAA-488A-8DC3-B93DDD0D686A}"/>
              </a:ext>
            </a:extLst>
          </p:cNvPr>
          <p:cNvSpPr txBox="1"/>
          <p:nvPr/>
        </p:nvSpPr>
        <p:spPr>
          <a:xfrm>
            <a:off x="372381" y="2776301"/>
            <a:ext cx="7213752" cy="523220"/>
          </a:xfrm>
          <a:prstGeom prst="rect">
            <a:avLst/>
          </a:prstGeom>
          <a:noFill/>
          <a:ln w="28575">
            <a:solidFill>
              <a:schemeClr val="accent1"/>
            </a:solidFill>
          </a:ln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chemeClr val="accent1"/>
                </a:solidFill>
              </a:rPr>
              <a:t>TABLET - T-MOBILE 5X5 SCREEN SIZE TEMPLATE</a:t>
            </a:r>
          </a:p>
        </p:txBody>
      </p:sp>
    </p:spTree>
    <p:extLst>
      <p:ext uri="{BB962C8B-B14F-4D97-AF65-F5344CB8AC3E}">
        <p14:creationId xmlns:p14="http://schemas.microsoft.com/office/powerpoint/2010/main" val="450993121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2192BF-BE1B-0CC8-39F3-D40030E537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B64406EC-6C3C-5979-577D-50257719E1EC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4484" y="31799"/>
            <a:ext cx="10750998" cy="947750"/>
          </a:xfrm>
        </p:spPr>
        <p:txBody>
          <a:bodyPr>
            <a:normAutofit/>
          </a:bodyPr>
          <a:lstStyle/>
          <a:p>
            <a:r>
              <a:rPr lang="en-US" sz="3200" dirty="0"/>
              <a:t>T-Mobile Brand 5x5 (Lock +Unlock)</a:t>
            </a:r>
          </a:p>
        </p:txBody>
      </p:sp>
      <p:pic>
        <p:nvPicPr>
          <p:cNvPr id="243" name="Picture 242">
            <a:extLst>
              <a:ext uri="{FF2B5EF4-FFF2-40B4-BE49-F238E27FC236}">
                <a16:creationId xmlns:a16="http://schemas.microsoft.com/office/drawing/2014/main" id="{239D513B-0DFE-1FA0-5ADC-55B18FA8284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51647" y="31799"/>
            <a:ext cx="2163469" cy="652204"/>
          </a:xfrm>
          <a:prstGeom prst="rect">
            <a:avLst/>
          </a:prstGeom>
        </p:spPr>
      </p:pic>
      <p:sp>
        <p:nvSpPr>
          <p:cNvPr id="20" name="TextBox 11">
            <a:extLst>
              <a:ext uri="{FF2B5EF4-FFF2-40B4-BE49-F238E27FC236}">
                <a16:creationId xmlns:a16="http://schemas.microsoft.com/office/drawing/2014/main" id="{E8EDFD6C-5954-7BC6-9D14-12FFAB7CB3A8}"/>
              </a:ext>
            </a:extLst>
          </p:cNvPr>
          <p:cNvSpPr txBox="1"/>
          <p:nvPr/>
        </p:nvSpPr>
        <p:spPr>
          <a:xfrm>
            <a:off x="864286" y="11823712"/>
            <a:ext cx="1463073" cy="272348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/>
              <a:t>Google Discover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4F4CA7ED-8F21-99DB-785E-D86E3F56D8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9001340"/>
              </p:ext>
            </p:extLst>
          </p:nvPr>
        </p:nvGraphicFramePr>
        <p:xfrm>
          <a:off x="460753" y="666025"/>
          <a:ext cx="4285417" cy="4537282"/>
        </p:xfrm>
        <a:graphic>
          <a:graphicData uri="http://schemas.openxmlformats.org/drawingml/2006/table">
            <a:tbl>
              <a:tblPr/>
              <a:tblGrid>
                <a:gridCol w="323199">
                  <a:extLst>
                    <a:ext uri="{9D8B030D-6E8A-4147-A177-3AD203B41FA5}">
                      <a16:colId xmlns:a16="http://schemas.microsoft.com/office/drawing/2014/main" val="122851149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38574171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1034406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765835962"/>
                    </a:ext>
                  </a:extLst>
                </a:gridCol>
                <a:gridCol w="227994">
                  <a:extLst>
                    <a:ext uri="{9D8B030D-6E8A-4147-A177-3AD203B41FA5}">
                      <a16:colId xmlns:a16="http://schemas.microsoft.com/office/drawing/2014/main" val="3032794130"/>
                    </a:ext>
                  </a:extLst>
                </a:gridCol>
                <a:gridCol w="276517">
                  <a:extLst>
                    <a:ext uri="{9D8B030D-6E8A-4147-A177-3AD203B41FA5}">
                      <a16:colId xmlns:a16="http://schemas.microsoft.com/office/drawing/2014/main" val="541524318"/>
                    </a:ext>
                  </a:extLst>
                </a:gridCol>
                <a:gridCol w="243662">
                  <a:extLst>
                    <a:ext uri="{9D8B030D-6E8A-4147-A177-3AD203B41FA5}">
                      <a16:colId xmlns:a16="http://schemas.microsoft.com/office/drawing/2014/main" val="147404175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87507260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136874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18794909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42879882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2678500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5382073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72920100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415853704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86910272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558557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255814577"/>
                    </a:ext>
                  </a:extLst>
                </a:gridCol>
                <a:gridCol w="323199">
                  <a:extLst>
                    <a:ext uri="{9D8B030D-6E8A-4147-A177-3AD203B41FA5}">
                      <a16:colId xmlns:a16="http://schemas.microsoft.com/office/drawing/2014/main" val="650234665"/>
                    </a:ext>
                  </a:extLst>
                </a:gridCol>
              </a:tblGrid>
              <a:tr h="205879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Lock Screen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0995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704942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6546747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1761008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238531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8044488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9239566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7918914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8934769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496596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2743560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6333289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9844401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28475292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3377790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5461106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8258329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6355017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6054402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746340574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2335085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9395224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428589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3035375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6969364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6587648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0832905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4509624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7078814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58620133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1655012"/>
                  </a:ext>
                </a:extLst>
              </a:tr>
              <a:tr h="13485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242736861"/>
                  </a:ext>
                </a:extLst>
              </a:tr>
            </a:tbl>
          </a:graphicData>
        </a:graphic>
      </p:graphicFrame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1E0BE8D2-762E-212C-700E-F22D1FE3AE84}"/>
              </a:ext>
            </a:extLst>
          </p:cNvPr>
          <p:cNvGraphicFramePr>
            <a:graphicFrameLocks noGrp="1"/>
          </p:cNvGraphicFramePr>
          <p:nvPr/>
        </p:nvGraphicFramePr>
        <p:xfrm>
          <a:off x="5358006" y="684003"/>
          <a:ext cx="4285417" cy="4537282"/>
        </p:xfrm>
        <a:graphic>
          <a:graphicData uri="http://schemas.openxmlformats.org/drawingml/2006/table">
            <a:tbl>
              <a:tblPr/>
              <a:tblGrid>
                <a:gridCol w="323199">
                  <a:extLst>
                    <a:ext uri="{9D8B030D-6E8A-4147-A177-3AD203B41FA5}">
                      <a16:colId xmlns:a16="http://schemas.microsoft.com/office/drawing/2014/main" val="122851149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38574171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1034406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765835962"/>
                    </a:ext>
                  </a:extLst>
                </a:gridCol>
                <a:gridCol w="227994">
                  <a:extLst>
                    <a:ext uri="{9D8B030D-6E8A-4147-A177-3AD203B41FA5}">
                      <a16:colId xmlns:a16="http://schemas.microsoft.com/office/drawing/2014/main" val="3032794130"/>
                    </a:ext>
                  </a:extLst>
                </a:gridCol>
                <a:gridCol w="276517">
                  <a:extLst>
                    <a:ext uri="{9D8B030D-6E8A-4147-A177-3AD203B41FA5}">
                      <a16:colId xmlns:a16="http://schemas.microsoft.com/office/drawing/2014/main" val="541524318"/>
                    </a:ext>
                  </a:extLst>
                </a:gridCol>
                <a:gridCol w="243662">
                  <a:extLst>
                    <a:ext uri="{9D8B030D-6E8A-4147-A177-3AD203B41FA5}">
                      <a16:colId xmlns:a16="http://schemas.microsoft.com/office/drawing/2014/main" val="147404175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87507260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136874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18794909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42879882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2678500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5382073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72920100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415853704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86910272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558557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255814577"/>
                    </a:ext>
                  </a:extLst>
                </a:gridCol>
                <a:gridCol w="323199">
                  <a:extLst>
                    <a:ext uri="{9D8B030D-6E8A-4147-A177-3AD203B41FA5}">
                      <a16:colId xmlns:a16="http://schemas.microsoft.com/office/drawing/2014/main" val="650234665"/>
                    </a:ext>
                  </a:extLst>
                </a:gridCol>
              </a:tblGrid>
              <a:tr h="205879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Unlock Screen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0995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704942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gridSpan="15">
                  <a:txBody>
                    <a:bodyPr/>
                    <a:lstStyle/>
                    <a:p>
                      <a:pPr algn="ctr" fontAlgn="ctr"/>
                      <a:r>
                        <a:rPr lang="en-US" sz="20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T-Play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8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6546747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1761008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238531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8044488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9239566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7918914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8934769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496596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2743560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6333289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9844401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28475292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3377790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5461106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8258329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6355017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6054402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746340574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2335085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9395224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428589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3035375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6969364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6587648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0832905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4509624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7078814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58620133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1655012"/>
                  </a:ext>
                </a:extLst>
              </a:tr>
              <a:tr h="13485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24273686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094F0BA2-5C64-019B-F095-F5C9395C3EA9}"/>
              </a:ext>
            </a:extLst>
          </p:cNvPr>
          <p:cNvSpPr txBox="1"/>
          <p:nvPr/>
        </p:nvSpPr>
        <p:spPr>
          <a:xfrm>
            <a:off x="606558" y="5206856"/>
            <a:ext cx="6050561" cy="646331"/>
          </a:xfrm>
          <a:prstGeom prst="rect">
            <a:avLst/>
          </a:prstGeom>
          <a:noFill/>
        </p:spPr>
        <p:txBody>
          <a:bodyPr wrap="square" lIns="91440" tIns="45720" rIns="91440" bIns="45720" anchor="t">
            <a:spAutoFit/>
          </a:bodyPr>
          <a:lstStyle/>
          <a:p>
            <a:pPr fontAlgn="b"/>
            <a:r>
              <a:rPr lang="en-US" sz="1200" b="1" i="0" u="none" strike="noStrike" dirty="0">
                <a:solidFill>
                  <a:srgbClr val="000000"/>
                </a:solidFill>
                <a:effectLst/>
                <a:latin typeface="Calibri"/>
                <a:ea typeface="Calibri"/>
                <a:cs typeface="Calibri"/>
              </a:rPr>
              <a:t>OEM Instructions: </a:t>
            </a:r>
            <a:r>
              <a:rPr lang="en-US" sz="1200" b="1" i="0" u="sng" strike="noStrike" dirty="0">
                <a:solidFill>
                  <a:srgbClr val="4472C4"/>
                </a:solidFill>
                <a:effectLst/>
                <a:latin typeface="Calibri"/>
                <a:ea typeface="Calibri"/>
                <a:cs typeface="Calibri"/>
              </a:rPr>
              <a:t> </a:t>
            </a:r>
            <a:br>
              <a:rPr lang="en-US" sz="1200" b="0" i="0" u="none" strike="noStrike" dirty="0"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/>
                <a:ea typeface="Calibri"/>
                <a:cs typeface="Calibri"/>
              </a:rPr>
              <a:t>Please provid</a:t>
            </a:r>
            <a:r>
              <a:rPr lang="en-US" sz="1200" dirty="0">
                <a:solidFill>
                  <a:srgbClr val="000000"/>
                </a:solidFill>
                <a:latin typeface="Calibri"/>
                <a:ea typeface="Calibri"/>
                <a:cs typeface="Calibri"/>
              </a:rPr>
              <a:t>e the mapping or the device’s Lock and Unlock screen. Please feel free to </a:t>
            </a:r>
            <a:r>
              <a:rPr lang="en-US" sz="1200">
                <a:solidFill>
                  <a:srgbClr val="000000"/>
                </a:solidFill>
                <a:latin typeface="Calibri"/>
                <a:ea typeface="Calibri"/>
                <a:cs typeface="Calibri"/>
              </a:rPr>
              <a:t>populate the screens as you would with any other device screen. </a:t>
            </a:r>
            <a:endParaRPr lang="en-US" sz="1200" b="0" i="0" u="none" strike="noStrike">
              <a:solidFill>
                <a:srgbClr val="000000"/>
              </a:solidFill>
              <a:effectLst/>
              <a:latin typeface="Calibri" panose="020F0502020204030204" pitchFamily="34" charset="0"/>
              <a:ea typeface="Calibri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885986877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ext Placeholder 5">
            <a:extLst>
              <a:ext uri="{FF2B5EF4-FFF2-40B4-BE49-F238E27FC236}">
                <a16:creationId xmlns:a16="http://schemas.microsoft.com/office/drawing/2014/main" id="{06CB8FB9-1BA0-402C-87C7-06019542617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4484" y="31799"/>
            <a:ext cx="10750998" cy="947750"/>
          </a:xfrm>
        </p:spPr>
        <p:txBody>
          <a:bodyPr>
            <a:normAutofit/>
          </a:bodyPr>
          <a:lstStyle/>
          <a:p>
            <a:r>
              <a:rPr lang="en-US" sz="3200" dirty="0"/>
              <a:t>TABLET - T-Mobile Brand 5x5 (Homescreen + Panel Layout)</a:t>
            </a:r>
          </a:p>
        </p:txBody>
      </p:sp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177F6E49-B7EF-44F1-A51C-197DFD0039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0427871"/>
              </p:ext>
            </p:extLst>
          </p:nvPr>
        </p:nvGraphicFramePr>
        <p:xfrm>
          <a:off x="5581650" y="4830713"/>
          <a:ext cx="5403850" cy="920750"/>
        </p:xfrm>
        <a:graphic>
          <a:graphicData uri="http://schemas.openxmlformats.org/drawingml/2006/table">
            <a:tbl>
              <a:tblPr/>
              <a:tblGrid>
                <a:gridCol w="5403850">
                  <a:extLst>
                    <a:ext uri="{9D8B030D-6E8A-4147-A177-3AD203B41FA5}">
                      <a16:colId xmlns:a16="http://schemas.microsoft.com/office/drawing/2014/main" val="4123267365"/>
                    </a:ext>
                  </a:extLst>
                </a:gridCol>
              </a:tblGrid>
              <a:tr h="789037">
                <a:tc>
                  <a:txBody>
                    <a:bodyPr/>
                    <a:lstStyle/>
                    <a:p>
                      <a:pPr algn="l" fontAlgn="b"/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Customization Files may be found here: 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https://tmap.t-mobile.com/portals/ayibw7iw/OEMToolkit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This includes brand specific: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  •Power Up / Boot File animation and mnemonic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  •T-Mobile / Metro</a:t>
                      </a:r>
                    </a:p>
                  </a:txBody>
                  <a:tcPr marL="6350" marR="6350" marT="635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68333052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893B82D9-946F-49D9-9F91-33BCA063D3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0084300"/>
              </p:ext>
            </p:extLst>
          </p:nvPr>
        </p:nvGraphicFramePr>
        <p:xfrm>
          <a:off x="242910" y="4674430"/>
          <a:ext cx="4842150" cy="1959610"/>
        </p:xfrm>
        <a:graphic>
          <a:graphicData uri="http://schemas.openxmlformats.org/drawingml/2006/table">
            <a:tbl>
              <a:tblPr/>
              <a:tblGrid>
                <a:gridCol w="193686">
                  <a:extLst>
                    <a:ext uri="{9D8B030D-6E8A-4147-A177-3AD203B41FA5}">
                      <a16:colId xmlns:a16="http://schemas.microsoft.com/office/drawing/2014/main" val="3668995254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2298855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347258237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887936937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31880910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69528032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47022183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21668264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355972019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57865640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2311707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32040150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1610574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428869703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882220615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809203488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97926968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073156503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469739955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67735331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783650352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043479574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599976022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942200419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114388392"/>
                    </a:ext>
                  </a:extLst>
                </a:gridCol>
              </a:tblGrid>
              <a:tr h="63404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90249396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759617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Calendar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Wallet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Chrome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14018275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736548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5294176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089445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Home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One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Search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8432401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834597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045608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1047355"/>
                  </a:ext>
                </a:extLst>
              </a:tr>
              <a:tr h="121273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OEM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65572867"/>
                  </a:ext>
                </a:extLst>
              </a:tr>
            </a:tbl>
          </a:graphicData>
        </a:graphic>
      </p:graphicFrame>
      <p:pic>
        <p:nvPicPr>
          <p:cNvPr id="18" name="Picture 17">
            <a:extLst>
              <a:ext uri="{FF2B5EF4-FFF2-40B4-BE49-F238E27FC236}">
                <a16:creationId xmlns:a16="http://schemas.microsoft.com/office/drawing/2014/main" id="{DE21FFF7-E72F-4177-B168-020618432F9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247818" y="942139"/>
            <a:ext cx="2163469" cy="652204"/>
          </a:xfrm>
          <a:prstGeom prst="rect">
            <a:avLst/>
          </a:prstGeom>
        </p:spPr>
      </p:pic>
      <p:graphicFrame>
        <p:nvGraphicFramePr>
          <p:cNvPr id="19" name="Table 18">
            <a:extLst>
              <a:ext uri="{FF2B5EF4-FFF2-40B4-BE49-F238E27FC236}">
                <a16:creationId xmlns:a16="http://schemas.microsoft.com/office/drawing/2014/main" id="{9B75B4D5-D900-4B3B-8DA8-197E3A0B94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8098709"/>
              </p:ext>
            </p:extLst>
          </p:nvPr>
        </p:nvGraphicFramePr>
        <p:xfrm>
          <a:off x="9494669" y="1804883"/>
          <a:ext cx="1669768" cy="2655570"/>
        </p:xfrm>
        <a:graphic>
          <a:graphicData uri="http://schemas.openxmlformats.org/drawingml/2006/table">
            <a:tbl>
              <a:tblPr/>
              <a:tblGrid>
                <a:gridCol w="199196">
                  <a:extLst>
                    <a:ext uri="{9D8B030D-6E8A-4147-A177-3AD203B41FA5}">
                      <a16:colId xmlns:a16="http://schemas.microsoft.com/office/drawing/2014/main" val="3072099247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2660851657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4051570774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841299941"/>
                    </a:ext>
                  </a:extLst>
                </a:gridCol>
                <a:gridCol w="76200">
                  <a:extLst>
                    <a:ext uri="{9D8B030D-6E8A-4147-A177-3AD203B41FA5}">
                      <a16:colId xmlns:a16="http://schemas.microsoft.com/office/drawing/2014/main" val="2697608583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2261431747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2738975599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54138011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3602541442"/>
                    </a:ext>
                  </a:extLst>
                </a:gridCol>
              </a:tblGrid>
              <a:tr h="163674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T-Mobile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007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83593485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05454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T-Mobile Play</a:t>
                      </a:r>
                    </a:p>
                    <a:p>
                      <a:pPr algn="ctr" fontAlgn="ctr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8629493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159240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2367054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705827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8681097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0357925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5990450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885689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142577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9782762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6073934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0527355"/>
                  </a:ext>
                </a:extLst>
              </a:tr>
              <a:tr h="129615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CM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24319942"/>
                  </a:ext>
                </a:extLst>
              </a:tr>
            </a:tbl>
          </a:graphicData>
        </a:graphic>
      </p:graphicFrame>
      <p:cxnSp>
        <p:nvCxnSpPr>
          <p:cNvPr id="26" name="Connector: Elbow 25">
            <a:extLst>
              <a:ext uri="{FF2B5EF4-FFF2-40B4-BE49-F238E27FC236}">
                <a16:creationId xmlns:a16="http://schemas.microsoft.com/office/drawing/2014/main" id="{19FF37E9-F6F8-4C6F-994F-4F6746164B3D}"/>
              </a:ext>
            </a:extLst>
          </p:cNvPr>
          <p:cNvCxnSpPr>
            <a:cxnSpLocks/>
          </p:cNvCxnSpPr>
          <p:nvPr/>
        </p:nvCxnSpPr>
        <p:spPr>
          <a:xfrm rot="5400000">
            <a:off x="2549110" y="3832640"/>
            <a:ext cx="1321630" cy="361950"/>
          </a:xfrm>
          <a:prstGeom prst="bentConnector3">
            <a:avLst>
              <a:gd name="adj1" fmla="val 8199"/>
            </a:avLst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1CCF765C-D8DB-4BDB-9918-08976525BA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4647833"/>
              </p:ext>
            </p:extLst>
          </p:nvPr>
        </p:nvGraphicFramePr>
        <p:xfrm>
          <a:off x="170644" y="954149"/>
          <a:ext cx="8959204" cy="3165677"/>
        </p:xfrm>
        <a:graphic>
          <a:graphicData uri="http://schemas.openxmlformats.org/drawingml/2006/table">
            <a:tbl>
              <a:tblPr/>
              <a:tblGrid>
                <a:gridCol w="132103">
                  <a:extLst>
                    <a:ext uri="{9D8B030D-6E8A-4147-A177-3AD203B41FA5}">
                      <a16:colId xmlns:a16="http://schemas.microsoft.com/office/drawing/2014/main" val="3140974252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3170994229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2272265272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375876356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1929277765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2032384478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2548432230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2259863391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3709827744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1769466230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1656738817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3136250793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2303214205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2860073909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3819278705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1036463903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1490738648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3311487545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1068628458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2706799295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434988030"/>
                    </a:ext>
                  </a:extLst>
                </a:gridCol>
                <a:gridCol w="206769">
                  <a:extLst>
                    <a:ext uri="{9D8B030D-6E8A-4147-A177-3AD203B41FA5}">
                      <a16:colId xmlns:a16="http://schemas.microsoft.com/office/drawing/2014/main" val="1535827307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483631008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99842296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266516945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4285601645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3264751467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3077754667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650468082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3979498485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3048349069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1271136879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3247645327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3451044385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1830780809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1366708976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1892399777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3717852417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302811406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1323139836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3256811498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381629872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133283431"/>
                    </a:ext>
                  </a:extLst>
                </a:gridCol>
                <a:gridCol w="189311">
                  <a:extLst>
                    <a:ext uri="{9D8B030D-6E8A-4147-A177-3AD203B41FA5}">
                      <a16:colId xmlns:a16="http://schemas.microsoft.com/office/drawing/2014/main" val="205570428"/>
                    </a:ext>
                  </a:extLst>
                </a:gridCol>
                <a:gridCol w="33866">
                  <a:extLst>
                    <a:ext uri="{9D8B030D-6E8A-4147-A177-3AD203B41FA5}">
                      <a16:colId xmlns:a16="http://schemas.microsoft.com/office/drawing/2014/main" val="4250562019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1312732038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2145444270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3836532727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745509441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2288471366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1477231366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1604006578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2331341998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3832268027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590717074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186549721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2198547928"/>
                    </a:ext>
                  </a:extLst>
                </a:gridCol>
                <a:gridCol w="69998">
                  <a:extLst>
                    <a:ext uri="{9D8B030D-6E8A-4147-A177-3AD203B41FA5}">
                      <a16:colId xmlns:a16="http://schemas.microsoft.com/office/drawing/2014/main" val="3154892734"/>
                    </a:ext>
                  </a:extLst>
                </a:gridCol>
                <a:gridCol w="194208">
                  <a:extLst>
                    <a:ext uri="{9D8B030D-6E8A-4147-A177-3AD203B41FA5}">
                      <a16:colId xmlns:a16="http://schemas.microsoft.com/office/drawing/2014/main" val="1455155012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864738112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2257112865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1406706383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201060377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2668910271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936254776"/>
                    </a:ext>
                  </a:extLst>
                </a:gridCol>
                <a:gridCol w="132103">
                  <a:extLst>
                    <a:ext uri="{9D8B030D-6E8A-4147-A177-3AD203B41FA5}">
                      <a16:colId xmlns:a16="http://schemas.microsoft.com/office/drawing/2014/main" val="2106103949"/>
                    </a:ext>
                  </a:extLst>
                </a:gridCol>
                <a:gridCol w="206769">
                  <a:extLst>
                    <a:ext uri="{9D8B030D-6E8A-4147-A177-3AD203B41FA5}">
                      <a16:colId xmlns:a16="http://schemas.microsoft.com/office/drawing/2014/main" val="1126428742"/>
                    </a:ext>
                  </a:extLst>
                </a:gridCol>
              </a:tblGrid>
              <a:tr h="110643">
                <a:tc gridSpan="21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1L - Minus One Screen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1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Home- Screen 0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1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1R - PLUS ONE SCREEN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41867002"/>
                  </a:ext>
                </a:extLst>
              </a:tr>
              <a:tr h="110643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5405430"/>
                  </a:ext>
                </a:extLst>
              </a:tr>
              <a:tr h="110643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25" gridSpan="19">
                  <a:txBody>
                    <a:bodyPr/>
                    <a:lstStyle/>
                    <a:p>
                      <a:pPr algn="ctr" fontAlgn="b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Assistant &amp; T-Mobile Play                                (-1 Minus One) page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5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5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5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5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5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5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5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5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5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5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5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5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5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5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5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5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5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5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9505116"/>
                  </a:ext>
                </a:extLst>
              </a:tr>
              <a:tr h="110643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0714450"/>
                  </a:ext>
                </a:extLst>
              </a:tr>
              <a:tr h="110643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27484"/>
                  </a:ext>
                </a:extLst>
              </a:tr>
              <a:tr h="110643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9688962"/>
                  </a:ext>
                </a:extLst>
              </a:tr>
              <a:tr h="110643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0265560"/>
                  </a:ext>
                </a:extLst>
              </a:tr>
              <a:tr h="110643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575352"/>
                  </a:ext>
                </a:extLst>
              </a:tr>
              <a:tr h="110643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5567838"/>
                  </a:ext>
                </a:extLst>
              </a:tr>
              <a:tr h="110643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0259764"/>
                  </a:ext>
                </a:extLst>
              </a:tr>
              <a:tr h="110643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19"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Search (5x1)</a:t>
                      </a:r>
                    </a:p>
                  </a:txBody>
                  <a:tcPr marL="4233" marR="4233" marT="423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5315346"/>
                  </a:ext>
                </a:extLst>
              </a:tr>
              <a:tr h="110643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35006300"/>
                  </a:ext>
                </a:extLst>
              </a:tr>
              <a:tr h="110643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9003693"/>
                  </a:ext>
                </a:extLst>
              </a:tr>
              <a:tr h="110643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24971645"/>
                  </a:ext>
                </a:extLst>
              </a:tr>
              <a:tr h="110643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527683"/>
                  </a:ext>
                </a:extLst>
              </a:tr>
              <a:tr h="110643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3944609"/>
                  </a:ext>
                </a:extLst>
              </a:tr>
              <a:tr h="110643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36752849"/>
                  </a:ext>
                </a:extLst>
              </a:tr>
              <a:tr h="110643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8445590"/>
                  </a:ext>
                </a:extLst>
              </a:tr>
              <a:tr h="110643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4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FOLDER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4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PLAYSTORE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4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ASSIST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472C4"/>
                    </a:solidFill>
                  </a:tcPr>
                </a:tc>
                <a:tc rowSpan="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4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PHOTOS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4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T-MOBILE FOLDER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4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TikTok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0459"/>
                    </a:solidFill>
                  </a:tcPr>
                </a:tc>
                <a:tc rowSpan="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4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4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4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4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579195"/>
                  </a:ext>
                </a:extLst>
              </a:tr>
              <a:tr h="110643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6343462"/>
                  </a:ext>
                </a:extLst>
              </a:tr>
              <a:tr h="110643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2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2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2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2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6152208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6307485"/>
                  </a:ext>
                </a:extLst>
              </a:tr>
              <a:tr h="86292">
                <a:tc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8110060"/>
                  </a:ext>
                </a:extLst>
              </a:tr>
              <a:tr h="110643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1198118"/>
                  </a:ext>
                </a:extLst>
              </a:tr>
              <a:tr h="110643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Phone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Messages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Contacts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Chrome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Phone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Messages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Contacts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Chrome</a:t>
                      </a:r>
                    </a:p>
                  </a:txBody>
                  <a:tcPr marL="4233" marR="4233" marT="42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4486163"/>
                  </a:ext>
                </a:extLst>
              </a:tr>
              <a:tr h="110643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85954473"/>
                  </a:ext>
                </a:extLst>
              </a:tr>
              <a:tr h="110643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4164470"/>
                  </a:ext>
                </a:extLst>
              </a:tr>
              <a:tr h="110643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79257129"/>
                  </a:ext>
                </a:extLst>
              </a:tr>
              <a:tr h="11064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0686832"/>
                  </a:ext>
                </a:extLst>
              </a:tr>
            </a:tbl>
          </a:graphicData>
        </a:graphic>
      </p:graphicFrame>
      <p:cxnSp>
        <p:nvCxnSpPr>
          <p:cNvPr id="35" name="Connector: Elbow 34">
            <a:extLst>
              <a:ext uri="{FF2B5EF4-FFF2-40B4-BE49-F238E27FC236}">
                <a16:creationId xmlns:a16="http://schemas.microsoft.com/office/drawing/2014/main" id="{71B506AE-A878-4D2E-8F2F-6C92D3EF4A4C}"/>
              </a:ext>
            </a:extLst>
          </p:cNvPr>
          <p:cNvCxnSpPr>
            <a:cxnSpLocks/>
            <a:stCxn id="19" idx="2"/>
          </p:cNvCxnSpPr>
          <p:nvPr/>
        </p:nvCxnSpPr>
        <p:spPr>
          <a:xfrm rot="5400000" flipH="1">
            <a:off x="7390737" y="1521638"/>
            <a:ext cx="1327779" cy="4549853"/>
          </a:xfrm>
          <a:prstGeom prst="bentConnector4">
            <a:avLst>
              <a:gd name="adj1" fmla="val -10071"/>
              <a:gd name="adj2" fmla="val 94061"/>
            </a:avLst>
          </a:prstGeom>
          <a:ln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4">
            <a:extLst>
              <a:ext uri="{FF2B5EF4-FFF2-40B4-BE49-F238E27FC236}">
                <a16:creationId xmlns:a16="http://schemas.microsoft.com/office/drawing/2014/main" id="{F06B57D8-8D85-45CE-A13A-D4D06EFEDAE2}"/>
              </a:ext>
            </a:extLst>
          </p:cNvPr>
          <p:cNvSpPr txBox="1"/>
          <p:nvPr/>
        </p:nvSpPr>
        <p:spPr>
          <a:xfrm>
            <a:off x="387437" y="1268241"/>
            <a:ext cx="1167988" cy="355600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 dirty="0"/>
              <a:t>Google Discover</a:t>
            </a:r>
          </a:p>
        </p:txBody>
      </p:sp>
      <p:sp>
        <p:nvSpPr>
          <p:cNvPr id="11" name="TextBox 5">
            <a:extLst>
              <a:ext uri="{FF2B5EF4-FFF2-40B4-BE49-F238E27FC236}">
                <a16:creationId xmlns:a16="http://schemas.microsoft.com/office/drawing/2014/main" id="{2C513711-032E-4763-A295-C53335A43C17}"/>
              </a:ext>
            </a:extLst>
          </p:cNvPr>
          <p:cNvSpPr txBox="1"/>
          <p:nvPr/>
        </p:nvSpPr>
        <p:spPr>
          <a:xfrm>
            <a:off x="1612299" y="1268241"/>
            <a:ext cx="1167988" cy="355600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 dirty="0"/>
              <a:t>T-Mobile Play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8B9E299E-6CC9-623F-7B6E-467914D1A8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467663"/>
              </p:ext>
            </p:extLst>
          </p:nvPr>
        </p:nvGraphicFramePr>
        <p:xfrm>
          <a:off x="9639627" y="4761049"/>
          <a:ext cx="1669767" cy="17863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69767">
                  <a:extLst>
                    <a:ext uri="{9D8B030D-6E8A-4147-A177-3AD203B41FA5}">
                      <a16:colId xmlns:a16="http://schemas.microsoft.com/office/drawing/2014/main" val="4009581341"/>
                    </a:ext>
                  </a:extLst>
                </a:gridCol>
              </a:tblGrid>
              <a:tr h="321267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Plus – One Applications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05086144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T-Life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58167358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TikTok (AS)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80852661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Facebook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4242014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Instagram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07362174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WhatsApp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602375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69205699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B4DFBEA-C9E3-485D-B4A5-063CDD28548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4484" y="31799"/>
            <a:ext cx="10750998" cy="947750"/>
          </a:xfrm>
        </p:spPr>
        <p:txBody>
          <a:bodyPr>
            <a:normAutofit/>
          </a:bodyPr>
          <a:lstStyle/>
          <a:p>
            <a:r>
              <a:rPr lang="en-US" sz="3200" dirty="0"/>
              <a:t>TABLET - T-Mobile Brand 5x5 (APP TRAY)</a:t>
            </a:r>
          </a:p>
        </p:txBody>
      </p:sp>
      <p:pic>
        <p:nvPicPr>
          <p:cNvPr id="243" name="Picture 242">
            <a:extLst>
              <a:ext uri="{FF2B5EF4-FFF2-40B4-BE49-F238E27FC236}">
                <a16:creationId xmlns:a16="http://schemas.microsoft.com/office/drawing/2014/main" id="{16DAAD4E-E7A0-4A13-90CE-032F71D27A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096513" y="65941"/>
            <a:ext cx="2163469" cy="652204"/>
          </a:xfrm>
          <a:prstGeom prst="rect">
            <a:avLst/>
          </a:prstGeom>
        </p:spPr>
      </p:pic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084BD0EE-3F05-478F-935E-D48024FC8E7E}"/>
              </a:ext>
            </a:extLst>
          </p:cNvPr>
          <p:cNvGraphicFramePr>
            <a:graphicFrameLocks noGrp="1"/>
          </p:cNvGraphicFramePr>
          <p:nvPr/>
        </p:nvGraphicFramePr>
        <p:xfrm>
          <a:off x="9317344" y="3796687"/>
          <a:ext cx="1298732" cy="2159016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298732">
                  <a:extLst>
                    <a:ext uri="{9D8B030D-6E8A-4147-A177-3AD203B41FA5}">
                      <a16:colId xmlns:a16="http://schemas.microsoft.com/office/drawing/2014/main" val="4283747700"/>
                    </a:ext>
                  </a:extLst>
                </a:gridCol>
              </a:tblGrid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OEM FOLDER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214296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5456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2397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7691460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25063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905200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2070764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6544440"/>
                  </a:ext>
                </a:extLst>
              </a:tr>
            </a:tbl>
          </a:graphicData>
        </a:graphic>
      </p:graphicFrame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D82C608A-E4A4-4FE4-83C8-D28C151694F4}"/>
              </a:ext>
            </a:extLst>
          </p:cNvPr>
          <p:cNvGraphicFramePr>
            <a:graphicFrameLocks noGrp="1"/>
          </p:cNvGraphicFramePr>
          <p:nvPr/>
        </p:nvGraphicFramePr>
        <p:xfrm>
          <a:off x="10743560" y="3796687"/>
          <a:ext cx="1223344" cy="2159016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223344">
                  <a:extLst>
                    <a:ext uri="{9D8B030D-6E8A-4147-A177-3AD203B41FA5}">
                      <a16:colId xmlns:a16="http://schemas.microsoft.com/office/drawing/2014/main" val="4283747700"/>
                    </a:ext>
                  </a:extLst>
                </a:gridCol>
              </a:tblGrid>
              <a:tr h="273476">
                <a:tc>
                  <a:txBody>
                    <a:bodyPr/>
                    <a:lstStyle/>
                    <a:p>
                      <a:r>
                        <a:rPr lang="en-US" sz="1100" dirty="0"/>
                        <a:t> OTHER FOLDER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214296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5456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2397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7691460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25063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905200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2070764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6544440"/>
                  </a:ext>
                </a:extLst>
              </a:tr>
            </a:tbl>
          </a:graphicData>
        </a:graphic>
      </p:graphicFrame>
      <p:graphicFrame>
        <p:nvGraphicFramePr>
          <p:cNvPr id="18" name="Table 17">
            <a:extLst>
              <a:ext uri="{FF2B5EF4-FFF2-40B4-BE49-F238E27FC236}">
                <a16:creationId xmlns:a16="http://schemas.microsoft.com/office/drawing/2014/main" id="{365C2058-AF86-4C1C-B095-AD6AFDE77C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9447134"/>
              </p:ext>
            </p:extLst>
          </p:nvPr>
        </p:nvGraphicFramePr>
        <p:xfrm>
          <a:off x="174296" y="4488164"/>
          <a:ext cx="4365950" cy="1959610"/>
        </p:xfrm>
        <a:graphic>
          <a:graphicData uri="http://schemas.openxmlformats.org/drawingml/2006/table">
            <a:tbl>
              <a:tblPr/>
              <a:tblGrid>
                <a:gridCol w="174638">
                  <a:extLst>
                    <a:ext uri="{9D8B030D-6E8A-4147-A177-3AD203B41FA5}">
                      <a16:colId xmlns:a16="http://schemas.microsoft.com/office/drawing/2014/main" val="3668995254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222988551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2347258237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2887936937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1318809100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3695280320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470221836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2216682646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2355972019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3578656401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123117071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3320401500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216105740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2428869703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2882220615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3809203488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397926968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2073156503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3469739955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1677353316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3783650352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3043479574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1599976022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3942200419"/>
                    </a:ext>
                  </a:extLst>
                </a:gridCol>
                <a:gridCol w="174638">
                  <a:extLst>
                    <a:ext uri="{9D8B030D-6E8A-4147-A177-3AD203B41FA5}">
                      <a16:colId xmlns:a16="http://schemas.microsoft.com/office/drawing/2014/main" val="2114388392"/>
                    </a:ext>
                  </a:extLst>
                </a:gridCol>
              </a:tblGrid>
              <a:tr h="163894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90249396"/>
                  </a:ext>
                </a:extLst>
              </a:tr>
              <a:tr h="129789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7596179"/>
                  </a:ext>
                </a:extLst>
              </a:tr>
              <a:tr h="129789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Calendar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Wallet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Chrome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14018275"/>
                  </a:ext>
                </a:extLst>
              </a:tr>
              <a:tr h="129789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7365489"/>
                  </a:ext>
                </a:extLst>
              </a:tr>
              <a:tr h="129789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5294176"/>
                  </a:ext>
                </a:extLst>
              </a:tr>
              <a:tr h="129789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0894459"/>
                  </a:ext>
                </a:extLst>
              </a:tr>
              <a:tr h="129789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Home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One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Search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8432401"/>
                  </a:ext>
                </a:extLst>
              </a:tr>
              <a:tr h="129789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8345979"/>
                  </a:ext>
                </a:extLst>
              </a:tr>
              <a:tr h="129789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045608"/>
                  </a:ext>
                </a:extLst>
              </a:tr>
              <a:tr h="129789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1047355"/>
                  </a:ext>
                </a:extLst>
              </a:tr>
              <a:tr h="129789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OEM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65572867"/>
                  </a:ext>
                </a:extLst>
              </a:tr>
            </a:tbl>
          </a:graphicData>
        </a:graphic>
      </p:graphicFrame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DF962F25-8B5C-43DF-AC72-F5F522C4BF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0666989"/>
              </p:ext>
            </p:extLst>
          </p:nvPr>
        </p:nvGraphicFramePr>
        <p:xfrm>
          <a:off x="7505724" y="902297"/>
          <a:ext cx="4577341" cy="2566670"/>
        </p:xfrm>
        <a:graphic>
          <a:graphicData uri="http://schemas.openxmlformats.org/drawingml/2006/table">
            <a:tbl>
              <a:tblPr/>
              <a:tblGrid>
                <a:gridCol w="4577341">
                  <a:extLst>
                    <a:ext uri="{9D8B030D-6E8A-4147-A177-3AD203B41FA5}">
                      <a16:colId xmlns:a16="http://schemas.microsoft.com/office/drawing/2014/main" val="52211753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171450" indent="-171450" algn="l" fontAlgn="ctr">
                        <a:buFont typeface="Arial" panose="020B0604020202020204" pitchFamily="34" charset="0"/>
                        <a:buChar char="•"/>
                      </a:pPr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For App Tray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a. Google applications should be placed in Google folder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b. T-Mobile applications should be placed in T-Mobile folder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c. OEM applications should be placed in OEM folder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a. OEM applications must be reviewed and approved prior to RC1</a:t>
                      </a:r>
                      <a:b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d. Applications okay to appear in app tray (not in folder)</a:t>
                      </a:r>
                    </a:p>
                    <a:p>
                      <a:pPr marL="628650" lvl="1" indent="-171450" algn="l" fontAlgn="ctr">
                        <a:buFont typeface="Arial" panose="020B0604020202020204" pitchFamily="34" charset="0"/>
                        <a:buChar char="•"/>
                      </a:pP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Calculator</a:t>
                      </a:r>
                    </a:p>
                    <a:p>
                      <a:pPr marL="628650" lvl="1" indent="-171450" algn="l" fontAlgn="ctr">
                        <a:buFont typeface="Arial" panose="020B0604020202020204" pitchFamily="34" charset="0"/>
                        <a:buChar char="•"/>
                      </a:pP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Calendar</a:t>
                      </a:r>
                    </a:p>
                    <a:p>
                      <a:pPr marL="628650" lvl="1" indent="-171450" algn="l" fontAlgn="ctr">
                        <a:buFont typeface="Arial" panose="020B0604020202020204" pitchFamily="34" charset="0"/>
                        <a:buChar char="•"/>
                      </a:pP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  <a:p>
                      <a:pPr marL="628650" lvl="1" indent="-171450" algn="l" fontAlgn="ctr">
                        <a:buFont typeface="Arial" panose="020B0604020202020204" pitchFamily="34" charset="0"/>
                        <a:buChar char="•"/>
                      </a:pP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Clock</a:t>
                      </a:r>
                    </a:p>
                    <a:p>
                      <a:pPr marL="628650" lvl="1" indent="-171450" algn="l" fontAlgn="ctr">
                        <a:buFont typeface="Arial" panose="020B0604020202020204" pitchFamily="34" charset="0"/>
                        <a:buChar char="•"/>
                      </a:pP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Contacts</a:t>
                      </a:r>
                    </a:p>
                    <a:p>
                      <a:pPr marL="628650" lvl="1" indent="-171450" algn="l" fontAlgn="ctr">
                        <a:buFont typeface="Arial" panose="020B0604020202020204" pitchFamily="34" charset="0"/>
                        <a:buChar char="•"/>
                      </a:pP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Messages</a:t>
                      </a:r>
                    </a:p>
                    <a:p>
                      <a:pPr marL="628650" lvl="1" indent="-171450" algn="l" fontAlgn="ctr">
                        <a:buFont typeface="Arial" panose="020B0604020202020204" pitchFamily="34" charset="0"/>
                        <a:buChar char="•"/>
                      </a:pP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Files</a:t>
                      </a:r>
                    </a:p>
                    <a:p>
                      <a:pPr marL="628650" lvl="1" indent="-171450" algn="l" fontAlgn="ctr">
                        <a:buFont typeface="Arial" panose="020B0604020202020204" pitchFamily="34" charset="0"/>
                        <a:buChar char="•"/>
                      </a:pP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Settings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9223971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174E118A-79BF-4060-A472-4181F994A9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5957709"/>
              </p:ext>
            </p:extLst>
          </p:nvPr>
        </p:nvGraphicFramePr>
        <p:xfrm>
          <a:off x="7555196" y="3548410"/>
          <a:ext cx="1669768" cy="2655570"/>
        </p:xfrm>
        <a:graphic>
          <a:graphicData uri="http://schemas.openxmlformats.org/drawingml/2006/table">
            <a:tbl>
              <a:tblPr/>
              <a:tblGrid>
                <a:gridCol w="199196">
                  <a:extLst>
                    <a:ext uri="{9D8B030D-6E8A-4147-A177-3AD203B41FA5}">
                      <a16:colId xmlns:a16="http://schemas.microsoft.com/office/drawing/2014/main" val="3072099247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2660851657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4051570774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841299941"/>
                    </a:ext>
                  </a:extLst>
                </a:gridCol>
                <a:gridCol w="76200">
                  <a:extLst>
                    <a:ext uri="{9D8B030D-6E8A-4147-A177-3AD203B41FA5}">
                      <a16:colId xmlns:a16="http://schemas.microsoft.com/office/drawing/2014/main" val="2697608583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2261431747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2738975599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54138011"/>
                    </a:ext>
                  </a:extLst>
                </a:gridCol>
                <a:gridCol w="199196">
                  <a:extLst>
                    <a:ext uri="{9D8B030D-6E8A-4147-A177-3AD203B41FA5}">
                      <a16:colId xmlns:a16="http://schemas.microsoft.com/office/drawing/2014/main" val="3602541442"/>
                    </a:ext>
                  </a:extLst>
                </a:gridCol>
              </a:tblGrid>
              <a:tr h="163674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T-Mobile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007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83593485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05454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T-Mobile Play</a:t>
                      </a:r>
                    </a:p>
                    <a:p>
                      <a:pPr algn="ctr" fontAlgn="ctr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8629493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159240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2367054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705827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8681097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0357925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5990450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885689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142577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9782762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6073934"/>
                  </a:ext>
                </a:extLst>
              </a:tr>
              <a:tr h="129615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0527355"/>
                  </a:ext>
                </a:extLst>
              </a:tr>
              <a:tr h="129615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CM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24319942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81B5BF7C-7956-4D3B-ACDC-DE48363BA38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6013359"/>
              </p:ext>
            </p:extLst>
          </p:nvPr>
        </p:nvGraphicFramePr>
        <p:xfrm>
          <a:off x="-82343" y="718145"/>
          <a:ext cx="7349698" cy="3604046"/>
        </p:xfrm>
        <a:graphic>
          <a:graphicData uri="http://schemas.openxmlformats.org/drawingml/2006/table">
            <a:tbl>
              <a:tblPr/>
              <a:tblGrid>
                <a:gridCol w="238369">
                  <a:extLst>
                    <a:ext uri="{9D8B030D-6E8A-4147-A177-3AD203B41FA5}">
                      <a16:colId xmlns:a16="http://schemas.microsoft.com/office/drawing/2014/main" val="2736040179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896953158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2539782034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1784285086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742777474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3063413049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1998822845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2513293663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816976915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1719188421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1280666410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1344386535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1610401245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3984073449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2938554606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2229039708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3836351946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60912780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3273947099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4293700290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2137911678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1002899940"/>
                    </a:ext>
                  </a:extLst>
                </a:gridCol>
                <a:gridCol w="176463">
                  <a:extLst>
                    <a:ext uri="{9D8B030D-6E8A-4147-A177-3AD203B41FA5}">
                      <a16:colId xmlns:a16="http://schemas.microsoft.com/office/drawing/2014/main" val="3812109286"/>
                    </a:ext>
                  </a:extLst>
                </a:gridCol>
                <a:gridCol w="228600">
                  <a:extLst>
                    <a:ext uri="{9D8B030D-6E8A-4147-A177-3AD203B41FA5}">
                      <a16:colId xmlns:a16="http://schemas.microsoft.com/office/drawing/2014/main" val="2064584364"/>
                    </a:ext>
                  </a:extLst>
                </a:gridCol>
                <a:gridCol w="223966">
                  <a:extLst>
                    <a:ext uri="{9D8B030D-6E8A-4147-A177-3AD203B41FA5}">
                      <a16:colId xmlns:a16="http://schemas.microsoft.com/office/drawing/2014/main" val="1776636089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3827917395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3245542755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2921127796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689306504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3370914488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575666036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2611626922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1712617123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853516685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43077938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3109914161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2194946369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1275773761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2444425403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232596636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1559339775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2014038846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2114014646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2845809745"/>
                    </a:ext>
                  </a:extLst>
                </a:gridCol>
                <a:gridCol w="152291">
                  <a:extLst>
                    <a:ext uri="{9D8B030D-6E8A-4147-A177-3AD203B41FA5}">
                      <a16:colId xmlns:a16="http://schemas.microsoft.com/office/drawing/2014/main" val="2592692090"/>
                    </a:ext>
                  </a:extLst>
                </a:gridCol>
                <a:gridCol w="238369">
                  <a:extLst>
                    <a:ext uri="{9D8B030D-6E8A-4147-A177-3AD203B41FA5}">
                      <a16:colId xmlns:a16="http://schemas.microsoft.com/office/drawing/2014/main" val="2550186307"/>
                    </a:ext>
                  </a:extLst>
                </a:gridCol>
              </a:tblGrid>
              <a:tr h="153212"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1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APP TRAY 1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1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APP TRAY 2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6003363"/>
                  </a:ext>
                </a:extLst>
              </a:tr>
              <a:tr h="149190"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242142"/>
                  </a:ext>
                </a:extLst>
              </a:tr>
              <a:tr h="149190"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0445663"/>
                  </a:ext>
                </a:extLst>
              </a:tr>
              <a:tr h="149190"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2529949"/>
                  </a:ext>
                </a:extLst>
              </a:tr>
              <a:tr h="149190"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3996248"/>
                  </a:ext>
                </a:extLst>
              </a:tr>
              <a:tr h="149190"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91753931"/>
                  </a:ext>
                </a:extLst>
              </a:tr>
              <a:tr h="149190"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9254750"/>
                  </a:ext>
                </a:extLst>
              </a:tr>
              <a:tr h="149190"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15614733"/>
                  </a:ext>
                </a:extLst>
              </a:tr>
              <a:tr h="149190"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19157892"/>
                  </a:ext>
                </a:extLst>
              </a:tr>
              <a:tr h="149190"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6408987"/>
                  </a:ext>
                </a:extLst>
              </a:tr>
              <a:tr h="149190"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01390429"/>
                  </a:ext>
                </a:extLst>
              </a:tr>
              <a:tr h="149190"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0556678"/>
                  </a:ext>
                </a:extLst>
              </a:tr>
              <a:tr h="149190"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0909210"/>
                  </a:ext>
                </a:extLst>
              </a:tr>
              <a:tr h="149190"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0842103"/>
                  </a:ext>
                </a:extLst>
              </a:tr>
              <a:tr h="149190"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7491881"/>
                  </a:ext>
                </a:extLst>
              </a:tr>
              <a:tr h="149190"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3215809"/>
                  </a:ext>
                </a:extLst>
              </a:tr>
              <a:tr h="149190"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5538464"/>
                  </a:ext>
                </a:extLst>
              </a:tr>
              <a:tr h="149190"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765600"/>
                  </a:ext>
                </a:extLst>
              </a:tr>
              <a:tr h="149190"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71658876"/>
                  </a:ext>
                </a:extLst>
              </a:tr>
              <a:tr h="149190"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6769496"/>
                  </a:ext>
                </a:extLst>
              </a:tr>
              <a:tr h="149190"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34057316"/>
                  </a:ext>
                </a:extLst>
              </a:tr>
              <a:tr h="149190"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9737599"/>
                  </a:ext>
                </a:extLst>
              </a:tr>
              <a:tr h="149190"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860942"/>
                  </a:ext>
                </a:extLst>
              </a:tr>
              <a:tr h="149190"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6" marR="5036" marT="503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42219306"/>
                  </a:ext>
                </a:extLst>
              </a:tr>
            </a:tbl>
          </a:graphicData>
        </a:graphic>
      </p:graphicFrame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B0B524B7-3D30-B10F-AA6D-43BE4DC833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2359659"/>
              </p:ext>
            </p:extLst>
          </p:nvPr>
        </p:nvGraphicFramePr>
        <p:xfrm>
          <a:off x="5368127" y="4353702"/>
          <a:ext cx="1455746" cy="1733984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455746">
                  <a:extLst>
                    <a:ext uri="{9D8B030D-6E8A-4147-A177-3AD203B41FA5}">
                      <a16:colId xmlns:a16="http://schemas.microsoft.com/office/drawing/2014/main" val="4283747700"/>
                    </a:ext>
                  </a:extLst>
                </a:gridCol>
              </a:tblGrid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App Tray</a:t>
                      </a:r>
                    </a:p>
                    <a:p>
                      <a:pPr algn="ctr"/>
                      <a:r>
                        <a:rPr lang="en-US" sz="800" dirty="0"/>
                        <a:t>Based on placement order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214296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T-Life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5456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TikTok (AS)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7691460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Facebook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25063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Instagram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905200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WhatsApp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207076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52222295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6A4DEF40-9FAA-488A-8DC3-B93DDD0D686A}"/>
              </a:ext>
            </a:extLst>
          </p:cNvPr>
          <p:cNvSpPr txBox="1"/>
          <p:nvPr/>
        </p:nvSpPr>
        <p:spPr>
          <a:xfrm>
            <a:off x="372382" y="2776301"/>
            <a:ext cx="6875086" cy="523220"/>
          </a:xfrm>
          <a:prstGeom prst="rect">
            <a:avLst/>
          </a:prstGeom>
          <a:noFill/>
          <a:ln w="28575">
            <a:solidFill>
              <a:srgbClr val="7030A0"/>
            </a:solidFill>
          </a:ln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rgbClr val="7030A0"/>
                </a:solidFill>
              </a:rPr>
              <a:t>TABLET - METRO 6X5 SCREEN SIZE TEMPLATE</a:t>
            </a:r>
          </a:p>
        </p:txBody>
      </p:sp>
    </p:spTree>
    <p:extLst>
      <p:ext uri="{BB962C8B-B14F-4D97-AF65-F5344CB8AC3E}">
        <p14:creationId xmlns:p14="http://schemas.microsoft.com/office/powerpoint/2010/main" val="2575719230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257D90-141E-AFF1-6720-FDF61E2B9D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A7971EC9-0ACD-0BA6-22ED-8889A55CD325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4484" y="31799"/>
            <a:ext cx="10750998" cy="947750"/>
          </a:xfrm>
        </p:spPr>
        <p:txBody>
          <a:bodyPr>
            <a:normAutofit/>
          </a:bodyPr>
          <a:lstStyle/>
          <a:p>
            <a:r>
              <a:rPr lang="en-US" sz="3200" dirty="0">
                <a:solidFill>
                  <a:srgbClr val="7030A0"/>
                </a:solidFill>
              </a:rPr>
              <a:t>Metro Brand 6x5 (Lock +Unlock)</a:t>
            </a:r>
          </a:p>
        </p:txBody>
      </p:sp>
      <p:pic>
        <p:nvPicPr>
          <p:cNvPr id="243" name="Picture 242">
            <a:extLst>
              <a:ext uri="{FF2B5EF4-FFF2-40B4-BE49-F238E27FC236}">
                <a16:creationId xmlns:a16="http://schemas.microsoft.com/office/drawing/2014/main" id="{9318F7B6-D6F6-CC32-8AE8-9C607E17224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440811" y="31799"/>
            <a:ext cx="2163469" cy="652204"/>
          </a:xfrm>
          <a:prstGeom prst="rect">
            <a:avLst/>
          </a:prstGeom>
        </p:spPr>
      </p:pic>
      <p:sp>
        <p:nvSpPr>
          <p:cNvPr id="20" name="TextBox 11">
            <a:extLst>
              <a:ext uri="{FF2B5EF4-FFF2-40B4-BE49-F238E27FC236}">
                <a16:creationId xmlns:a16="http://schemas.microsoft.com/office/drawing/2014/main" id="{0B6B7073-777D-83D5-4DDB-656B1F7B0CED}"/>
              </a:ext>
            </a:extLst>
          </p:cNvPr>
          <p:cNvSpPr txBox="1"/>
          <p:nvPr/>
        </p:nvSpPr>
        <p:spPr>
          <a:xfrm>
            <a:off x="864286" y="11823712"/>
            <a:ext cx="1463073" cy="272348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/>
              <a:t>Google Discover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9144019B-C0D9-C26C-04EE-0FE90DCAB0F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6421338"/>
              </p:ext>
            </p:extLst>
          </p:nvPr>
        </p:nvGraphicFramePr>
        <p:xfrm>
          <a:off x="460753" y="666025"/>
          <a:ext cx="4285417" cy="4537282"/>
        </p:xfrm>
        <a:graphic>
          <a:graphicData uri="http://schemas.openxmlformats.org/drawingml/2006/table">
            <a:tbl>
              <a:tblPr/>
              <a:tblGrid>
                <a:gridCol w="323199">
                  <a:extLst>
                    <a:ext uri="{9D8B030D-6E8A-4147-A177-3AD203B41FA5}">
                      <a16:colId xmlns:a16="http://schemas.microsoft.com/office/drawing/2014/main" val="122851149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38574171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1034406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765835962"/>
                    </a:ext>
                  </a:extLst>
                </a:gridCol>
                <a:gridCol w="227994">
                  <a:extLst>
                    <a:ext uri="{9D8B030D-6E8A-4147-A177-3AD203B41FA5}">
                      <a16:colId xmlns:a16="http://schemas.microsoft.com/office/drawing/2014/main" val="3032794130"/>
                    </a:ext>
                  </a:extLst>
                </a:gridCol>
                <a:gridCol w="276517">
                  <a:extLst>
                    <a:ext uri="{9D8B030D-6E8A-4147-A177-3AD203B41FA5}">
                      <a16:colId xmlns:a16="http://schemas.microsoft.com/office/drawing/2014/main" val="541524318"/>
                    </a:ext>
                  </a:extLst>
                </a:gridCol>
                <a:gridCol w="243662">
                  <a:extLst>
                    <a:ext uri="{9D8B030D-6E8A-4147-A177-3AD203B41FA5}">
                      <a16:colId xmlns:a16="http://schemas.microsoft.com/office/drawing/2014/main" val="147404175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87507260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136874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18794909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42879882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2678500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5382073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72920100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415853704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86910272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558557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255814577"/>
                    </a:ext>
                  </a:extLst>
                </a:gridCol>
                <a:gridCol w="323199">
                  <a:extLst>
                    <a:ext uri="{9D8B030D-6E8A-4147-A177-3AD203B41FA5}">
                      <a16:colId xmlns:a16="http://schemas.microsoft.com/office/drawing/2014/main" val="650234665"/>
                    </a:ext>
                  </a:extLst>
                </a:gridCol>
              </a:tblGrid>
              <a:tr h="205879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Lock Screen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0995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704942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6546747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1761008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238531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8044488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gridSpan="15">
                  <a:txBody>
                    <a:bodyPr/>
                    <a:lstStyle/>
                    <a:p>
                      <a:pPr algn="ctr" fontAlgn="ctr"/>
                      <a:r>
                        <a:rPr lang="en-US" sz="20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Metro Play</a:t>
                      </a:r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4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9239566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7918914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8934769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496596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2743560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6333289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9844401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28475292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3377790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5461106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8258329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6355017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6054402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746340574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2335085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9395224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428589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3035375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6969364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6587648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0832905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4509624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7078814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58620133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1655012"/>
                  </a:ext>
                </a:extLst>
              </a:tr>
              <a:tr h="13485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242736861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2724871F-C1FF-E7DA-ACB5-B3071C3CFA46}"/>
              </a:ext>
            </a:extLst>
          </p:cNvPr>
          <p:cNvGraphicFramePr>
            <a:graphicFrameLocks noGrp="1"/>
          </p:cNvGraphicFramePr>
          <p:nvPr/>
        </p:nvGraphicFramePr>
        <p:xfrm>
          <a:off x="5358006" y="684003"/>
          <a:ext cx="4285417" cy="4537282"/>
        </p:xfrm>
        <a:graphic>
          <a:graphicData uri="http://schemas.openxmlformats.org/drawingml/2006/table">
            <a:tbl>
              <a:tblPr/>
              <a:tblGrid>
                <a:gridCol w="323199">
                  <a:extLst>
                    <a:ext uri="{9D8B030D-6E8A-4147-A177-3AD203B41FA5}">
                      <a16:colId xmlns:a16="http://schemas.microsoft.com/office/drawing/2014/main" val="122851149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38574171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1034406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765835962"/>
                    </a:ext>
                  </a:extLst>
                </a:gridCol>
                <a:gridCol w="227994">
                  <a:extLst>
                    <a:ext uri="{9D8B030D-6E8A-4147-A177-3AD203B41FA5}">
                      <a16:colId xmlns:a16="http://schemas.microsoft.com/office/drawing/2014/main" val="3032794130"/>
                    </a:ext>
                  </a:extLst>
                </a:gridCol>
                <a:gridCol w="276517">
                  <a:extLst>
                    <a:ext uri="{9D8B030D-6E8A-4147-A177-3AD203B41FA5}">
                      <a16:colId xmlns:a16="http://schemas.microsoft.com/office/drawing/2014/main" val="541524318"/>
                    </a:ext>
                  </a:extLst>
                </a:gridCol>
                <a:gridCol w="243662">
                  <a:extLst>
                    <a:ext uri="{9D8B030D-6E8A-4147-A177-3AD203B41FA5}">
                      <a16:colId xmlns:a16="http://schemas.microsoft.com/office/drawing/2014/main" val="147404175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87507260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136874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18794909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42879882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2678500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5382073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72920100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415853704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86910272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558557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255814577"/>
                    </a:ext>
                  </a:extLst>
                </a:gridCol>
                <a:gridCol w="323199">
                  <a:extLst>
                    <a:ext uri="{9D8B030D-6E8A-4147-A177-3AD203B41FA5}">
                      <a16:colId xmlns:a16="http://schemas.microsoft.com/office/drawing/2014/main" val="650234665"/>
                    </a:ext>
                  </a:extLst>
                </a:gridCol>
              </a:tblGrid>
              <a:tr h="205879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Unlock Screen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0995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704942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gridSpan="15">
                  <a:txBody>
                    <a:bodyPr/>
                    <a:lstStyle/>
                    <a:p>
                      <a:pPr algn="ctr" fontAlgn="ctr"/>
                      <a:r>
                        <a:rPr lang="en-US" sz="20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MetroZone</a:t>
                      </a:r>
                      <a:endParaRPr lang="en-US" sz="2000" b="0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8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6546747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1761008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238531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8044488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9239566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7918914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8934769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496596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2743560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6333289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9844401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28475292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3377790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5461106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8258329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6355017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6054402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746340574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2335085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9395224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428589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3035375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6969364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6587648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0832905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4509624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7078814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58620133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1655012"/>
                  </a:ext>
                </a:extLst>
              </a:tr>
              <a:tr h="13485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24273686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EE17C209-414B-A35C-C678-C33DA12418C0}"/>
              </a:ext>
            </a:extLst>
          </p:cNvPr>
          <p:cNvSpPr txBox="1"/>
          <p:nvPr/>
        </p:nvSpPr>
        <p:spPr>
          <a:xfrm>
            <a:off x="606558" y="5206856"/>
            <a:ext cx="6050561" cy="646331"/>
          </a:xfrm>
          <a:prstGeom prst="rect">
            <a:avLst/>
          </a:prstGeom>
          <a:noFill/>
        </p:spPr>
        <p:txBody>
          <a:bodyPr wrap="square" lIns="91440" tIns="45720" rIns="91440" bIns="45720" anchor="t">
            <a:spAutoFit/>
          </a:bodyPr>
          <a:lstStyle/>
          <a:p>
            <a:pPr fontAlgn="b"/>
            <a:r>
              <a:rPr lang="en-US" sz="1200" b="1" i="0" u="none" strike="noStrike" dirty="0">
                <a:solidFill>
                  <a:srgbClr val="000000"/>
                </a:solidFill>
                <a:effectLst/>
                <a:latin typeface="Calibri"/>
                <a:ea typeface="Calibri"/>
                <a:cs typeface="Calibri"/>
              </a:rPr>
              <a:t>OEM Instructions: </a:t>
            </a:r>
            <a:r>
              <a:rPr lang="en-US" sz="1200" b="1" i="0" u="sng" strike="noStrike" dirty="0">
                <a:solidFill>
                  <a:srgbClr val="4472C4"/>
                </a:solidFill>
                <a:effectLst/>
                <a:latin typeface="Calibri"/>
                <a:ea typeface="Calibri"/>
                <a:cs typeface="Calibri"/>
              </a:rPr>
              <a:t> </a:t>
            </a:r>
            <a:br>
              <a:rPr lang="en-US" sz="1200" b="0" i="0" u="none" strike="noStrike" dirty="0"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/>
                <a:ea typeface="Calibri"/>
                <a:cs typeface="Calibri"/>
              </a:rPr>
              <a:t>Please provid</a:t>
            </a:r>
            <a:r>
              <a:rPr lang="en-US" sz="1200" dirty="0">
                <a:solidFill>
                  <a:srgbClr val="000000"/>
                </a:solidFill>
                <a:latin typeface="Calibri"/>
                <a:ea typeface="Calibri"/>
                <a:cs typeface="Calibri"/>
              </a:rPr>
              <a:t>e the mapping or the device’s Lock and Unlock screen. Please feel free to </a:t>
            </a:r>
            <a:r>
              <a:rPr lang="en-US" sz="1200">
                <a:solidFill>
                  <a:srgbClr val="000000"/>
                </a:solidFill>
                <a:latin typeface="Calibri"/>
                <a:ea typeface="Calibri"/>
                <a:cs typeface="Calibri"/>
              </a:rPr>
              <a:t>populate the screens as you would with any other device screen. </a:t>
            </a:r>
            <a:endParaRPr lang="en-US" sz="1200" b="0" i="0" u="none" strike="noStrike">
              <a:solidFill>
                <a:srgbClr val="000000"/>
              </a:solidFill>
              <a:effectLst/>
              <a:latin typeface="Calibri" panose="020F0502020204030204" pitchFamily="34" charset="0"/>
              <a:ea typeface="Calibri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967146269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B4DFBEA-C9E3-485D-B4A5-063CDD28548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4484" y="31799"/>
            <a:ext cx="10750998" cy="947750"/>
          </a:xfrm>
        </p:spPr>
        <p:txBody>
          <a:bodyPr>
            <a:normAutofit/>
          </a:bodyPr>
          <a:lstStyle/>
          <a:p>
            <a:r>
              <a:rPr lang="en-US" sz="3200" dirty="0">
                <a:solidFill>
                  <a:srgbClr val="7030A0"/>
                </a:solidFill>
              </a:rPr>
              <a:t>TABLET - Metro Brand 6x5 (Homescreen + Panel Layout)</a:t>
            </a:r>
          </a:p>
        </p:txBody>
      </p:sp>
      <p:cxnSp>
        <p:nvCxnSpPr>
          <p:cNvPr id="221" name="Connector: Elbow 220">
            <a:extLst>
              <a:ext uri="{FF2B5EF4-FFF2-40B4-BE49-F238E27FC236}">
                <a16:creationId xmlns:a16="http://schemas.microsoft.com/office/drawing/2014/main" id="{3C3CAFFA-D35E-488C-AC17-5656F52B2BBC}"/>
              </a:ext>
            </a:extLst>
          </p:cNvPr>
          <p:cNvCxnSpPr>
            <a:cxnSpLocks/>
          </p:cNvCxnSpPr>
          <p:nvPr/>
        </p:nvCxnSpPr>
        <p:spPr>
          <a:xfrm>
            <a:off x="5556250" y="2965450"/>
            <a:ext cx="4140200" cy="1180229"/>
          </a:xfrm>
          <a:prstGeom prst="bentConnector3">
            <a:avLst>
              <a:gd name="adj1" fmla="val 16411"/>
            </a:avLst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30" name="Table 229">
            <a:extLst>
              <a:ext uri="{FF2B5EF4-FFF2-40B4-BE49-F238E27FC236}">
                <a16:creationId xmlns:a16="http://schemas.microsoft.com/office/drawing/2014/main" id="{FD363AB1-CF80-413A-83A3-E3976F48C9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6008009"/>
              </p:ext>
            </p:extLst>
          </p:nvPr>
        </p:nvGraphicFramePr>
        <p:xfrm>
          <a:off x="242910" y="4674430"/>
          <a:ext cx="4842150" cy="1959610"/>
        </p:xfrm>
        <a:graphic>
          <a:graphicData uri="http://schemas.openxmlformats.org/drawingml/2006/table">
            <a:tbl>
              <a:tblPr/>
              <a:tblGrid>
                <a:gridCol w="193686">
                  <a:extLst>
                    <a:ext uri="{9D8B030D-6E8A-4147-A177-3AD203B41FA5}">
                      <a16:colId xmlns:a16="http://schemas.microsoft.com/office/drawing/2014/main" val="3668995254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2298855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347258237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887936937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31880910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69528032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47022183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21668264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355972019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57865640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2311707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32040150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1610574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428869703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882220615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809203488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97926968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073156503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469739955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67735331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783650352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043479574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599976022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942200419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114388392"/>
                    </a:ext>
                  </a:extLst>
                </a:gridCol>
              </a:tblGrid>
              <a:tr h="63404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90249396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759617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Calendar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Wallet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Chrome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14018275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736548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5294176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089445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Home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One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Search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8432401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834597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045608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1047355"/>
                  </a:ext>
                </a:extLst>
              </a:tr>
              <a:tr h="121273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OEM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65572867"/>
                  </a:ext>
                </a:extLst>
              </a:tr>
            </a:tbl>
          </a:graphicData>
        </a:graphic>
      </p:graphicFrame>
      <p:pic>
        <p:nvPicPr>
          <p:cNvPr id="243" name="Picture 242">
            <a:extLst>
              <a:ext uri="{FF2B5EF4-FFF2-40B4-BE49-F238E27FC236}">
                <a16:creationId xmlns:a16="http://schemas.microsoft.com/office/drawing/2014/main" id="{16DAAD4E-E7A0-4A13-90CE-032F71D27A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552162" y="731528"/>
            <a:ext cx="2163469" cy="652204"/>
          </a:xfrm>
          <a:prstGeom prst="rect">
            <a:avLst/>
          </a:prstGeom>
        </p:spPr>
      </p:pic>
      <p:sp>
        <p:nvSpPr>
          <p:cNvPr id="26" name="TextBox 25">
            <a:extLst>
              <a:ext uri="{FF2B5EF4-FFF2-40B4-BE49-F238E27FC236}">
                <a16:creationId xmlns:a16="http://schemas.microsoft.com/office/drawing/2014/main" id="{C8FA1BD2-DDD1-4D14-8F05-8F54C9242F34}"/>
              </a:ext>
            </a:extLst>
          </p:cNvPr>
          <p:cNvSpPr txBox="1"/>
          <p:nvPr/>
        </p:nvSpPr>
        <p:spPr>
          <a:xfrm>
            <a:off x="5317243" y="4702543"/>
            <a:ext cx="6050561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fontAlgn="b"/>
            <a:r>
              <a:rPr lang="en-US" sz="1200" b="1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Customization Files may be found here: 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1" i="0" u="sng" strike="noStrike" dirty="0">
                <a:solidFill>
                  <a:srgbClr val="4472C4"/>
                </a:solidFill>
                <a:effectLst/>
                <a:latin typeface="Calibri" panose="020F0502020204030204" pitchFamily="34" charset="0"/>
                <a:hlinkClick r:id="rId3"/>
              </a:rPr>
              <a:t>https://tmap.t-mobile.com/portals/ayibw7iw/OEMToolkit</a:t>
            </a:r>
            <a:r>
              <a:rPr lang="en-US" sz="1200" b="1" i="0" u="sng" strike="noStrike" dirty="0">
                <a:solidFill>
                  <a:srgbClr val="4472C4"/>
                </a:solidFill>
                <a:effectLst/>
                <a:latin typeface="Calibri" panose="020F0502020204030204" pitchFamily="34" charset="0"/>
              </a:rPr>
              <a:t>  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This includes brand specific: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      •Power Up / Boot File animation and mnemonic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      •T-Mobile / Metro</a:t>
            </a:r>
          </a:p>
          <a:p>
            <a:pPr algn="l" fontAlgn="b"/>
            <a:endParaRPr lang="en-US" sz="1200" b="0" i="0" u="none" strike="noStrike" dirty="0">
              <a:solidFill>
                <a:srgbClr val="000000"/>
              </a:solidFill>
              <a:effectLst/>
              <a:latin typeface="Calibri" panose="020F0502020204030204" pitchFamily="34" charset="0"/>
            </a:endParaRPr>
          </a:p>
          <a:p>
            <a:pPr algn="l" fontAlgn="b"/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NOTES: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1.  Google One application includes a Set Up Wizard that is required for Metro</a:t>
            </a:r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D8B4B8CB-7E7D-4D45-89DE-E9F4C0D673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103666"/>
              </p:ext>
            </p:extLst>
          </p:nvPr>
        </p:nvGraphicFramePr>
        <p:xfrm>
          <a:off x="161870" y="716108"/>
          <a:ext cx="9522925" cy="3164262"/>
        </p:xfrm>
        <a:graphic>
          <a:graphicData uri="http://schemas.openxmlformats.org/drawingml/2006/table">
            <a:tbl>
              <a:tblPr/>
              <a:tblGrid>
                <a:gridCol w="192412">
                  <a:extLst>
                    <a:ext uri="{9D8B030D-6E8A-4147-A177-3AD203B41FA5}">
                      <a16:colId xmlns:a16="http://schemas.microsoft.com/office/drawing/2014/main" val="42805070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1941878367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510451894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3535679311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3970868786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3812465764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2108472030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286119480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610868090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2010857225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944766495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2696532870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2515420901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2620392592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1348140828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1699719566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283744300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1058852944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1947681786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1181520525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2262195982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1032346892"/>
                    </a:ext>
                  </a:extLst>
                </a:gridCol>
                <a:gridCol w="192412">
                  <a:extLst>
                    <a:ext uri="{9D8B030D-6E8A-4147-A177-3AD203B41FA5}">
                      <a16:colId xmlns:a16="http://schemas.microsoft.com/office/drawing/2014/main" val="1625108028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2265637590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2172094382"/>
                    </a:ext>
                  </a:extLst>
                </a:gridCol>
                <a:gridCol w="29243">
                  <a:extLst>
                    <a:ext uri="{9D8B030D-6E8A-4147-A177-3AD203B41FA5}">
                      <a16:colId xmlns:a16="http://schemas.microsoft.com/office/drawing/2014/main" val="1813602323"/>
                    </a:ext>
                  </a:extLst>
                </a:gridCol>
                <a:gridCol w="212774">
                  <a:extLst>
                    <a:ext uri="{9D8B030D-6E8A-4147-A177-3AD203B41FA5}">
                      <a16:colId xmlns:a16="http://schemas.microsoft.com/office/drawing/2014/main" val="3645894806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3893361105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1213003879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2090754690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979728854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1931557296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714812125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3919023070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31462862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3475187946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148314725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598511912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2206118377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2294639909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3584431022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1940569814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3880427917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3331580878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774418022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1982431818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3042739233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954805441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4222178347"/>
                    </a:ext>
                  </a:extLst>
                </a:gridCol>
                <a:gridCol w="85026">
                  <a:extLst>
                    <a:ext uri="{9D8B030D-6E8A-4147-A177-3AD203B41FA5}">
                      <a16:colId xmlns:a16="http://schemas.microsoft.com/office/drawing/2014/main" val="4215833172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1420926636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2773737599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419280345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3405730655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485581812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283443659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4269183132"/>
                    </a:ext>
                  </a:extLst>
                </a:gridCol>
                <a:gridCol w="136476">
                  <a:extLst>
                    <a:ext uri="{9D8B030D-6E8A-4147-A177-3AD203B41FA5}">
                      <a16:colId xmlns:a16="http://schemas.microsoft.com/office/drawing/2014/main" val="796326762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2595527993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1181034106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2786532085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883464663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1315112913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915623762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1928210117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2020130374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3822528270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266717192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3034537361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2883088339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200413633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3577815123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3472413637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87079401"/>
                    </a:ext>
                  </a:extLst>
                </a:gridCol>
                <a:gridCol w="122930">
                  <a:extLst>
                    <a:ext uri="{9D8B030D-6E8A-4147-A177-3AD203B41FA5}">
                      <a16:colId xmlns:a16="http://schemas.microsoft.com/office/drawing/2014/main" val="477360047"/>
                    </a:ext>
                  </a:extLst>
                </a:gridCol>
                <a:gridCol w="192412">
                  <a:extLst>
                    <a:ext uri="{9D8B030D-6E8A-4147-A177-3AD203B41FA5}">
                      <a16:colId xmlns:a16="http://schemas.microsoft.com/office/drawing/2014/main" val="2400854306"/>
                    </a:ext>
                  </a:extLst>
                </a:gridCol>
              </a:tblGrid>
              <a:tr h="1125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1">
                  <a:txBody>
                    <a:bodyPr/>
                    <a:lstStyle/>
                    <a:p>
                      <a:pPr algn="ctr" fontAlgn="b"/>
                      <a:r>
                        <a:rPr lang="en-US" sz="8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1L - Minus One Screen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6">
                  <a:txBody>
                    <a:bodyPr/>
                    <a:lstStyle/>
                    <a:p>
                      <a:pPr algn="ctr" fontAlgn="b"/>
                      <a:r>
                        <a:rPr lang="en-US" sz="8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Home- Screen 0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8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1R -PLUS ONE SCREEN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9187201"/>
                  </a:ext>
                </a:extLst>
              </a:tr>
              <a:tr h="1125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3639681"/>
                  </a:ext>
                </a:extLst>
              </a:tr>
              <a:tr h="1125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24" gridSpan="19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Assistant (-1 Minus One) page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4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73576229"/>
                  </a:ext>
                </a:extLst>
              </a:tr>
              <a:tr h="1125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4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7270209"/>
                  </a:ext>
                </a:extLst>
              </a:tr>
              <a:tr h="1125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4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18693772"/>
                  </a:ext>
                </a:extLst>
              </a:tr>
              <a:tr h="1125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3482279"/>
                  </a:ext>
                </a:extLst>
              </a:tr>
              <a:tr h="1125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4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29113403"/>
                  </a:ext>
                </a:extLst>
              </a:tr>
              <a:tr h="1125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4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3721783"/>
                  </a:ext>
                </a:extLst>
              </a:tr>
              <a:tr h="1125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4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38743610"/>
                  </a:ext>
                </a:extLst>
              </a:tr>
              <a:tr h="1125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2640145"/>
                  </a:ext>
                </a:extLst>
              </a:tr>
              <a:tr h="1125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24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Search (6x1)</a:t>
                      </a:r>
                    </a:p>
                  </a:txBody>
                  <a:tcPr marL="3843" marR="3843" marT="384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27201105"/>
                  </a:ext>
                </a:extLst>
              </a:tr>
              <a:tr h="1125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4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7194862"/>
                  </a:ext>
                </a:extLst>
              </a:tr>
              <a:tr h="1125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4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0888560"/>
                  </a:ext>
                </a:extLst>
              </a:tr>
              <a:tr h="1125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28409452"/>
                  </a:ext>
                </a:extLst>
              </a:tr>
              <a:tr h="1125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4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386076"/>
                  </a:ext>
                </a:extLst>
              </a:tr>
              <a:tr h="1125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4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5385992"/>
                  </a:ext>
                </a:extLst>
              </a:tr>
              <a:tr h="1125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4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0677633"/>
                  </a:ext>
                </a:extLst>
              </a:tr>
              <a:tr h="1125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20090120"/>
                  </a:ext>
                </a:extLst>
              </a:tr>
              <a:tr h="1125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4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FOLDER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PLAYSTORE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ASSIST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472C4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PHOTOS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METRO FOLDER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TikTok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9874974"/>
                  </a:ext>
                </a:extLst>
              </a:tr>
              <a:tr h="1125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4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4647744"/>
                  </a:ext>
                </a:extLst>
              </a:tr>
              <a:tr h="1125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4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159336"/>
                  </a:ext>
                </a:extLst>
              </a:tr>
              <a:tr h="1125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8206804"/>
                  </a:ext>
                </a:extLst>
              </a:tr>
              <a:tr h="1125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96522931"/>
                  </a:ext>
                </a:extLst>
              </a:tr>
              <a:tr h="1125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4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Phone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Messages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Contacts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Chrome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Phone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Messages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Contacts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Chrome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14133370"/>
                  </a:ext>
                </a:extLst>
              </a:tr>
              <a:tr h="1125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4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4407189"/>
                  </a:ext>
                </a:extLst>
              </a:tr>
              <a:tr h="1125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4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533645"/>
                  </a:ext>
                </a:extLst>
              </a:tr>
              <a:tr h="1125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3767820"/>
                  </a:ext>
                </a:extLst>
              </a:tr>
              <a:tr h="11253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843" marR="3843" marT="384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4588489"/>
                  </a:ext>
                </a:extLst>
              </a:tr>
            </a:tbl>
          </a:graphicData>
        </a:graphic>
      </p:graphicFrame>
      <p:cxnSp>
        <p:nvCxnSpPr>
          <p:cNvPr id="239" name="Connector: Elbow 238">
            <a:extLst>
              <a:ext uri="{FF2B5EF4-FFF2-40B4-BE49-F238E27FC236}">
                <a16:creationId xmlns:a16="http://schemas.microsoft.com/office/drawing/2014/main" id="{7E592D28-9836-4A22-9374-6878C0E2F011}"/>
              </a:ext>
            </a:extLst>
          </p:cNvPr>
          <p:cNvCxnSpPr>
            <a:cxnSpLocks/>
          </p:cNvCxnSpPr>
          <p:nvPr/>
        </p:nvCxnSpPr>
        <p:spPr>
          <a:xfrm rot="5400000">
            <a:off x="2533122" y="3619802"/>
            <a:ext cx="1515895" cy="593362"/>
          </a:xfrm>
          <a:prstGeom prst="bentConnector3">
            <a:avLst>
              <a:gd name="adj1" fmla="val 50000"/>
            </a:avLst>
          </a:prstGeom>
          <a:ln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4">
            <a:extLst>
              <a:ext uri="{FF2B5EF4-FFF2-40B4-BE49-F238E27FC236}">
                <a16:creationId xmlns:a16="http://schemas.microsoft.com/office/drawing/2014/main" id="{7F482BD7-1CA5-46A6-BFAE-4B376B82E23F}"/>
              </a:ext>
            </a:extLst>
          </p:cNvPr>
          <p:cNvSpPr txBox="1"/>
          <p:nvPr/>
        </p:nvSpPr>
        <p:spPr>
          <a:xfrm>
            <a:off x="476369" y="1002970"/>
            <a:ext cx="1160520" cy="355600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100" dirty="0"/>
              <a:t>Google Discover</a:t>
            </a:r>
          </a:p>
        </p:txBody>
      </p:sp>
      <p:sp>
        <p:nvSpPr>
          <p:cNvPr id="12" name="TextBox 4">
            <a:extLst>
              <a:ext uri="{FF2B5EF4-FFF2-40B4-BE49-F238E27FC236}">
                <a16:creationId xmlns:a16="http://schemas.microsoft.com/office/drawing/2014/main" id="{CCFB1F03-8CA3-4ADD-AC7D-4995AA9A3832}"/>
              </a:ext>
            </a:extLst>
          </p:cNvPr>
          <p:cNvSpPr txBox="1"/>
          <p:nvPr/>
        </p:nvSpPr>
        <p:spPr>
          <a:xfrm>
            <a:off x="1734275" y="1002970"/>
            <a:ext cx="1049444" cy="355600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1200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96597689-4D93-405E-8336-8A8800B00A08}"/>
              </a:ext>
            </a:extLst>
          </p:cNvPr>
          <p:cNvSpPr/>
          <p:nvPr/>
        </p:nvSpPr>
        <p:spPr>
          <a:xfrm>
            <a:off x="6513201" y="873520"/>
            <a:ext cx="2867222" cy="49191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spc="300" dirty="0">
                <a:solidFill>
                  <a:schemeClr val="tx1"/>
                </a:solidFill>
                <a:ea typeface="linea-basic-10" charset="0"/>
                <a:cs typeface="linea-basic-10" charset="0"/>
              </a:rPr>
              <a:t>Metrozone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F7949544-D977-A987-FC91-E05EA96DB1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58244494"/>
              </p:ext>
            </p:extLst>
          </p:nvPr>
        </p:nvGraphicFramePr>
        <p:xfrm>
          <a:off x="9696450" y="1543523"/>
          <a:ext cx="1728018" cy="2655570"/>
        </p:xfrm>
        <a:graphic>
          <a:graphicData uri="http://schemas.openxmlformats.org/drawingml/2006/table">
            <a:tbl>
              <a:tblPr/>
              <a:tblGrid>
                <a:gridCol w="206145">
                  <a:extLst>
                    <a:ext uri="{9D8B030D-6E8A-4147-A177-3AD203B41FA5}">
                      <a16:colId xmlns:a16="http://schemas.microsoft.com/office/drawing/2014/main" val="3072099247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2660851657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4051570774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841299941"/>
                    </a:ext>
                  </a:extLst>
                </a:gridCol>
                <a:gridCol w="78858">
                  <a:extLst>
                    <a:ext uri="{9D8B030D-6E8A-4147-A177-3AD203B41FA5}">
                      <a16:colId xmlns:a16="http://schemas.microsoft.com/office/drawing/2014/main" val="2697608583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2261431747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2738975599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54138011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3602541442"/>
                    </a:ext>
                  </a:extLst>
                </a:gridCol>
              </a:tblGrid>
              <a:tr h="211476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Metro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83593485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05454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Metro</a:t>
                      </a:r>
                    </a:p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Zone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Metro Play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8629493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159240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2367054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705827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8681097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0357925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5990450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885689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142577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9782762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6073934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0527355"/>
                  </a:ext>
                </a:extLst>
              </a:tr>
              <a:tr h="167470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CM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24319942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77EEF3B1-8929-176F-0D4A-E6986AC46D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5736505"/>
              </p:ext>
            </p:extLst>
          </p:nvPr>
        </p:nvGraphicFramePr>
        <p:xfrm>
          <a:off x="10482160" y="4199093"/>
          <a:ext cx="1669767" cy="17863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69767">
                  <a:extLst>
                    <a:ext uri="{9D8B030D-6E8A-4147-A177-3AD203B41FA5}">
                      <a16:colId xmlns:a16="http://schemas.microsoft.com/office/drawing/2014/main" val="4009581341"/>
                    </a:ext>
                  </a:extLst>
                </a:gridCol>
              </a:tblGrid>
              <a:tr h="321267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Plus – One Applications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05086144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Ad-It-Up (AS)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58167358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TikTok (AS)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80852661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Facebook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3738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Instagram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47147261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WhatsApp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391968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09790775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B4DFBEA-C9E3-485D-B4A5-063CDD28548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4484" y="31799"/>
            <a:ext cx="10750998" cy="947750"/>
          </a:xfrm>
        </p:spPr>
        <p:txBody>
          <a:bodyPr>
            <a:normAutofit/>
          </a:bodyPr>
          <a:lstStyle/>
          <a:p>
            <a:r>
              <a:rPr lang="en-US" sz="3200" dirty="0">
                <a:solidFill>
                  <a:srgbClr val="7030A0"/>
                </a:solidFill>
              </a:rPr>
              <a:t>TABLET - Metro Brand 6x5 (APP TRAY)</a:t>
            </a:r>
          </a:p>
        </p:txBody>
      </p:sp>
      <p:pic>
        <p:nvPicPr>
          <p:cNvPr id="243" name="Picture 242">
            <a:extLst>
              <a:ext uri="{FF2B5EF4-FFF2-40B4-BE49-F238E27FC236}">
                <a16:creationId xmlns:a16="http://schemas.microsoft.com/office/drawing/2014/main" id="{16DAAD4E-E7A0-4A13-90CE-032F71D27A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652013" y="52139"/>
            <a:ext cx="2163469" cy="652204"/>
          </a:xfrm>
          <a:prstGeom prst="rect">
            <a:avLst/>
          </a:prstGeom>
        </p:spPr>
      </p:pic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084BD0EE-3F05-478F-935E-D48024FC8E7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0312114"/>
              </p:ext>
            </p:extLst>
          </p:nvPr>
        </p:nvGraphicFramePr>
        <p:xfrm>
          <a:off x="7258353" y="4066156"/>
          <a:ext cx="1298732" cy="2159016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298732">
                  <a:extLst>
                    <a:ext uri="{9D8B030D-6E8A-4147-A177-3AD203B41FA5}">
                      <a16:colId xmlns:a16="http://schemas.microsoft.com/office/drawing/2014/main" val="4283747700"/>
                    </a:ext>
                  </a:extLst>
                </a:gridCol>
              </a:tblGrid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OEM FOLDER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214296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5456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2397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7691460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25063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905200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2070764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6544440"/>
                  </a:ext>
                </a:extLst>
              </a:tr>
            </a:tbl>
          </a:graphicData>
        </a:graphic>
      </p:graphicFrame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D82C608A-E4A4-4FE4-83C8-D28C151694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4905930"/>
              </p:ext>
            </p:extLst>
          </p:nvPr>
        </p:nvGraphicFramePr>
        <p:xfrm>
          <a:off x="8652013" y="4066156"/>
          <a:ext cx="1223344" cy="2159016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223344">
                  <a:extLst>
                    <a:ext uri="{9D8B030D-6E8A-4147-A177-3AD203B41FA5}">
                      <a16:colId xmlns:a16="http://schemas.microsoft.com/office/drawing/2014/main" val="4283747700"/>
                    </a:ext>
                  </a:extLst>
                </a:gridCol>
              </a:tblGrid>
              <a:tr h="273476">
                <a:tc>
                  <a:txBody>
                    <a:bodyPr/>
                    <a:lstStyle/>
                    <a:p>
                      <a:r>
                        <a:rPr lang="en-US" sz="1100" dirty="0"/>
                        <a:t> OTHER FOLDER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214296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5456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2397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7691460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25063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905200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2070764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6544440"/>
                  </a:ext>
                </a:extLst>
              </a:tr>
            </a:tbl>
          </a:graphicData>
        </a:graphic>
      </p:graphicFrame>
      <p:graphicFrame>
        <p:nvGraphicFramePr>
          <p:cNvPr id="18" name="Table 17">
            <a:extLst>
              <a:ext uri="{FF2B5EF4-FFF2-40B4-BE49-F238E27FC236}">
                <a16:creationId xmlns:a16="http://schemas.microsoft.com/office/drawing/2014/main" id="{365C2058-AF86-4C1C-B095-AD6AFDE77C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8126817"/>
              </p:ext>
            </p:extLst>
          </p:nvPr>
        </p:nvGraphicFramePr>
        <p:xfrm>
          <a:off x="344883" y="4121413"/>
          <a:ext cx="4842150" cy="1959610"/>
        </p:xfrm>
        <a:graphic>
          <a:graphicData uri="http://schemas.openxmlformats.org/drawingml/2006/table">
            <a:tbl>
              <a:tblPr/>
              <a:tblGrid>
                <a:gridCol w="193686">
                  <a:extLst>
                    <a:ext uri="{9D8B030D-6E8A-4147-A177-3AD203B41FA5}">
                      <a16:colId xmlns:a16="http://schemas.microsoft.com/office/drawing/2014/main" val="3668995254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2298855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347258237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887936937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31880910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69528032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47022183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21668264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355972019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57865640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2311707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32040150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1610574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428869703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882220615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809203488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97926968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073156503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469739955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67735331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783650352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043479574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599976022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942200419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114388392"/>
                    </a:ext>
                  </a:extLst>
                </a:gridCol>
              </a:tblGrid>
              <a:tr h="63404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90249396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759617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Calendar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Wallet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Chrome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14018275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736548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5294176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089445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Home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One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Search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8432401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834597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045608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1047355"/>
                  </a:ext>
                </a:extLst>
              </a:tr>
              <a:tr h="121273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OEM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65572867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5001D4F9-F3F9-42E3-BBB2-648C2B857E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2481910"/>
              </p:ext>
            </p:extLst>
          </p:nvPr>
        </p:nvGraphicFramePr>
        <p:xfrm>
          <a:off x="7680889" y="856627"/>
          <a:ext cx="4348954" cy="3023870"/>
        </p:xfrm>
        <a:graphic>
          <a:graphicData uri="http://schemas.openxmlformats.org/drawingml/2006/table">
            <a:tbl>
              <a:tblPr/>
              <a:tblGrid>
                <a:gridCol w="4348954">
                  <a:extLst>
                    <a:ext uri="{9D8B030D-6E8A-4147-A177-3AD203B41FA5}">
                      <a16:colId xmlns:a16="http://schemas.microsoft.com/office/drawing/2014/main" val="383390548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l" fontAlgn="t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For App Tray</a:t>
                      </a:r>
                      <a:b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a. </a:t>
                      </a:r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applications should be placed in </a:t>
                      </a:r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folder</a:t>
                      </a:r>
                      <a:b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a. Ensure Google One is preloaded</a:t>
                      </a:r>
                      <a:b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c. OEM applications should be placed in OEM folder</a:t>
                      </a:r>
                      <a:b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a. OEM applications must be reviewed and approved prior to RC1</a:t>
                      </a:r>
                      <a:b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d. Applications okay to appear in app tray (not in folder)</a:t>
                      </a:r>
                      <a:b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Calculator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Calendar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Camera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Clock 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Contacts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Files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Android Messages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Phone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Settings</a:t>
                      </a:r>
                    </a:p>
                    <a:p>
                      <a:pPr algn="l" fontAlgn="t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algn="l" fontAlgn="t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For Browser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 Chrome Default Homepage -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hlinkClick r:id="rId3"/>
                        </a:rPr>
                        <a:t>https://www.metropcs.mobi/en/home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5186180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650C1F18-D47B-4181-801C-6183EC22E1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4111146"/>
              </p:ext>
            </p:extLst>
          </p:nvPr>
        </p:nvGraphicFramePr>
        <p:xfrm>
          <a:off x="344883" y="501595"/>
          <a:ext cx="3573075" cy="3349678"/>
        </p:xfrm>
        <a:graphic>
          <a:graphicData uri="http://schemas.openxmlformats.org/drawingml/2006/table">
            <a:tbl>
              <a:tblPr/>
              <a:tblGrid>
                <a:gridCol w="142923">
                  <a:extLst>
                    <a:ext uri="{9D8B030D-6E8A-4147-A177-3AD203B41FA5}">
                      <a16:colId xmlns:a16="http://schemas.microsoft.com/office/drawing/2014/main" val="1401987744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103324338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656290085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1416441743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589189813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323550870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4051300282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967103579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813221993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881756019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3016166271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1693067541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1018201826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4223675511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3539468738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889267158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3673263527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4286578209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1489094242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504818301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614279175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430070744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701535361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4089315854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4151695692"/>
                    </a:ext>
                  </a:extLst>
                </a:gridCol>
              </a:tblGrid>
              <a:tr h="171872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2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APP TRAY 1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9719280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2224421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0859396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4470411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5912356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9378212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991750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113836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32424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41926805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0851849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147125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70994919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1561783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62807397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6675975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9894342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7030657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6038966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4760584"/>
                  </a:ext>
                </a:extLst>
              </a:tr>
              <a:tr h="130104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32354675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48334034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4712573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6E4157F6-30BA-4EF8-9E43-4768449317D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6961218"/>
              </p:ext>
            </p:extLst>
          </p:nvPr>
        </p:nvGraphicFramePr>
        <p:xfrm>
          <a:off x="4012886" y="501595"/>
          <a:ext cx="3573075" cy="3349678"/>
        </p:xfrm>
        <a:graphic>
          <a:graphicData uri="http://schemas.openxmlformats.org/drawingml/2006/table">
            <a:tbl>
              <a:tblPr/>
              <a:tblGrid>
                <a:gridCol w="142923">
                  <a:extLst>
                    <a:ext uri="{9D8B030D-6E8A-4147-A177-3AD203B41FA5}">
                      <a16:colId xmlns:a16="http://schemas.microsoft.com/office/drawing/2014/main" val="1401987744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103324338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656290085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1416441743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589189813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323550870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4051300282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967103579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813221993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881756019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3016166271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1693067541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1018201826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4223675511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3539468738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889267158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3673263527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4286578209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1489094242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504818301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614279175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430070744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701535361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4089315854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4151695692"/>
                    </a:ext>
                  </a:extLst>
                </a:gridCol>
              </a:tblGrid>
              <a:tr h="171872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2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APP TRAY 2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9719280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2224421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0859396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4470411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5912356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9378212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991750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113836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32424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41926805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0851849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147125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70994919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1561783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62807397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6675975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9894342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7030657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6038966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4760584"/>
                  </a:ext>
                </a:extLst>
              </a:tr>
              <a:tr h="130104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32354675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48334034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4712573"/>
                  </a:ext>
                </a:extLst>
              </a:tr>
            </a:tbl>
          </a:graphicData>
        </a:graphic>
      </p:graphicFrame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83CFCB61-C8F6-E8F0-F64C-068682CFCE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1523668"/>
              </p:ext>
            </p:extLst>
          </p:nvPr>
        </p:nvGraphicFramePr>
        <p:xfrm>
          <a:off x="5328292" y="3851273"/>
          <a:ext cx="1728018" cy="2655570"/>
        </p:xfrm>
        <a:graphic>
          <a:graphicData uri="http://schemas.openxmlformats.org/drawingml/2006/table">
            <a:tbl>
              <a:tblPr/>
              <a:tblGrid>
                <a:gridCol w="206145">
                  <a:extLst>
                    <a:ext uri="{9D8B030D-6E8A-4147-A177-3AD203B41FA5}">
                      <a16:colId xmlns:a16="http://schemas.microsoft.com/office/drawing/2014/main" val="3072099247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2660851657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4051570774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841299941"/>
                    </a:ext>
                  </a:extLst>
                </a:gridCol>
                <a:gridCol w="78858">
                  <a:extLst>
                    <a:ext uri="{9D8B030D-6E8A-4147-A177-3AD203B41FA5}">
                      <a16:colId xmlns:a16="http://schemas.microsoft.com/office/drawing/2014/main" val="2697608583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2261431747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2738975599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54138011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3602541442"/>
                    </a:ext>
                  </a:extLst>
                </a:gridCol>
              </a:tblGrid>
              <a:tr h="211476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Metro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83593485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05454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Metro</a:t>
                      </a:r>
                    </a:p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Zone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Metro Play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8629493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159240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2367054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705827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8681097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0357925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5990450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885689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142577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9782762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6073934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0527355"/>
                  </a:ext>
                </a:extLst>
              </a:tr>
              <a:tr h="167470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CM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24319942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40C4F1A5-A1DB-7920-77D9-479A7F2F28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3695823"/>
              </p:ext>
            </p:extLst>
          </p:nvPr>
        </p:nvGraphicFramePr>
        <p:xfrm>
          <a:off x="10014885" y="3796575"/>
          <a:ext cx="1103709" cy="1855904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103709">
                  <a:extLst>
                    <a:ext uri="{9D8B030D-6E8A-4147-A177-3AD203B41FA5}">
                      <a16:colId xmlns:a16="http://schemas.microsoft.com/office/drawing/2014/main" val="4283747700"/>
                    </a:ext>
                  </a:extLst>
                </a:gridCol>
              </a:tblGrid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App Tray</a:t>
                      </a:r>
                    </a:p>
                    <a:p>
                      <a:pPr algn="ctr"/>
                      <a:r>
                        <a:rPr lang="en-US" sz="800" dirty="0"/>
                        <a:t>Based on placement order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214296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Ad-It-Up (AS)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5456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TikTok (AS)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7691460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Facebook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25063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Instagram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905200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WhatsApp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207076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75790072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6A4DEF40-9FAA-488A-8DC3-B93DDD0D686A}"/>
              </a:ext>
            </a:extLst>
          </p:cNvPr>
          <p:cNvSpPr txBox="1"/>
          <p:nvPr/>
        </p:nvSpPr>
        <p:spPr>
          <a:xfrm>
            <a:off x="372382" y="2776301"/>
            <a:ext cx="6829930" cy="523220"/>
          </a:xfrm>
          <a:prstGeom prst="rect">
            <a:avLst/>
          </a:prstGeom>
          <a:noFill/>
          <a:ln w="28575">
            <a:solidFill>
              <a:srgbClr val="7030A0"/>
            </a:solidFill>
          </a:ln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rgbClr val="7030A0"/>
                </a:solidFill>
              </a:rPr>
              <a:t>TABLET - METRO 5X5 SCREEN SIZE TEMPLATE</a:t>
            </a:r>
          </a:p>
        </p:txBody>
      </p:sp>
    </p:spTree>
    <p:extLst>
      <p:ext uri="{BB962C8B-B14F-4D97-AF65-F5344CB8AC3E}">
        <p14:creationId xmlns:p14="http://schemas.microsoft.com/office/powerpoint/2010/main" val="2040614063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B3021D-3927-EF50-4AD1-FC5EA1AE74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EE8E4AF9-4F0D-12D2-3E60-5AA85635092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4484" y="31799"/>
            <a:ext cx="10750998" cy="947750"/>
          </a:xfrm>
        </p:spPr>
        <p:txBody>
          <a:bodyPr>
            <a:normAutofit/>
          </a:bodyPr>
          <a:lstStyle/>
          <a:p>
            <a:r>
              <a:rPr lang="en-US" sz="3200" dirty="0">
                <a:solidFill>
                  <a:srgbClr val="7030A0"/>
                </a:solidFill>
              </a:rPr>
              <a:t>Metro Brand 5x5 (Lock +Unlock)</a:t>
            </a:r>
          </a:p>
        </p:txBody>
      </p:sp>
      <p:pic>
        <p:nvPicPr>
          <p:cNvPr id="243" name="Picture 242">
            <a:extLst>
              <a:ext uri="{FF2B5EF4-FFF2-40B4-BE49-F238E27FC236}">
                <a16:creationId xmlns:a16="http://schemas.microsoft.com/office/drawing/2014/main" id="{FE294941-2FF4-3968-94B6-D9E04B69BB4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440811" y="31799"/>
            <a:ext cx="2163469" cy="652204"/>
          </a:xfrm>
          <a:prstGeom prst="rect">
            <a:avLst/>
          </a:prstGeom>
        </p:spPr>
      </p:pic>
      <p:sp>
        <p:nvSpPr>
          <p:cNvPr id="20" name="TextBox 11">
            <a:extLst>
              <a:ext uri="{FF2B5EF4-FFF2-40B4-BE49-F238E27FC236}">
                <a16:creationId xmlns:a16="http://schemas.microsoft.com/office/drawing/2014/main" id="{FAE5DAE1-E678-6EE2-6A95-EB4B5AB8702C}"/>
              </a:ext>
            </a:extLst>
          </p:cNvPr>
          <p:cNvSpPr txBox="1"/>
          <p:nvPr/>
        </p:nvSpPr>
        <p:spPr>
          <a:xfrm>
            <a:off x="864286" y="11823712"/>
            <a:ext cx="1463073" cy="272348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/>
              <a:t>Google Discover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33B55B06-E1A0-ECC2-96AE-8E9AE6CA5B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2824990"/>
              </p:ext>
            </p:extLst>
          </p:nvPr>
        </p:nvGraphicFramePr>
        <p:xfrm>
          <a:off x="460753" y="666025"/>
          <a:ext cx="4285417" cy="4537282"/>
        </p:xfrm>
        <a:graphic>
          <a:graphicData uri="http://schemas.openxmlformats.org/drawingml/2006/table">
            <a:tbl>
              <a:tblPr/>
              <a:tblGrid>
                <a:gridCol w="323199">
                  <a:extLst>
                    <a:ext uri="{9D8B030D-6E8A-4147-A177-3AD203B41FA5}">
                      <a16:colId xmlns:a16="http://schemas.microsoft.com/office/drawing/2014/main" val="122851149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38574171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1034406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765835962"/>
                    </a:ext>
                  </a:extLst>
                </a:gridCol>
                <a:gridCol w="227994">
                  <a:extLst>
                    <a:ext uri="{9D8B030D-6E8A-4147-A177-3AD203B41FA5}">
                      <a16:colId xmlns:a16="http://schemas.microsoft.com/office/drawing/2014/main" val="3032794130"/>
                    </a:ext>
                  </a:extLst>
                </a:gridCol>
                <a:gridCol w="276517">
                  <a:extLst>
                    <a:ext uri="{9D8B030D-6E8A-4147-A177-3AD203B41FA5}">
                      <a16:colId xmlns:a16="http://schemas.microsoft.com/office/drawing/2014/main" val="541524318"/>
                    </a:ext>
                  </a:extLst>
                </a:gridCol>
                <a:gridCol w="243662">
                  <a:extLst>
                    <a:ext uri="{9D8B030D-6E8A-4147-A177-3AD203B41FA5}">
                      <a16:colId xmlns:a16="http://schemas.microsoft.com/office/drawing/2014/main" val="147404175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87507260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136874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18794909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42879882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2678500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5382073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72920100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415853704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86910272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558557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255814577"/>
                    </a:ext>
                  </a:extLst>
                </a:gridCol>
                <a:gridCol w="323199">
                  <a:extLst>
                    <a:ext uri="{9D8B030D-6E8A-4147-A177-3AD203B41FA5}">
                      <a16:colId xmlns:a16="http://schemas.microsoft.com/office/drawing/2014/main" val="650234665"/>
                    </a:ext>
                  </a:extLst>
                </a:gridCol>
              </a:tblGrid>
              <a:tr h="205879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Lock Screen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0995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704942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6546747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1761008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238531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8044488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gridSpan="15">
                  <a:txBody>
                    <a:bodyPr/>
                    <a:lstStyle/>
                    <a:p>
                      <a:pPr algn="ctr" fontAlgn="ctr"/>
                      <a:r>
                        <a:rPr lang="en-US" sz="20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Metro Play</a:t>
                      </a:r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4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9239566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7918914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8934769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496596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2743560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6333289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9844401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28475292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3377790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5461106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8258329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6355017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6054402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746340574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2335085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9395224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428589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3035375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6969364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6587648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0832905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4509624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7078814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58620133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1655012"/>
                  </a:ext>
                </a:extLst>
              </a:tr>
              <a:tr h="13485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242736861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3E2DDEAA-5D93-F096-C36D-59BBA30473BD}"/>
              </a:ext>
            </a:extLst>
          </p:cNvPr>
          <p:cNvGraphicFramePr>
            <a:graphicFrameLocks noGrp="1"/>
          </p:cNvGraphicFramePr>
          <p:nvPr/>
        </p:nvGraphicFramePr>
        <p:xfrm>
          <a:off x="5358006" y="684003"/>
          <a:ext cx="4285417" cy="4537282"/>
        </p:xfrm>
        <a:graphic>
          <a:graphicData uri="http://schemas.openxmlformats.org/drawingml/2006/table">
            <a:tbl>
              <a:tblPr/>
              <a:tblGrid>
                <a:gridCol w="323199">
                  <a:extLst>
                    <a:ext uri="{9D8B030D-6E8A-4147-A177-3AD203B41FA5}">
                      <a16:colId xmlns:a16="http://schemas.microsoft.com/office/drawing/2014/main" val="122851149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38574171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1034406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765835962"/>
                    </a:ext>
                  </a:extLst>
                </a:gridCol>
                <a:gridCol w="227994">
                  <a:extLst>
                    <a:ext uri="{9D8B030D-6E8A-4147-A177-3AD203B41FA5}">
                      <a16:colId xmlns:a16="http://schemas.microsoft.com/office/drawing/2014/main" val="3032794130"/>
                    </a:ext>
                  </a:extLst>
                </a:gridCol>
                <a:gridCol w="276517">
                  <a:extLst>
                    <a:ext uri="{9D8B030D-6E8A-4147-A177-3AD203B41FA5}">
                      <a16:colId xmlns:a16="http://schemas.microsoft.com/office/drawing/2014/main" val="541524318"/>
                    </a:ext>
                  </a:extLst>
                </a:gridCol>
                <a:gridCol w="243662">
                  <a:extLst>
                    <a:ext uri="{9D8B030D-6E8A-4147-A177-3AD203B41FA5}">
                      <a16:colId xmlns:a16="http://schemas.microsoft.com/office/drawing/2014/main" val="147404175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187507260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1368749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187949098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428798827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26785004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253820735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72920100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415853704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86910272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375585570"/>
                    </a:ext>
                  </a:extLst>
                </a:gridCol>
                <a:gridCol w="206489">
                  <a:extLst>
                    <a:ext uri="{9D8B030D-6E8A-4147-A177-3AD203B41FA5}">
                      <a16:colId xmlns:a16="http://schemas.microsoft.com/office/drawing/2014/main" val="2255814577"/>
                    </a:ext>
                  </a:extLst>
                </a:gridCol>
                <a:gridCol w="323199">
                  <a:extLst>
                    <a:ext uri="{9D8B030D-6E8A-4147-A177-3AD203B41FA5}">
                      <a16:colId xmlns:a16="http://schemas.microsoft.com/office/drawing/2014/main" val="650234665"/>
                    </a:ext>
                  </a:extLst>
                </a:gridCol>
              </a:tblGrid>
              <a:tr h="205879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17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Unlock Screen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0995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704942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gridSpan="15">
                  <a:txBody>
                    <a:bodyPr/>
                    <a:lstStyle/>
                    <a:p>
                      <a:pPr algn="ctr" fontAlgn="ctr"/>
                      <a:r>
                        <a:rPr lang="en-US" sz="20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MetroZone</a:t>
                      </a:r>
                      <a:endParaRPr lang="en-US" sz="2000" b="0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8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8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6546747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1761008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2385310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8044488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9239566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7918914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8934769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496596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2743560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6333289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9844401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28475292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33777908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54611063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8258329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6355017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6054402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746340574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2335085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9395224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4285896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3035375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6969364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658764831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08329055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45096240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70788147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15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586201339"/>
                  </a:ext>
                </a:extLst>
              </a:tr>
              <a:tr h="139885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81655012"/>
                  </a:ext>
                </a:extLst>
              </a:tr>
              <a:tr h="13485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24273686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83D22B8B-A82C-7886-FF15-89D4B67AA0FD}"/>
              </a:ext>
            </a:extLst>
          </p:cNvPr>
          <p:cNvSpPr txBox="1"/>
          <p:nvPr/>
        </p:nvSpPr>
        <p:spPr>
          <a:xfrm>
            <a:off x="606558" y="5206856"/>
            <a:ext cx="6050561" cy="646331"/>
          </a:xfrm>
          <a:prstGeom prst="rect">
            <a:avLst/>
          </a:prstGeom>
          <a:noFill/>
        </p:spPr>
        <p:txBody>
          <a:bodyPr wrap="square" lIns="91440" tIns="45720" rIns="91440" bIns="45720" anchor="t">
            <a:spAutoFit/>
          </a:bodyPr>
          <a:lstStyle/>
          <a:p>
            <a:pPr fontAlgn="b"/>
            <a:r>
              <a:rPr lang="en-US" sz="1200" b="1" i="0" u="none" strike="noStrike" dirty="0">
                <a:solidFill>
                  <a:srgbClr val="000000"/>
                </a:solidFill>
                <a:effectLst/>
                <a:latin typeface="Calibri"/>
                <a:ea typeface="Calibri"/>
                <a:cs typeface="Calibri"/>
              </a:rPr>
              <a:t>OEM Instructions: </a:t>
            </a:r>
            <a:r>
              <a:rPr lang="en-US" sz="1200" b="1" i="0" u="sng" strike="noStrike" dirty="0">
                <a:solidFill>
                  <a:srgbClr val="4472C4"/>
                </a:solidFill>
                <a:effectLst/>
                <a:latin typeface="Calibri"/>
                <a:ea typeface="Calibri"/>
                <a:cs typeface="Calibri"/>
              </a:rPr>
              <a:t> </a:t>
            </a:r>
            <a:br>
              <a:rPr lang="en-US" sz="1200" b="0" i="0" u="none" strike="noStrike" dirty="0"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/>
                <a:ea typeface="Calibri"/>
                <a:cs typeface="Calibri"/>
              </a:rPr>
              <a:t>Please provid</a:t>
            </a:r>
            <a:r>
              <a:rPr lang="en-US" sz="1200" dirty="0">
                <a:solidFill>
                  <a:srgbClr val="000000"/>
                </a:solidFill>
                <a:latin typeface="Calibri"/>
                <a:ea typeface="Calibri"/>
                <a:cs typeface="Calibri"/>
              </a:rPr>
              <a:t>e the mapping or the device’s Lock and Unlock screen. Please feel free to </a:t>
            </a:r>
            <a:r>
              <a:rPr lang="en-US" sz="1200">
                <a:solidFill>
                  <a:srgbClr val="000000"/>
                </a:solidFill>
                <a:latin typeface="Calibri"/>
                <a:ea typeface="Calibri"/>
                <a:cs typeface="Calibri"/>
              </a:rPr>
              <a:t>populate the screens as you would with any other device screen. </a:t>
            </a:r>
            <a:endParaRPr lang="en-US" sz="1200" b="0" i="0" u="none" strike="noStrike">
              <a:solidFill>
                <a:srgbClr val="000000"/>
              </a:solidFill>
              <a:effectLst/>
              <a:latin typeface="Calibri" panose="020F0502020204030204" pitchFamily="34" charset="0"/>
              <a:ea typeface="Calibri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13697026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B4DFBEA-C9E3-485D-B4A5-063CDD28548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4484" y="31799"/>
            <a:ext cx="10750998" cy="947750"/>
          </a:xfrm>
        </p:spPr>
        <p:txBody>
          <a:bodyPr>
            <a:normAutofit/>
          </a:bodyPr>
          <a:lstStyle/>
          <a:p>
            <a:r>
              <a:rPr lang="en-US" sz="3200" dirty="0">
                <a:solidFill>
                  <a:srgbClr val="7030A0"/>
                </a:solidFill>
              </a:rPr>
              <a:t>TABLET - Metro Brand 5x5 (Homescreen + Panel Layout)</a:t>
            </a:r>
          </a:p>
        </p:txBody>
      </p:sp>
      <p:cxnSp>
        <p:nvCxnSpPr>
          <p:cNvPr id="221" name="Connector: Elbow 220">
            <a:extLst>
              <a:ext uri="{FF2B5EF4-FFF2-40B4-BE49-F238E27FC236}">
                <a16:creationId xmlns:a16="http://schemas.microsoft.com/office/drawing/2014/main" id="{3C3CAFFA-D35E-488C-AC17-5656F52B2BBC}"/>
              </a:ext>
            </a:extLst>
          </p:cNvPr>
          <p:cNvCxnSpPr>
            <a:cxnSpLocks/>
          </p:cNvCxnSpPr>
          <p:nvPr/>
        </p:nvCxnSpPr>
        <p:spPr>
          <a:xfrm>
            <a:off x="5848350" y="3009900"/>
            <a:ext cx="3848100" cy="1135779"/>
          </a:xfrm>
          <a:prstGeom prst="bentConnector3">
            <a:avLst>
              <a:gd name="adj1" fmla="val 6601"/>
            </a:avLst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30" name="Table 229">
            <a:extLst>
              <a:ext uri="{FF2B5EF4-FFF2-40B4-BE49-F238E27FC236}">
                <a16:creationId xmlns:a16="http://schemas.microsoft.com/office/drawing/2014/main" id="{FD363AB1-CF80-413A-83A3-E3976F48C9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4604701"/>
              </p:ext>
            </p:extLst>
          </p:nvPr>
        </p:nvGraphicFramePr>
        <p:xfrm>
          <a:off x="242910" y="4674430"/>
          <a:ext cx="4842150" cy="1959610"/>
        </p:xfrm>
        <a:graphic>
          <a:graphicData uri="http://schemas.openxmlformats.org/drawingml/2006/table">
            <a:tbl>
              <a:tblPr/>
              <a:tblGrid>
                <a:gridCol w="193686">
                  <a:extLst>
                    <a:ext uri="{9D8B030D-6E8A-4147-A177-3AD203B41FA5}">
                      <a16:colId xmlns:a16="http://schemas.microsoft.com/office/drawing/2014/main" val="3668995254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2298855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347258237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887936937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31880910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69528032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47022183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21668264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355972019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57865640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2311707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32040150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1610574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428869703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882220615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809203488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97926968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073156503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469739955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67735331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783650352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043479574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599976022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942200419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114388392"/>
                    </a:ext>
                  </a:extLst>
                </a:gridCol>
              </a:tblGrid>
              <a:tr h="63404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90249396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759617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Calendar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Wallet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Chrome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14018275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736548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5294176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089445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Home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One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Search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8432401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834597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045608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1047355"/>
                  </a:ext>
                </a:extLst>
              </a:tr>
              <a:tr h="121273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OEM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65572867"/>
                  </a:ext>
                </a:extLst>
              </a:tr>
            </a:tbl>
          </a:graphicData>
        </a:graphic>
      </p:graphicFrame>
      <p:pic>
        <p:nvPicPr>
          <p:cNvPr id="243" name="Picture 242">
            <a:extLst>
              <a:ext uri="{FF2B5EF4-FFF2-40B4-BE49-F238E27FC236}">
                <a16:creationId xmlns:a16="http://schemas.microsoft.com/office/drawing/2014/main" id="{16DAAD4E-E7A0-4A13-90CE-032F71D27A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552162" y="731528"/>
            <a:ext cx="2163469" cy="652204"/>
          </a:xfrm>
          <a:prstGeom prst="rect">
            <a:avLst/>
          </a:prstGeom>
        </p:spPr>
      </p:pic>
      <p:sp>
        <p:nvSpPr>
          <p:cNvPr id="26" name="TextBox 25">
            <a:extLst>
              <a:ext uri="{FF2B5EF4-FFF2-40B4-BE49-F238E27FC236}">
                <a16:creationId xmlns:a16="http://schemas.microsoft.com/office/drawing/2014/main" id="{C8FA1BD2-DDD1-4D14-8F05-8F54C9242F34}"/>
              </a:ext>
            </a:extLst>
          </p:cNvPr>
          <p:cNvSpPr txBox="1"/>
          <p:nvPr/>
        </p:nvSpPr>
        <p:spPr>
          <a:xfrm>
            <a:off x="5317243" y="4702543"/>
            <a:ext cx="6050561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fontAlgn="b"/>
            <a:r>
              <a:rPr lang="en-US" sz="1200" b="1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Customization Files may be found here: 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1" i="0" u="sng" strike="noStrike" dirty="0">
                <a:solidFill>
                  <a:srgbClr val="4472C4"/>
                </a:solidFill>
                <a:effectLst/>
                <a:latin typeface="Calibri" panose="020F0502020204030204" pitchFamily="34" charset="0"/>
                <a:hlinkClick r:id="rId3"/>
              </a:rPr>
              <a:t>https://tmap.t-mobile.com/portals/ayibw7iw/OEMToolkit</a:t>
            </a:r>
            <a:r>
              <a:rPr lang="en-US" sz="1200" b="1" i="0" u="sng" strike="noStrike" dirty="0">
                <a:solidFill>
                  <a:srgbClr val="4472C4"/>
                </a:solidFill>
                <a:effectLst/>
                <a:latin typeface="Calibri" panose="020F0502020204030204" pitchFamily="34" charset="0"/>
              </a:rPr>
              <a:t>  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This includes brand specific: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      •Power Up / Boot File animation and mnemonic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      •T-Mobile / Metro</a:t>
            </a:r>
          </a:p>
          <a:p>
            <a:pPr algn="l" fontAlgn="b"/>
            <a:endParaRPr lang="en-US" sz="1200" b="0" i="0" u="none" strike="noStrike" dirty="0">
              <a:solidFill>
                <a:srgbClr val="000000"/>
              </a:solidFill>
              <a:effectLst/>
              <a:latin typeface="Calibri" panose="020F0502020204030204" pitchFamily="34" charset="0"/>
            </a:endParaRPr>
          </a:p>
          <a:p>
            <a:pPr algn="l" fontAlgn="b"/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NOTES: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1.  Google One application includes a Set Up Wizard that is required for Metro</a:t>
            </a:r>
            <a:b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</a:br>
            <a:endParaRPr lang="en-US" sz="1200" b="0" i="0" u="none" strike="noStrike" dirty="0">
              <a:solidFill>
                <a:srgbClr val="000000"/>
              </a:solidFill>
              <a:effectLst/>
              <a:latin typeface="Calibri" panose="020F0502020204030204" pitchFamily="34" charset="0"/>
            </a:endParaRPr>
          </a:p>
        </p:txBody>
      </p:sp>
      <p:cxnSp>
        <p:nvCxnSpPr>
          <p:cNvPr id="239" name="Connector: Elbow 238">
            <a:extLst>
              <a:ext uri="{FF2B5EF4-FFF2-40B4-BE49-F238E27FC236}">
                <a16:creationId xmlns:a16="http://schemas.microsoft.com/office/drawing/2014/main" id="{7E592D28-9836-4A22-9374-6878C0E2F011}"/>
              </a:ext>
            </a:extLst>
          </p:cNvPr>
          <p:cNvCxnSpPr>
            <a:cxnSpLocks/>
          </p:cNvCxnSpPr>
          <p:nvPr/>
        </p:nvCxnSpPr>
        <p:spPr>
          <a:xfrm rot="5400000">
            <a:off x="2672822" y="3640646"/>
            <a:ext cx="1515895" cy="593362"/>
          </a:xfrm>
          <a:prstGeom prst="bentConnector3">
            <a:avLst>
              <a:gd name="adj1" fmla="val 11043"/>
            </a:avLst>
          </a:prstGeom>
          <a:ln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DCF2A25D-557F-4894-9101-4520B6E33F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3491054"/>
              </p:ext>
            </p:extLst>
          </p:nvPr>
        </p:nvGraphicFramePr>
        <p:xfrm>
          <a:off x="177794" y="835869"/>
          <a:ext cx="8914294" cy="3055335"/>
        </p:xfrm>
        <a:graphic>
          <a:graphicData uri="http://schemas.openxmlformats.org/drawingml/2006/table">
            <a:tbl>
              <a:tblPr/>
              <a:tblGrid>
                <a:gridCol w="201454">
                  <a:extLst>
                    <a:ext uri="{9D8B030D-6E8A-4147-A177-3AD203B41FA5}">
                      <a16:colId xmlns:a16="http://schemas.microsoft.com/office/drawing/2014/main" val="1133854633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1734716939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45099823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2856834263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4286138508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2058635373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3824047669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1278636466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3462476166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3332105248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2764172142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388956839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929969237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1803271187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3255745201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1012204659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3476965807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1327329052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626224947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2651540614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356642004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2459011960"/>
                    </a:ext>
                  </a:extLst>
                </a:gridCol>
                <a:gridCol w="201454">
                  <a:extLst>
                    <a:ext uri="{9D8B030D-6E8A-4147-A177-3AD203B41FA5}">
                      <a16:colId xmlns:a16="http://schemas.microsoft.com/office/drawing/2014/main" val="3564025633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2654154767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2400933130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3314085731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687373205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267597882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2283625968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526522617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2291649311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1410295529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1288987878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2652225385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1221039723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1175665645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2812613984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2572261995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584953892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3940024468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1938316436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1171047004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2236271763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1851067466"/>
                    </a:ext>
                  </a:extLst>
                </a:gridCol>
                <a:gridCol w="201454">
                  <a:extLst>
                    <a:ext uri="{9D8B030D-6E8A-4147-A177-3AD203B41FA5}">
                      <a16:colId xmlns:a16="http://schemas.microsoft.com/office/drawing/2014/main" val="2536674431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2500196286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673130760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4079041696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1115145016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3281515385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688872972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3589884804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3118589577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3940907637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4061784306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1918867882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55835358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472355851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872234475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980881438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602831721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1561174021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1577304967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1513996041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2304373527"/>
                    </a:ext>
                  </a:extLst>
                </a:gridCol>
                <a:gridCol w="128706">
                  <a:extLst>
                    <a:ext uri="{9D8B030D-6E8A-4147-A177-3AD203B41FA5}">
                      <a16:colId xmlns:a16="http://schemas.microsoft.com/office/drawing/2014/main" val="3443785611"/>
                    </a:ext>
                  </a:extLst>
                </a:gridCol>
                <a:gridCol w="201454">
                  <a:extLst>
                    <a:ext uri="{9D8B030D-6E8A-4147-A177-3AD203B41FA5}">
                      <a16:colId xmlns:a16="http://schemas.microsoft.com/office/drawing/2014/main" val="3094756698"/>
                    </a:ext>
                  </a:extLst>
                </a:gridCol>
              </a:tblGrid>
              <a:tr h="129213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1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1L - Minus One Screen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1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Home- Screen 0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1"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1R - PLUS ONE SCREEN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9302834"/>
                  </a:ext>
                </a:extLst>
              </a:tr>
              <a:tr h="11207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12228243"/>
                  </a:ext>
                </a:extLst>
              </a:tr>
              <a:tr h="11207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24" gridSpan="19">
                  <a:txBody>
                    <a:bodyPr/>
                    <a:lstStyle/>
                    <a:p>
                      <a:pPr algn="ctr" fontAlgn="ctr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Assistant (-1 Minus One) page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4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326091"/>
                  </a:ext>
                </a:extLst>
              </a:tr>
              <a:tr h="11207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27579002"/>
                  </a:ext>
                </a:extLst>
              </a:tr>
              <a:tr h="11207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3101928"/>
                  </a:ext>
                </a:extLst>
              </a:tr>
              <a:tr h="11207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8739651"/>
                  </a:ext>
                </a:extLst>
              </a:tr>
              <a:tr h="11207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3707088"/>
                  </a:ext>
                </a:extLst>
              </a:tr>
              <a:tr h="11207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423834"/>
                  </a:ext>
                </a:extLst>
              </a:tr>
              <a:tr h="11207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3807971"/>
                  </a:ext>
                </a:extLst>
              </a:tr>
              <a:tr h="11207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0291357"/>
                  </a:ext>
                </a:extLst>
              </a:tr>
              <a:tr h="11207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19"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Search (5x1)</a:t>
                      </a:r>
                    </a:p>
                  </a:txBody>
                  <a:tcPr marL="4173" marR="4173" marT="417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8867274"/>
                  </a:ext>
                </a:extLst>
              </a:tr>
              <a:tr h="11207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759700"/>
                  </a:ext>
                </a:extLst>
              </a:tr>
              <a:tr h="11207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6482747"/>
                  </a:ext>
                </a:extLst>
              </a:tr>
              <a:tr h="11207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78258420"/>
                  </a:ext>
                </a:extLst>
              </a:tr>
              <a:tr h="11207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38994235"/>
                  </a:ext>
                </a:extLst>
              </a:tr>
              <a:tr h="11207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3226789"/>
                  </a:ext>
                </a:extLst>
              </a:tr>
              <a:tr h="11207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2281269"/>
                  </a:ext>
                </a:extLst>
              </a:tr>
              <a:tr h="11207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6470985"/>
                  </a:ext>
                </a:extLst>
              </a:tr>
              <a:tr h="11207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FOLDER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PLAYSTORE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ASSIST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472C4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PHOTOS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METRO FOLDER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TikTok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Ad It Up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4390908"/>
                  </a:ext>
                </a:extLst>
              </a:tr>
              <a:tr h="11207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3200586"/>
                  </a:ext>
                </a:extLst>
              </a:tr>
              <a:tr h="11207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7185005"/>
                  </a:ext>
                </a:extLst>
              </a:tr>
              <a:tr h="11207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74578443"/>
                  </a:ext>
                </a:extLst>
              </a:tr>
              <a:tr h="11207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9496506"/>
                  </a:ext>
                </a:extLst>
              </a:tr>
              <a:tr h="11207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Phone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Messages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Contacts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Chrome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Phone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Messages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Contacts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Camera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Chrome</a:t>
                      </a:r>
                    </a:p>
                  </a:txBody>
                  <a:tcPr marL="4173" marR="4173" marT="417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5708833"/>
                  </a:ext>
                </a:extLst>
              </a:tr>
              <a:tr h="11207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29696"/>
                  </a:ext>
                </a:extLst>
              </a:tr>
              <a:tr h="11207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19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82017390"/>
                  </a:ext>
                </a:extLst>
              </a:tr>
              <a:tr h="112077"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73" marR="4173" marT="4173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4173" marR="4173" marT="4173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072766"/>
                  </a:ext>
                </a:extLst>
              </a:tr>
            </a:tbl>
          </a:graphicData>
        </a:graphic>
      </p:graphicFrame>
      <p:sp>
        <p:nvSpPr>
          <p:cNvPr id="10" name="Rectangle 9">
            <a:extLst>
              <a:ext uri="{FF2B5EF4-FFF2-40B4-BE49-F238E27FC236}">
                <a16:creationId xmlns:a16="http://schemas.microsoft.com/office/drawing/2014/main" id="{AA76A6CC-C593-41BB-8CEA-8C087FDB5482}"/>
              </a:ext>
            </a:extLst>
          </p:cNvPr>
          <p:cNvSpPr/>
          <p:nvPr/>
        </p:nvSpPr>
        <p:spPr>
          <a:xfrm>
            <a:off x="6276622" y="1038256"/>
            <a:ext cx="2517422" cy="440518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spc="300" dirty="0" err="1">
                <a:solidFill>
                  <a:schemeClr val="tx1"/>
                </a:solidFill>
                <a:ea typeface="linea-basic-10" charset="0"/>
                <a:cs typeface="linea-basic-10" charset="0"/>
              </a:rPr>
              <a:t>MetroZone</a:t>
            </a:r>
            <a:endParaRPr lang="en-US" sz="2000" spc="300" dirty="0">
              <a:solidFill>
                <a:schemeClr val="tx1"/>
              </a:solidFill>
              <a:ea typeface="linea-basic-10" charset="0"/>
              <a:cs typeface="linea-basic-10" charset="0"/>
            </a:endParaRPr>
          </a:p>
        </p:txBody>
      </p:sp>
      <p:sp>
        <p:nvSpPr>
          <p:cNvPr id="11" name="TextBox 4">
            <a:extLst>
              <a:ext uri="{FF2B5EF4-FFF2-40B4-BE49-F238E27FC236}">
                <a16:creationId xmlns:a16="http://schemas.microsoft.com/office/drawing/2014/main" id="{52E7A34F-90E2-459E-8A10-648861F75FC6}"/>
              </a:ext>
            </a:extLst>
          </p:cNvPr>
          <p:cNvSpPr txBox="1"/>
          <p:nvPr/>
        </p:nvSpPr>
        <p:spPr>
          <a:xfrm>
            <a:off x="577969" y="1123174"/>
            <a:ext cx="1160520" cy="355600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100" dirty="0"/>
              <a:t>Google Discover</a:t>
            </a:r>
          </a:p>
        </p:txBody>
      </p:sp>
      <p:sp>
        <p:nvSpPr>
          <p:cNvPr id="12" name="TextBox 4">
            <a:extLst>
              <a:ext uri="{FF2B5EF4-FFF2-40B4-BE49-F238E27FC236}">
                <a16:creationId xmlns:a16="http://schemas.microsoft.com/office/drawing/2014/main" id="{9718277F-B63C-4CD6-9FE3-43E339A524CD}"/>
              </a:ext>
            </a:extLst>
          </p:cNvPr>
          <p:cNvSpPr txBox="1"/>
          <p:nvPr/>
        </p:nvSpPr>
        <p:spPr>
          <a:xfrm>
            <a:off x="1851799" y="1123174"/>
            <a:ext cx="1049444" cy="355600"/>
          </a:xfrm>
          <a:prstGeom prst="rect">
            <a:avLst/>
          </a:prstGeom>
          <a:solidFill>
            <a:schemeClr val="lt1"/>
          </a:solidFill>
          <a:ln w="9525" cmpd="sng">
            <a:solidFill>
              <a:schemeClr val="lt1">
                <a:shade val="50000"/>
              </a:schemeClr>
            </a:solidFill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1200" dirty="0"/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06449715-2556-C7B1-DF8B-B2204AA660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3143323"/>
              </p:ext>
            </p:extLst>
          </p:nvPr>
        </p:nvGraphicFramePr>
        <p:xfrm>
          <a:off x="9696450" y="1536413"/>
          <a:ext cx="1728018" cy="2655570"/>
        </p:xfrm>
        <a:graphic>
          <a:graphicData uri="http://schemas.openxmlformats.org/drawingml/2006/table">
            <a:tbl>
              <a:tblPr/>
              <a:tblGrid>
                <a:gridCol w="206145">
                  <a:extLst>
                    <a:ext uri="{9D8B030D-6E8A-4147-A177-3AD203B41FA5}">
                      <a16:colId xmlns:a16="http://schemas.microsoft.com/office/drawing/2014/main" val="3072099247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2660851657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4051570774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841299941"/>
                    </a:ext>
                  </a:extLst>
                </a:gridCol>
                <a:gridCol w="78858">
                  <a:extLst>
                    <a:ext uri="{9D8B030D-6E8A-4147-A177-3AD203B41FA5}">
                      <a16:colId xmlns:a16="http://schemas.microsoft.com/office/drawing/2014/main" val="2697608583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2261431747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2738975599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54138011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3602541442"/>
                    </a:ext>
                  </a:extLst>
                </a:gridCol>
              </a:tblGrid>
              <a:tr h="211476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Metro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83593485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05454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Metro</a:t>
                      </a:r>
                    </a:p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Zone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Metro Play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8629493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159240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2367054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705827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8681097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0357925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5990450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885689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142577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9782762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6073934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0527355"/>
                  </a:ext>
                </a:extLst>
              </a:tr>
              <a:tr h="167470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CM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24319942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AC431627-B82F-F3FD-8D0B-94E02AC4D71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9002329"/>
              </p:ext>
            </p:extLst>
          </p:nvPr>
        </p:nvGraphicFramePr>
        <p:xfrm>
          <a:off x="10482160" y="4199093"/>
          <a:ext cx="1669767" cy="17863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69767">
                  <a:extLst>
                    <a:ext uri="{9D8B030D-6E8A-4147-A177-3AD203B41FA5}">
                      <a16:colId xmlns:a16="http://schemas.microsoft.com/office/drawing/2014/main" val="4009581341"/>
                    </a:ext>
                  </a:extLst>
                </a:gridCol>
              </a:tblGrid>
              <a:tr h="321267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Plus – One Applications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05086144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Ad-It-Up (AS)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58167358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TikTok (AS)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80852661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Facebook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3738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Instagram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47147261"/>
                  </a:ext>
                </a:extLst>
              </a:tr>
              <a:tr h="293021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WhatsApp (CM)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391968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89749629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B4DFBEA-C9E3-485D-B4A5-063CDD28548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4484" y="31799"/>
            <a:ext cx="10750998" cy="947750"/>
          </a:xfrm>
        </p:spPr>
        <p:txBody>
          <a:bodyPr>
            <a:normAutofit/>
          </a:bodyPr>
          <a:lstStyle/>
          <a:p>
            <a:r>
              <a:rPr lang="en-US" sz="3200" dirty="0">
                <a:solidFill>
                  <a:srgbClr val="7030A0"/>
                </a:solidFill>
              </a:rPr>
              <a:t>TABLET - Metro Brand 5x5 (APP TRAY)</a:t>
            </a:r>
          </a:p>
        </p:txBody>
      </p:sp>
      <p:pic>
        <p:nvPicPr>
          <p:cNvPr id="243" name="Picture 242">
            <a:extLst>
              <a:ext uri="{FF2B5EF4-FFF2-40B4-BE49-F238E27FC236}">
                <a16:creationId xmlns:a16="http://schemas.microsoft.com/office/drawing/2014/main" id="{16DAAD4E-E7A0-4A13-90CE-032F71D27A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652013" y="52139"/>
            <a:ext cx="2163469" cy="652204"/>
          </a:xfrm>
          <a:prstGeom prst="rect">
            <a:avLst/>
          </a:prstGeom>
        </p:spPr>
      </p:pic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084BD0EE-3F05-478F-935E-D48024FC8E7E}"/>
              </a:ext>
            </a:extLst>
          </p:cNvPr>
          <p:cNvGraphicFramePr>
            <a:graphicFrameLocks noGrp="1"/>
          </p:cNvGraphicFramePr>
          <p:nvPr/>
        </p:nvGraphicFramePr>
        <p:xfrm>
          <a:off x="7258353" y="4066156"/>
          <a:ext cx="1298732" cy="2159016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298732">
                  <a:extLst>
                    <a:ext uri="{9D8B030D-6E8A-4147-A177-3AD203B41FA5}">
                      <a16:colId xmlns:a16="http://schemas.microsoft.com/office/drawing/2014/main" val="4283747700"/>
                    </a:ext>
                  </a:extLst>
                </a:gridCol>
              </a:tblGrid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OEM FOLDER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214296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5456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2397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7691460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25063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905200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2070764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6544440"/>
                  </a:ext>
                </a:extLst>
              </a:tr>
            </a:tbl>
          </a:graphicData>
        </a:graphic>
      </p:graphicFrame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D82C608A-E4A4-4FE4-83C8-D28C151694F4}"/>
              </a:ext>
            </a:extLst>
          </p:cNvPr>
          <p:cNvGraphicFramePr>
            <a:graphicFrameLocks noGrp="1"/>
          </p:cNvGraphicFramePr>
          <p:nvPr/>
        </p:nvGraphicFramePr>
        <p:xfrm>
          <a:off x="8652013" y="4066156"/>
          <a:ext cx="1223344" cy="2159016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223344">
                  <a:extLst>
                    <a:ext uri="{9D8B030D-6E8A-4147-A177-3AD203B41FA5}">
                      <a16:colId xmlns:a16="http://schemas.microsoft.com/office/drawing/2014/main" val="4283747700"/>
                    </a:ext>
                  </a:extLst>
                </a:gridCol>
              </a:tblGrid>
              <a:tr h="273476">
                <a:tc>
                  <a:txBody>
                    <a:bodyPr/>
                    <a:lstStyle/>
                    <a:p>
                      <a:r>
                        <a:rPr lang="en-US" sz="1100" dirty="0"/>
                        <a:t> OTHER FOLDER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214296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5456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2397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7691460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25063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905200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2070764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endParaRPr lang="en-US" sz="1100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6544440"/>
                  </a:ext>
                </a:extLst>
              </a:tr>
            </a:tbl>
          </a:graphicData>
        </a:graphic>
      </p:graphicFrame>
      <p:graphicFrame>
        <p:nvGraphicFramePr>
          <p:cNvPr id="18" name="Table 17">
            <a:extLst>
              <a:ext uri="{FF2B5EF4-FFF2-40B4-BE49-F238E27FC236}">
                <a16:creationId xmlns:a16="http://schemas.microsoft.com/office/drawing/2014/main" id="{365C2058-AF86-4C1C-B095-AD6AFDE77C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8502339"/>
              </p:ext>
            </p:extLst>
          </p:nvPr>
        </p:nvGraphicFramePr>
        <p:xfrm>
          <a:off x="344883" y="4121413"/>
          <a:ext cx="4842150" cy="1959610"/>
        </p:xfrm>
        <a:graphic>
          <a:graphicData uri="http://schemas.openxmlformats.org/drawingml/2006/table">
            <a:tbl>
              <a:tblPr/>
              <a:tblGrid>
                <a:gridCol w="193686">
                  <a:extLst>
                    <a:ext uri="{9D8B030D-6E8A-4147-A177-3AD203B41FA5}">
                      <a16:colId xmlns:a16="http://schemas.microsoft.com/office/drawing/2014/main" val="3668995254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2298855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347258237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887936937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31880910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69528032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47022183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21668264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355972019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57865640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23117071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32040150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16105740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428869703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882220615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809203488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97926968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073156503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469739955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677353316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783650352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043479574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1599976022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3942200419"/>
                    </a:ext>
                  </a:extLst>
                </a:gridCol>
                <a:gridCol w="193686">
                  <a:extLst>
                    <a:ext uri="{9D8B030D-6E8A-4147-A177-3AD203B41FA5}">
                      <a16:colId xmlns:a16="http://schemas.microsoft.com/office/drawing/2014/main" val="2114388392"/>
                    </a:ext>
                  </a:extLst>
                </a:gridCol>
              </a:tblGrid>
              <a:tr h="63404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Google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90249396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759617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Calendar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Wallet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Chrome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14018275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736548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5294176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089445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Home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One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 Search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8432401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8345979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045608"/>
                  </a:ext>
                </a:extLst>
              </a:tr>
              <a:tr h="121273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1047355"/>
                  </a:ext>
                </a:extLst>
              </a:tr>
              <a:tr h="121273">
                <a:tc gridSpan="25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OEM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65572867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5001D4F9-F3F9-42E3-BBB2-648C2B857E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1397391"/>
              </p:ext>
            </p:extLst>
          </p:nvPr>
        </p:nvGraphicFramePr>
        <p:xfrm>
          <a:off x="7258353" y="856627"/>
          <a:ext cx="4771490" cy="2856230"/>
        </p:xfrm>
        <a:graphic>
          <a:graphicData uri="http://schemas.openxmlformats.org/drawingml/2006/table">
            <a:tbl>
              <a:tblPr/>
              <a:tblGrid>
                <a:gridCol w="4771490">
                  <a:extLst>
                    <a:ext uri="{9D8B030D-6E8A-4147-A177-3AD203B41FA5}">
                      <a16:colId xmlns:a16="http://schemas.microsoft.com/office/drawing/2014/main" val="383390548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l" fontAlgn="t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For App Tray</a:t>
                      </a:r>
                      <a:b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a. </a:t>
                      </a:r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applications should be placed in </a:t>
                      </a:r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Google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folder</a:t>
                      </a:r>
                      <a:b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a. Ensure Google One is preloaded</a:t>
                      </a:r>
                      <a:b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c. OEM applications should be placed in OEM folder</a:t>
                      </a:r>
                      <a:b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a. OEM applications must be reviewed and approved prior to RC1</a:t>
                      </a:r>
                      <a:b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d. Applications okay to appear in app tray (not in folder)</a:t>
                      </a:r>
                      <a:b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Calculator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Calendar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Camera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Clock 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Contacts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Files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Android Messages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Phone</a:t>
                      </a:r>
                    </a:p>
                    <a:p>
                      <a:pPr algn="l" fontAlgn="t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   - Settings</a:t>
                      </a:r>
                    </a:p>
                    <a:p>
                      <a:pPr algn="l" fontAlgn="t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algn="l" fontAlgn="t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For Browser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 Chrome Default Homepage -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hlinkClick r:id="rId3"/>
                        </a:rPr>
                        <a:t>https://www.metropcs.mobi/en/home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6350" marR="6350" marT="635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5186180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650C1F18-D47B-4181-801C-6183EC22E1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6906500"/>
              </p:ext>
            </p:extLst>
          </p:nvPr>
        </p:nvGraphicFramePr>
        <p:xfrm>
          <a:off x="344883" y="501595"/>
          <a:ext cx="3001383" cy="3349678"/>
        </p:xfrm>
        <a:graphic>
          <a:graphicData uri="http://schemas.openxmlformats.org/drawingml/2006/table">
            <a:tbl>
              <a:tblPr/>
              <a:tblGrid>
                <a:gridCol w="142923">
                  <a:extLst>
                    <a:ext uri="{9D8B030D-6E8A-4147-A177-3AD203B41FA5}">
                      <a16:colId xmlns:a16="http://schemas.microsoft.com/office/drawing/2014/main" val="1401987744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103324338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656290085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1416441743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589189813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323550870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4051300282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967103579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813221993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881756019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3016166271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1693067541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1018201826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4223675511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3539468738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889267158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3673263527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4286578209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1489094242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504818301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4151695692"/>
                    </a:ext>
                  </a:extLst>
                </a:gridCol>
              </a:tblGrid>
              <a:tr h="171872">
                <a:tc gridSpan="21">
                  <a:txBody>
                    <a:bodyPr/>
                    <a:lstStyle/>
                    <a:p>
                      <a:pPr algn="ctr" fontAlgn="b"/>
                      <a:r>
                        <a:rPr lang="en-US" sz="12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APP TRAY 1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29719280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2224421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0859396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4470411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5912356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9378212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991750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113836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32424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41926805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0851849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147125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70994919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1561783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62807397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6675975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9894342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7030657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6038966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4760584"/>
                  </a:ext>
                </a:extLst>
              </a:tr>
              <a:tr h="130104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32354675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48334034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4712573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6E4157F6-30BA-4EF8-9E43-4768449317D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5655188"/>
              </p:ext>
            </p:extLst>
          </p:nvPr>
        </p:nvGraphicFramePr>
        <p:xfrm>
          <a:off x="4012886" y="501595"/>
          <a:ext cx="3001383" cy="3349678"/>
        </p:xfrm>
        <a:graphic>
          <a:graphicData uri="http://schemas.openxmlformats.org/drawingml/2006/table">
            <a:tbl>
              <a:tblPr/>
              <a:tblGrid>
                <a:gridCol w="142923">
                  <a:extLst>
                    <a:ext uri="{9D8B030D-6E8A-4147-A177-3AD203B41FA5}">
                      <a16:colId xmlns:a16="http://schemas.microsoft.com/office/drawing/2014/main" val="1401987744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103324338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656290085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1416441743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589189813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323550870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4051300282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967103579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813221993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881756019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3016166271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1693067541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1018201826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4223675511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3539468738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889267158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3673263527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4286578209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1489094242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2504818301"/>
                    </a:ext>
                  </a:extLst>
                </a:gridCol>
                <a:gridCol w="142923">
                  <a:extLst>
                    <a:ext uri="{9D8B030D-6E8A-4147-A177-3AD203B41FA5}">
                      <a16:colId xmlns:a16="http://schemas.microsoft.com/office/drawing/2014/main" val="4151695692"/>
                    </a:ext>
                  </a:extLst>
                </a:gridCol>
              </a:tblGrid>
              <a:tr h="171872">
                <a:tc gridSpan="21">
                  <a:txBody>
                    <a:bodyPr/>
                    <a:lstStyle/>
                    <a:p>
                      <a:pPr algn="ctr" fontAlgn="b"/>
                      <a:r>
                        <a:rPr lang="en-US" sz="12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APP TRAY 2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6262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29719280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2224421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0859396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4470411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5912356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9378212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991750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113836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32424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41926805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0851849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147125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70994919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1561783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62807397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6675975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9894342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7030657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6038966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4760584"/>
                  </a:ext>
                </a:extLst>
              </a:tr>
              <a:tr h="130104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32354675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255" marR="5255" marT="525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48334034"/>
                  </a:ext>
                </a:extLst>
              </a:tr>
              <a:tr h="143768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5255" marR="5255" marT="5255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4712573"/>
                  </a:ext>
                </a:extLst>
              </a:tr>
            </a:tbl>
          </a:graphicData>
        </a:graphic>
      </p:graphicFrame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80860593-15F5-B39C-C045-2FABF9A32E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6768990"/>
              </p:ext>
            </p:extLst>
          </p:nvPr>
        </p:nvGraphicFramePr>
        <p:xfrm>
          <a:off x="5358684" y="3960436"/>
          <a:ext cx="1728018" cy="2655570"/>
        </p:xfrm>
        <a:graphic>
          <a:graphicData uri="http://schemas.openxmlformats.org/drawingml/2006/table">
            <a:tbl>
              <a:tblPr/>
              <a:tblGrid>
                <a:gridCol w="206145">
                  <a:extLst>
                    <a:ext uri="{9D8B030D-6E8A-4147-A177-3AD203B41FA5}">
                      <a16:colId xmlns:a16="http://schemas.microsoft.com/office/drawing/2014/main" val="3072099247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2660851657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4051570774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841299941"/>
                    </a:ext>
                  </a:extLst>
                </a:gridCol>
                <a:gridCol w="78858">
                  <a:extLst>
                    <a:ext uri="{9D8B030D-6E8A-4147-A177-3AD203B41FA5}">
                      <a16:colId xmlns:a16="http://schemas.microsoft.com/office/drawing/2014/main" val="2697608583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2261431747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2738975599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54138011"/>
                    </a:ext>
                  </a:extLst>
                </a:gridCol>
                <a:gridCol w="206145">
                  <a:extLst>
                    <a:ext uri="{9D8B030D-6E8A-4147-A177-3AD203B41FA5}">
                      <a16:colId xmlns:a16="http://schemas.microsoft.com/office/drawing/2014/main" val="3602541442"/>
                    </a:ext>
                  </a:extLst>
                </a:gridCol>
              </a:tblGrid>
              <a:tr h="211476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Metro Folder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83593485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05454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Metro</a:t>
                      </a:r>
                    </a:p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Zone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Metro Play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8629493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159240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2367054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705827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8681097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0357925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5990450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885689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ctr"/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 gridSpan="3"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142577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9782762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6073934"/>
                  </a:ext>
                </a:extLst>
              </a:tr>
              <a:tr h="16747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0527355"/>
                  </a:ext>
                </a:extLst>
              </a:tr>
              <a:tr h="167470">
                <a:tc gridSpan="9">
                  <a:txBody>
                    <a:bodyPr/>
                    <a:lstStyle/>
                    <a:p>
                      <a:pPr algn="ctr" fontAlgn="b"/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Folder Created by CM</a:t>
                      </a:r>
                    </a:p>
                  </a:txBody>
                  <a:tcPr marL="6350" marR="6350" marT="6350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24319942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4A71F8A3-EA97-1D3F-E261-33674699EF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9571751"/>
              </p:ext>
            </p:extLst>
          </p:nvPr>
        </p:nvGraphicFramePr>
        <p:xfrm>
          <a:off x="10014885" y="3796575"/>
          <a:ext cx="1103709" cy="1855904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103709">
                  <a:extLst>
                    <a:ext uri="{9D8B030D-6E8A-4147-A177-3AD203B41FA5}">
                      <a16:colId xmlns:a16="http://schemas.microsoft.com/office/drawing/2014/main" val="4283747700"/>
                    </a:ext>
                  </a:extLst>
                </a:gridCol>
              </a:tblGrid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App Tray</a:t>
                      </a:r>
                    </a:p>
                    <a:p>
                      <a:pPr algn="ctr"/>
                      <a:r>
                        <a:rPr lang="en-US" sz="800" dirty="0"/>
                        <a:t>Based on placement order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214296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Ad-It-Up (AS)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5456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TikTok (AS)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7691460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Facebook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25063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Instagram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9052009"/>
                  </a:ext>
                </a:extLst>
              </a:tr>
              <a:tr h="273476">
                <a:tc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WhatsApp (CM)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207076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21588289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6A4DEF40-9FAA-488A-8DC3-B93DDD0D686A}"/>
              </a:ext>
            </a:extLst>
          </p:cNvPr>
          <p:cNvSpPr txBox="1"/>
          <p:nvPr/>
        </p:nvSpPr>
        <p:spPr>
          <a:xfrm>
            <a:off x="372381" y="2776301"/>
            <a:ext cx="7541130" cy="1384995"/>
          </a:xfrm>
          <a:prstGeom prst="rect">
            <a:avLst/>
          </a:prstGeom>
          <a:noFill/>
          <a:ln w="28575">
            <a:solidFill>
              <a:srgbClr val="00B0F0"/>
            </a:solidFill>
          </a:ln>
        </p:spPr>
        <p:txBody>
          <a:bodyPr wrap="square" rtlCol="0">
            <a:spAutoFit/>
          </a:bodyPr>
          <a:lstStyle/>
          <a:p>
            <a:r>
              <a:rPr lang="en-US" sz="2800" b="1" strike="sngStrike" dirty="0">
                <a:solidFill>
                  <a:srgbClr val="00B0F0"/>
                </a:solidFill>
              </a:rPr>
              <a:t>TABLET - ASSURANCE TEMPLATE</a:t>
            </a:r>
          </a:p>
          <a:p>
            <a:r>
              <a:rPr lang="en-US" sz="2800" b="1" dirty="0">
                <a:solidFill>
                  <a:srgbClr val="FF0000"/>
                </a:solidFill>
              </a:rPr>
              <a:t>NOTICE: ASW brand profile support for new devices terminated on 8/1/2024.</a:t>
            </a:r>
          </a:p>
        </p:txBody>
      </p:sp>
    </p:spTree>
    <p:extLst>
      <p:ext uri="{BB962C8B-B14F-4D97-AF65-F5344CB8AC3E}">
        <p14:creationId xmlns:p14="http://schemas.microsoft.com/office/powerpoint/2010/main" val="2695378709"/>
      </p:ext>
    </p:extLst>
  </p:cSld>
  <p:clrMapOvr>
    <a:masterClrMapping/>
  </p:clrMapOvr>
</p:sld>
</file>

<file path=ppt/theme/theme1.xml><?xml version="1.0" encoding="utf-8"?>
<a:theme xmlns:a="http://schemas.openxmlformats.org/drawingml/2006/main" name="4_Text-Layouts">
  <a:themeElements>
    <a:clrScheme name="Custom 3">
      <a:dk1>
        <a:srgbClr val="000000"/>
      </a:dk1>
      <a:lt1>
        <a:srgbClr val="FFFFFF"/>
      </a:lt1>
      <a:dk2>
        <a:srgbClr val="000000"/>
      </a:dk2>
      <a:lt2>
        <a:srgbClr val="E8E8E8"/>
      </a:lt2>
      <a:accent1>
        <a:srgbClr val="E20074"/>
      </a:accent1>
      <a:accent2>
        <a:srgbClr val="C8C8C8"/>
      </a:accent2>
      <a:accent3>
        <a:srgbClr val="C8C8C8"/>
      </a:accent3>
      <a:accent4>
        <a:srgbClr val="861B54"/>
      </a:accent4>
      <a:accent5>
        <a:srgbClr val="9B9B9B"/>
      </a:accent5>
      <a:accent6>
        <a:srgbClr val="3C3C3C"/>
      </a:accent6>
      <a:hlink>
        <a:srgbClr val="E20074"/>
      </a:hlink>
      <a:folHlink>
        <a:srgbClr val="97024F"/>
      </a:folHlink>
    </a:clrScheme>
    <a:fontScheme name="Custom 2">
      <a:majorFont>
        <a:latin typeface="TeleGrotesk Next Medium"/>
        <a:ea typeface=""/>
        <a:cs typeface=""/>
      </a:majorFont>
      <a:minorFont>
        <a:latin typeface="TeleGrotesk Next Medium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sz="2000" spc="300">
            <a:latin typeface="linea-basic-10" charset="0"/>
            <a:ea typeface="linea-basic-10" charset="0"/>
            <a:cs typeface="linea-basic-10" charset="0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3E1C49C73B682348902D71B103FC7417" ma:contentTypeVersion="4" ma:contentTypeDescription="Create a new document." ma:contentTypeScope="" ma:versionID="6d8fa22a55b177e716012a5c04298c87">
  <xsd:schema xmlns:xsd="http://www.w3.org/2001/XMLSchema" xmlns:xs="http://www.w3.org/2001/XMLSchema" xmlns:p="http://schemas.microsoft.com/office/2006/metadata/properties" xmlns:ns2="b018d754-82b7-4d5e-9382-9f43ea05be45" targetNamespace="http://schemas.microsoft.com/office/2006/metadata/properties" ma:root="true" ma:fieldsID="6cf349575e3bb2a550e69aa18a9e506f" ns2:_="">
    <xsd:import namespace="b018d754-82b7-4d5e-9382-9f43ea05be45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SearchProperties" minOccurs="0"/>
                <xsd:element ref="ns2:MediaServiceObjectDetectorVersion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b018d754-82b7-4d5e-9382-9f43ea05be4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0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ObjectDetectorVersions" ma:index="11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Props1.xml><?xml version="1.0" encoding="utf-8"?>
<ds:datastoreItem xmlns:ds="http://schemas.openxmlformats.org/officeDocument/2006/customXml" ds:itemID="{8CA4F40B-5066-45BD-9A14-3C8FB289BEB8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b018d754-82b7-4d5e-9382-9f43ea05be45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A97FCF48-3C19-4FEC-8297-CBC5771DA4B5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6DCE4491-A3D1-46B6-9961-050A3AD79B7A}">
  <ds:schemaRefs>
    <ds:schemaRef ds:uri="http://schemas.openxmlformats.org/package/2006/metadata/core-properties"/>
    <ds:schemaRef ds:uri="http://schemas.microsoft.com/office/2006/metadata/properties"/>
    <ds:schemaRef ds:uri="http://schemas.microsoft.com/office/2006/documentManagement/types"/>
    <ds:schemaRef ds:uri="http://purl.org/dc/dcmitype/"/>
    <ds:schemaRef ds:uri="http://purl.org/dc/elements/1.1/"/>
    <ds:schemaRef ds:uri="http://purl.org/dc/terms/"/>
    <ds:schemaRef ds:uri="b018d754-82b7-4d5e-9382-9f43ea05be45"/>
    <ds:schemaRef ds:uri="http://schemas.microsoft.com/office/infopath/2007/PartnerControls"/>
    <ds:schemaRef ds:uri="http://www.w3.org/XML/1998/namespace"/>
  </ds:schemaRefs>
</ds:datastoreItem>
</file>

<file path=docMetadata/LabelInfo.xml><?xml version="1.0" encoding="utf-8"?>
<clbl:labelList xmlns:clbl="http://schemas.microsoft.com/office/2020/mipLabelMetadata">
  <clbl:label id="{7af72c41-31f4-4d40-a6d0-808117dc4d77}" enabled="1" method="Standard" siteId="{be0f980b-dd99-4b19-bd7b-bc71a09b026c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otalTime>60416</TotalTime>
  <Words>13138</Words>
  <Application>Microsoft Office PowerPoint</Application>
  <PresentationFormat>Widescreen</PresentationFormat>
  <Paragraphs>9579</Paragraphs>
  <Slides>47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10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47</vt:i4>
      </vt:variant>
    </vt:vector>
  </HeadingPairs>
  <TitlesOfParts>
    <vt:vector size="58" baseType="lpstr">
      <vt:lpstr>Arial</vt:lpstr>
      <vt:lpstr>Bebas Neue Bold</vt:lpstr>
      <vt:lpstr>Calibri</vt:lpstr>
      <vt:lpstr>linea-basic-10</vt:lpstr>
      <vt:lpstr>Source Sans Pro</vt:lpstr>
      <vt:lpstr>TeleGrotesk Next Medium</vt:lpstr>
      <vt:lpstr>Tele-GroteskHal</vt:lpstr>
      <vt:lpstr>TeleNeo Office</vt:lpstr>
      <vt:lpstr>TeleNeo Office ExtraBold</vt:lpstr>
      <vt:lpstr>TeleNeo Office Medium</vt:lpstr>
      <vt:lpstr>4_Text-Layouts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Sifuentes, Hannah</dc:creator>
  <cp:lastModifiedBy>Goepp, Kevin</cp:lastModifiedBy>
  <cp:revision>92</cp:revision>
  <dcterms:created xsi:type="dcterms:W3CDTF">2022-01-14T14:19:59Z</dcterms:created>
  <dcterms:modified xsi:type="dcterms:W3CDTF">2026-02-24T17:49:03Z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0x0101003E1C49C73B682348902D71B103FC7417</vt:lpwstr>
  </property>
</Properties>
</file>