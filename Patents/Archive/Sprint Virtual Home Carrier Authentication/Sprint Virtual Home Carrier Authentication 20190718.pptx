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1" r:id="rId1"/>
  </p:sldMasterIdLst>
  <p:notesMasterIdLst>
    <p:notesMasterId r:id="rId11"/>
  </p:notesMasterIdLst>
  <p:sldIdLst>
    <p:sldId id="273" r:id="rId2"/>
    <p:sldId id="308" r:id="rId3"/>
    <p:sldId id="309" r:id="rId4"/>
    <p:sldId id="310" r:id="rId5"/>
    <p:sldId id="314" r:id="rId6"/>
    <p:sldId id="316" r:id="rId7"/>
    <p:sldId id="312" r:id="rId8"/>
    <p:sldId id="313" r:id="rId9"/>
    <p:sldId id="31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934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73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F71275-E548-4251-BFFB-50D8CEB86134}" type="datetimeFigureOut">
              <a:rPr lang="en-US" smtClean="0"/>
              <a:t>07/30/2019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B147B5-ED0A-4868-ADC6-42BCC5B54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3262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1323526"/>
            <a:ext cx="10595799" cy="1318458"/>
          </a:xfrm>
          <a:prstGeom prst="rect">
            <a:avLst/>
          </a:prstGeom>
        </p:spPr>
        <p:txBody>
          <a:bodyPr anchor="b"/>
          <a:lstStyle>
            <a:lvl1pPr>
              <a:defRPr sz="30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2650954"/>
            <a:ext cx="10595798" cy="133764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667">
                <a:solidFill>
                  <a:schemeClr val="tx1"/>
                </a:solidFill>
              </a:defRPr>
            </a:lvl1pPr>
            <a:lvl2pPr marL="544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884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327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76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211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654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096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538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3988594"/>
            <a:ext cx="2606040" cy="434340"/>
          </a:xfrm>
        </p:spPr>
        <p:txBody>
          <a:bodyPr/>
          <a:lstStyle>
            <a:lvl1pPr>
              <a:defRPr lang="en-US" sz="2000" kern="1200" dirty="0" smtClean="0">
                <a:solidFill>
                  <a:schemeClr val="tx1"/>
                </a:solidFill>
                <a:latin typeface="Sprint Sans Ofc Regular"/>
                <a:ea typeface="+mn-ea"/>
                <a:cs typeface="Sprint Sans Ofc Regular"/>
              </a:defRPr>
            </a:lvl1pPr>
            <a:lvl2pPr>
              <a:defRPr lang="en-US" sz="2000" kern="1200" dirty="0" smtClean="0">
                <a:solidFill>
                  <a:schemeClr val="tx1"/>
                </a:solidFill>
                <a:latin typeface="Sprint Sans Ofc Regular"/>
                <a:ea typeface="+mn-ea"/>
                <a:cs typeface="Sprint Sans Ofc Regular"/>
              </a:defRPr>
            </a:lvl2pPr>
            <a:lvl3pPr>
              <a:defRPr lang="en-US" sz="2000" kern="1200" dirty="0" smtClean="0">
                <a:solidFill>
                  <a:schemeClr val="tx1"/>
                </a:solidFill>
                <a:latin typeface="Sprint Sans Ofc Regular"/>
                <a:ea typeface="+mn-ea"/>
                <a:cs typeface="Sprint Sans Ofc Regular"/>
              </a:defRPr>
            </a:lvl3pPr>
            <a:lvl4pPr>
              <a:defRPr lang="en-US" sz="2000" kern="1200" dirty="0" smtClean="0">
                <a:solidFill>
                  <a:schemeClr val="tx1"/>
                </a:solidFill>
                <a:latin typeface="Sprint Sans Ofc Regular"/>
                <a:ea typeface="+mn-ea"/>
                <a:cs typeface="Sprint Sans Ofc Regular"/>
              </a:defRPr>
            </a:lvl4pPr>
            <a:lvl5pPr>
              <a:defRPr lang="en-US" sz="2000" kern="1200" dirty="0">
                <a:solidFill>
                  <a:schemeClr val="tx1"/>
                </a:solidFill>
                <a:latin typeface="Sprint Sans Ofc Regular"/>
                <a:ea typeface="+mn-ea"/>
                <a:cs typeface="Sprint Sans Ofc Regular"/>
              </a:defRPr>
            </a:lvl5pPr>
          </a:lstStyle>
          <a:p>
            <a:pPr lvl="0"/>
            <a:r>
              <a:rPr lang="en-US" dirty="0" smtClean="0"/>
              <a:t>Click to enter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8669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py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5200" y="-549858"/>
            <a:ext cx="2844800" cy="365125"/>
          </a:xfrm>
          <a:prstGeom prst="rect">
            <a:avLst/>
          </a:prstGeom>
        </p:spPr>
        <p:txBody>
          <a:bodyPr/>
          <a:lstStyle/>
          <a:p>
            <a:pPr defTabSz="544237"/>
            <a:endParaRPr lang="en-US" sz="2167" dirty="0">
              <a:solidFill>
                <a:prstClr val="black"/>
              </a:solidFill>
            </a:endParaRPr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380999" y="250814"/>
            <a:ext cx="10605814" cy="703569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" hasCustomPrompt="1"/>
          </p:nvPr>
        </p:nvSpPr>
        <p:spPr>
          <a:xfrm>
            <a:off x="395754" y="1342761"/>
            <a:ext cx="10591058" cy="4737364"/>
          </a:xfrm>
        </p:spPr>
        <p:txBody>
          <a:bodyPr/>
          <a:lstStyle>
            <a:lvl1pPr>
              <a:spcBef>
                <a:spcPts val="0"/>
              </a:spcBef>
              <a:spcAft>
                <a:spcPts val="500"/>
              </a:spcAft>
              <a:buFont typeface="Arial"/>
              <a:buChar char="•"/>
              <a:defRPr sz="1667">
                <a:latin typeface="Sprint Sans Ofc Regular" panose="020B0503030202060203" pitchFamily="34" charset="0"/>
              </a:defRPr>
            </a:lvl1pPr>
            <a:lvl2pPr marL="473585" indent="-183878">
              <a:spcBef>
                <a:spcPts val="0"/>
              </a:spcBef>
              <a:spcAft>
                <a:spcPts val="500"/>
              </a:spcAft>
              <a:buFont typeface="Arial"/>
              <a:buChar char="•"/>
              <a:defRPr sz="1500">
                <a:latin typeface="Sprint Sans Ofc Regular" panose="020B0503030202060203" pitchFamily="34" charset="0"/>
              </a:defRPr>
            </a:lvl2pPr>
            <a:lvl3pPr marL="664078" indent="-183878">
              <a:spcBef>
                <a:spcPts val="0"/>
              </a:spcBef>
              <a:spcAft>
                <a:spcPts val="500"/>
              </a:spcAft>
              <a:buFont typeface="Arial"/>
              <a:buChar char="•"/>
              <a:defRPr sz="1333">
                <a:latin typeface="Sprint Sans Ofc Regular" panose="020B0503030202060203" pitchFamily="34" charset="0"/>
              </a:defRPr>
            </a:lvl3pPr>
            <a:lvl4pPr marL="861185" indent="-197107">
              <a:spcBef>
                <a:spcPts val="0"/>
              </a:spcBef>
              <a:spcAft>
                <a:spcPts val="500"/>
              </a:spcAft>
              <a:buFont typeface="Arial"/>
              <a:buChar char="•"/>
              <a:defRPr sz="1167">
                <a:latin typeface="Sprint Sans Ofc Regular" panose="020B0503030202060203" pitchFamily="34" charset="0"/>
              </a:defRPr>
            </a:lvl4pPr>
            <a:lvl5pPr marL="1042417" indent="-181233">
              <a:spcBef>
                <a:spcPts val="0"/>
              </a:spcBef>
              <a:spcAft>
                <a:spcPts val="500"/>
              </a:spcAft>
              <a:buFont typeface="Arial"/>
              <a:buChar char="•"/>
              <a:defRPr sz="1167">
                <a:latin typeface="Sprint Sans Ofc Regular" panose="020B0503030202060203" pitchFamily="34" charset="0"/>
              </a:defRPr>
            </a:lvl5pPr>
          </a:lstStyle>
          <a:p>
            <a:pPr lvl="0"/>
            <a:r>
              <a:rPr lang="en-US" dirty="0" smtClean="0"/>
              <a:t>Body Copy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5356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315200" y="-549858"/>
            <a:ext cx="2844800" cy="365125"/>
          </a:xfrm>
          <a:prstGeom prst="rect">
            <a:avLst/>
          </a:prstGeom>
        </p:spPr>
        <p:txBody>
          <a:bodyPr/>
          <a:lstStyle/>
          <a:p>
            <a:pPr defTabSz="544237"/>
            <a:endParaRPr lang="en-US" sz="2167" dirty="0">
              <a:solidFill>
                <a:prstClr val="black"/>
              </a:solidFill>
            </a:endParaRPr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380999" y="250814"/>
            <a:ext cx="10605814" cy="703569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6972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5200" y="-549858"/>
            <a:ext cx="2844800" cy="365125"/>
          </a:xfrm>
          <a:prstGeom prst="rect">
            <a:avLst/>
          </a:prstGeom>
        </p:spPr>
        <p:txBody>
          <a:bodyPr/>
          <a:lstStyle/>
          <a:p>
            <a:pPr defTabSz="544237"/>
            <a:endParaRPr lang="en-US" sz="2167" dirty="0">
              <a:solidFill>
                <a:prstClr val="black"/>
              </a:solidFill>
            </a:endParaRPr>
          </a:p>
        </p:txBody>
      </p:sp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381000" y="1323526"/>
            <a:ext cx="10595799" cy="1318458"/>
          </a:xfrm>
          <a:prstGeom prst="rect">
            <a:avLst/>
          </a:prstGeom>
        </p:spPr>
        <p:txBody>
          <a:bodyPr anchor="b"/>
          <a:lstStyle>
            <a:lvl1pPr>
              <a:defRPr sz="30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381000" y="2650954"/>
            <a:ext cx="10595798" cy="133764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667">
                <a:solidFill>
                  <a:schemeClr val="tx1"/>
                </a:solidFill>
              </a:defRPr>
            </a:lvl1pPr>
            <a:lvl2pPr marL="544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884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327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76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211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654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096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538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9815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py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5200" y="-549858"/>
            <a:ext cx="2844800" cy="365125"/>
          </a:xfrm>
          <a:prstGeom prst="rect">
            <a:avLst/>
          </a:prstGeom>
        </p:spPr>
        <p:txBody>
          <a:bodyPr/>
          <a:lstStyle/>
          <a:p>
            <a:pPr defTabSz="544237"/>
            <a:endParaRPr lang="en-US" sz="2167" dirty="0">
              <a:solidFill>
                <a:prstClr val="black"/>
              </a:solidFill>
            </a:endParaRPr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380999" y="250814"/>
            <a:ext cx="10605814" cy="703569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" hasCustomPrompt="1"/>
          </p:nvPr>
        </p:nvSpPr>
        <p:spPr>
          <a:xfrm>
            <a:off x="395755" y="1342761"/>
            <a:ext cx="5183331" cy="4737364"/>
          </a:xfrm>
        </p:spPr>
        <p:txBody>
          <a:bodyPr/>
          <a:lstStyle>
            <a:lvl1pPr>
              <a:spcBef>
                <a:spcPts val="0"/>
              </a:spcBef>
              <a:spcAft>
                <a:spcPts val="500"/>
              </a:spcAft>
              <a:buFont typeface="Arial"/>
              <a:buChar char="•"/>
              <a:defRPr sz="1667">
                <a:latin typeface="Sprint Sans Ofc Regular" panose="020B0503030202060203" pitchFamily="34" charset="0"/>
              </a:defRPr>
            </a:lvl1pPr>
            <a:lvl2pPr marL="473585" indent="-183878">
              <a:spcBef>
                <a:spcPts val="0"/>
              </a:spcBef>
              <a:spcAft>
                <a:spcPts val="500"/>
              </a:spcAft>
              <a:buFont typeface="Arial"/>
              <a:buChar char="•"/>
              <a:defRPr sz="1500">
                <a:latin typeface="Sprint Sans Ofc Regular" panose="020B0503030202060203" pitchFamily="34" charset="0"/>
              </a:defRPr>
            </a:lvl2pPr>
            <a:lvl3pPr marL="664078" indent="-183878">
              <a:spcBef>
                <a:spcPts val="0"/>
              </a:spcBef>
              <a:spcAft>
                <a:spcPts val="500"/>
              </a:spcAft>
              <a:buFont typeface="Arial"/>
              <a:buChar char="•"/>
              <a:defRPr sz="1333">
                <a:latin typeface="Sprint Sans Ofc Regular" panose="020B0503030202060203" pitchFamily="34" charset="0"/>
              </a:defRPr>
            </a:lvl3pPr>
            <a:lvl4pPr marL="861185" indent="-197107">
              <a:spcBef>
                <a:spcPts val="0"/>
              </a:spcBef>
              <a:spcAft>
                <a:spcPts val="500"/>
              </a:spcAft>
              <a:buFont typeface="Arial"/>
              <a:buChar char="•"/>
              <a:defRPr sz="1167">
                <a:latin typeface="Sprint Sans Ofc Regular" panose="020B0503030202060203" pitchFamily="34" charset="0"/>
              </a:defRPr>
            </a:lvl4pPr>
            <a:lvl5pPr marL="1042417" indent="-181233">
              <a:spcBef>
                <a:spcPts val="0"/>
              </a:spcBef>
              <a:spcAft>
                <a:spcPts val="500"/>
              </a:spcAft>
              <a:buFont typeface="Arial"/>
              <a:buChar char="•"/>
              <a:defRPr sz="1167">
                <a:latin typeface="Sprint Sans Ofc Regular" panose="020B0503030202060203" pitchFamily="34" charset="0"/>
              </a:defRPr>
            </a:lvl5pPr>
          </a:lstStyle>
          <a:p>
            <a:pPr lvl="0"/>
            <a:r>
              <a:rPr lang="en-US" dirty="0" smtClean="0"/>
              <a:t>Body Copy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1" hasCustomPrompt="1"/>
          </p:nvPr>
        </p:nvSpPr>
        <p:spPr>
          <a:xfrm>
            <a:off x="5803482" y="1342761"/>
            <a:ext cx="5183331" cy="4737364"/>
          </a:xfrm>
        </p:spPr>
        <p:txBody>
          <a:bodyPr/>
          <a:lstStyle>
            <a:lvl1pPr>
              <a:spcBef>
                <a:spcPts val="0"/>
              </a:spcBef>
              <a:spcAft>
                <a:spcPts val="500"/>
              </a:spcAft>
              <a:buFont typeface="Arial"/>
              <a:buChar char="•"/>
              <a:defRPr sz="1667">
                <a:latin typeface="Sprint Sans Ofc Regular" panose="020B0503030202060203" pitchFamily="34" charset="0"/>
              </a:defRPr>
            </a:lvl1pPr>
            <a:lvl2pPr marL="473585" indent="-183878">
              <a:spcBef>
                <a:spcPts val="0"/>
              </a:spcBef>
              <a:spcAft>
                <a:spcPts val="500"/>
              </a:spcAft>
              <a:buFont typeface="Arial"/>
              <a:buChar char="•"/>
              <a:defRPr sz="1500">
                <a:latin typeface="Sprint Sans Ofc Regular" panose="020B0503030202060203" pitchFamily="34" charset="0"/>
              </a:defRPr>
            </a:lvl2pPr>
            <a:lvl3pPr marL="664078" indent="-183878">
              <a:spcBef>
                <a:spcPts val="0"/>
              </a:spcBef>
              <a:spcAft>
                <a:spcPts val="500"/>
              </a:spcAft>
              <a:buFont typeface="Arial"/>
              <a:buChar char="•"/>
              <a:defRPr sz="1333">
                <a:latin typeface="Sprint Sans Ofc Regular" panose="020B0503030202060203" pitchFamily="34" charset="0"/>
              </a:defRPr>
            </a:lvl3pPr>
            <a:lvl4pPr marL="861185" indent="-197107">
              <a:spcBef>
                <a:spcPts val="0"/>
              </a:spcBef>
              <a:spcAft>
                <a:spcPts val="500"/>
              </a:spcAft>
              <a:buFont typeface="Arial"/>
              <a:buChar char="•"/>
              <a:defRPr sz="1167">
                <a:latin typeface="Sprint Sans Ofc Regular" panose="020B0503030202060203" pitchFamily="34" charset="0"/>
              </a:defRPr>
            </a:lvl4pPr>
            <a:lvl5pPr marL="1042417" indent="-181233">
              <a:spcBef>
                <a:spcPts val="0"/>
              </a:spcBef>
              <a:spcAft>
                <a:spcPts val="500"/>
              </a:spcAft>
              <a:buFont typeface="Arial"/>
              <a:buChar char="•"/>
              <a:defRPr sz="1167">
                <a:latin typeface="Sprint Sans Ofc Regular" panose="020B0503030202060203" pitchFamily="34" charset="0"/>
              </a:defRPr>
            </a:lvl5pPr>
          </a:lstStyle>
          <a:p>
            <a:pPr lvl="0"/>
            <a:r>
              <a:rPr lang="en-US" dirty="0" smtClean="0"/>
              <a:t>Body Copy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302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315200" y="-549858"/>
            <a:ext cx="2844800" cy="365125"/>
          </a:xfrm>
          <a:prstGeom prst="rect">
            <a:avLst/>
          </a:prstGeom>
        </p:spPr>
        <p:txBody>
          <a:bodyPr/>
          <a:lstStyle/>
          <a:p>
            <a:pPr defTabSz="544237"/>
            <a:endParaRPr lang="en-US" sz="2167" dirty="0">
              <a:solidFill>
                <a:prstClr val="black"/>
              </a:solidFill>
            </a:endParaRPr>
          </a:p>
        </p:txBody>
      </p:sp>
      <p:sp>
        <p:nvSpPr>
          <p:cNvPr id="7" name="Table Placeholder 6"/>
          <p:cNvSpPr>
            <a:spLocks noGrp="1"/>
          </p:cNvSpPr>
          <p:nvPr>
            <p:ph type="tbl" sz="quarter" idx="13" hasCustomPrompt="1"/>
          </p:nvPr>
        </p:nvSpPr>
        <p:spPr>
          <a:xfrm>
            <a:off x="380999" y="1373897"/>
            <a:ext cx="10605814" cy="4556608"/>
          </a:xfrm>
          <a:prstGeom prst="rect">
            <a:avLst/>
          </a:prstGeom>
          <a:solidFill>
            <a:srgbClr val="BFBFBF"/>
          </a:solidFill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 dirty="0" smtClean="0"/>
              <a:t>Use this template page when importing a table</a:t>
            </a:r>
            <a:endParaRPr lang="en-US" dirty="0"/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380999" y="250814"/>
            <a:ext cx="10605814" cy="703569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5081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4" hasCustomPrompt="1"/>
          </p:nvPr>
        </p:nvSpPr>
        <p:spPr>
          <a:xfrm>
            <a:off x="380999" y="1373417"/>
            <a:ext cx="10605814" cy="4557088"/>
          </a:xfrm>
          <a:prstGeom prst="rect">
            <a:avLst/>
          </a:prstGeom>
          <a:solidFill>
            <a:srgbClr val="BFBFBF"/>
          </a:solidFill>
        </p:spPr>
        <p:txBody>
          <a:bodyPr/>
          <a:lstStyle>
            <a:lvl1pPr>
              <a:defRPr baseline="0"/>
            </a:lvl1pPr>
          </a:lstStyle>
          <a:p>
            <a:r>
              <a:rPr lang="en-US" dirty="0" smtClean="0"/>
              <a:t>Use this template page when importing a picture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315200" y="-549858"/>
            <a:ext cx="2844800" cy="365125"/>
          </a:xfrm>
          <a:prstGeom prst="rect">
            <a:avLst/>
          </a:prstGeom>
        </p:spPr>
        <p:txBody>
          <a:bodyPr/>
          <a:lstStyle/>
          <a:p>
            <a:pPr defTabSz="544237"/>
            <a:endParaRPr lang="en-US" sz="2167" dirty="0">
              <a:solidFill>
                <a:prstClr val="black"/>
              </a:solidFill>
            </a:endParaRP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380999" y="250814"/>
            <a:ext cx="10605814" cy="703569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0965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py w/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14"/>
          <p:cNvSpPr>
            <a:spLocks noGrp="1"/>
          </p:cNvSpPr>
          <p:nvPr>
            <p:ph sz="quarter" idx="17" hasCustomPrompt="1"/>
          </p:nvPr>
        </p:nvSpPr>
        <p:spPr>
          <a:xfrm>
            <a:off x="4070753" y="1373897"/>
            <a:ext cx="6916060" cy="411480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lIns="0" tIns="0" rIns="0" bIns="0" rtlCol="0">
            <a:noAutofit/>
          </a:bodyPr>
          <a:lstStyle>
            <a:lvl1pPr>
              <a:defRPr lang="en-US" baseline="0" dirty="0"/>
            </a:lvl1pPr>
          </a:lstStyle>
          <a:p>
            <a:pPr lvl="0"/>
            <a:r>
              <a:rPr lang="en-US" dirty="0" smtClean="0"/>
              <a:t>Content placeholder</a:t>
            </a:r>
            <a:endParaRPr lang="en-US" dirty="0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6" hasCustomPrompt="1"/>
          </p:nvPr>
        </p:nvSpPr>
        <p:spPr>
          <a:xfrm>
            <a:off x="380999" y="1373897"/>
            <a:ext cx="3565938" cy="411480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lIns="0" tIns="0" rIns="0" bIns="0" rtlCol="0">
            <a:noAutofit/>
          </a:bodyPr>
          <a:lstStyle>
            <a:lvl1pPr>
              <a:defRPr lang="en-US" baseline="0" dirty="0"/>
            </a:lvl1pPr>
          </a:lstStyle>
          <a:p>
            <a:pPr lvl="0"/>
            <a:r>
              <a:rPr lang="en-US" dirty="0" smtClean="0"/>
              <a:t>Use this template page when showing multiple graphic elements (tables, pictures, etc.)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5200" y="-549858"/>
            <a:ext cx="2844800" cy="365125"/>
          </a:xfrm>
          <a:prstGeom prst="rect">
            <a:avLst/>
          </a:prstGeom>
        </p:spPr>
        <p:txBody>
          <a:bodyPr/>
          <a:lstStyle/>
          <a:p>
            <a:pPr defTabSz="544237"/>
            <a:endParaRPr lang="en-US" sz="2167" dirty="0">
              <a:solidFill>
                <a:prstClr val="black"/>
              </a:solidFill>
            </a:endParaRPr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380999" y="250814"/>
            <a:ext cx="10605814" cy="703569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95178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5197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6538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 userDrawn="1"/>
        </p:nvCxnSpPr>
        <p:spPr>
          <a:xfrm>
            <a:off x="381001" y="1076793"/>
            <a:ext cx="10605814" cy="0"/>
          </a:xfrm>
          <a:prstGeom prst="line">
            <a:avLst/>
          </a:prstGeom>
          <a:ln w="38100" cmpd="sng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2415702" y="6378373"/>
            <a:ext cx="8571112" cy="8533"/>
          </a:xfrm>
          <a:prstGeom prst="line">
            <a:avLst/>
          </a:prstGeom>
          <a:ln w="38100" cmpd="sng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 userDrawn="1"/>
        </p:nvSpPr>
        <p:spPr>
          <a:xfrm>
            <a:off x="311960" y="6471356"/>
            <a:ext cx="6764913" cy="297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544237"/>
            <a:r>
              <a:rPr lang="en-US" sz="667" kern="800" spc="17" dirty="0">
                <a:solidFill>
                  <a:prstClr val="black"/>
                </a:solidFill>
                <a:latin typeface="Sprint Sans Ofc Regular"/>
                <a:cs typeface="Sprint Sans Ofc Regular"/>
              </a:rPr>
              <a:t>©2015 Sprint. This information is subject to Sprint policies regarding use and is the property of Sprint and/or its relevant affiliates and may contain restricted, </a:t>
            </a:r>
            <a:r>
              <a:rPr lang="en-US" sz="667" dirty="0">
                <a:solidFill>
                  <a:prstClr val="black"/>
                </a:solidFill>
                <a:latin typeface="Sprint Sans Ofc Regular"/>
                <a:cs typeface="Sprint Sans Ofc Regular"/>
              </a:rPr>
              <a:t>confidential or privileged materials intended for the sole use of the intended recipient. Any review, use, distribution or disclosure is prohibited without authorization. </a:t>
            </a:r>
          </a:p>
        </p:txBody>
      </p:sp>
      <p:pic>
        <p:nvPicPr>
          <p:cNvPr id="12" name="Picture 11" descr="Sprint_Stacked_Logo_YB_Without Register Mark.jpg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4714" y="431300"/>
            <a:ext cx="845078" cy="1238420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311961" y="6096497"/>
            <a:ext cx="2285664" cy="412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544237"/>
            <a:r>
              <a:rPr lang="en-US" sz="2083" dirty="0">
                <a:solidFill>
                  <a:prstClr val="black"/>
                </a:solidFill>
                <a:latin typeface="Sprint Sans Ofc Med"/>
              </a:rPr>
              <a:t>#MoveForward</a:t>
            </a:r>
          </a:p>
        </p:txBody>
      </p:sp>
      <p:sp>
        <p:nvSpPr>
          <p:cNvPr id="14" name="Rectangle 13"/>
          <p:cNvSpPr/>
          <p:nvPr userDrawn="1"/>
        </p:nvSpPr>
        <p:spPr>
          <a:xfrm>
            <a:off x="10930366" y="6100365"/>
            <a:ext cx="1047750" cy="457498"/>
          </a:xfrm>
          <a:prstGeom prst="rect">
            <a:avLst/>
          </a:prstGeom>
        </p:spPr>
        <p:txBody>
          <a:bodyPr wrap="square" lIns="59436" tIns="29718" rIns="59436" bIns="29718" anchor="t">
            <a:spAutoFit/>
          </a:bodyPr>
          <a:lstStyle/>
          <a:p>
            <a:pPr algn="r" defTabSz="544237"/>
            <a:fld id="{3F7246EB-1039-B148-94A0-72C9C3A8D00E}" type="slidenum">
              <a:rPr lang="en-US" sz="2583">
                <a:solidFill>
                  <a:prstClr val="black"/>
                </a:solidFill>
              </a:rPr>
              <a:pPr algn="r" defTabSz="544237"/>
              <a:t>‹#›</a:t>
            </a:fld>
            <a:endParaRPr lang="en-US" sz="2583" dirty="0">
              <a:solidFill>
                <a:prstClr val="black"/>
              </a:solidFill>
            </a:endParaRPr>
          </a:p>
        </p:txBody>
      </p:sp>
      <p:sp>
        <p:nvSpPr>
          <p:cNvPr id="15" name="Text Placeholder 2"/>
          <p:cNvSpPr>
            <a:spLocks noGrp="1"/>
          </p:cNvSpPr>
          <p:nvPr>
            <p:ph type="body" idx="1"/>
          </p:nvPr>
        </p:nvSpPr>
        <p:spPr>
          <a:xfrm>
            <a:off x="381000" y="1351716"/>
            <a:ext cx="10605814" cy="47233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marL="285709" lvl="0" indent="-285709" algn="l" defTabSz="424461" rtl="0" eaLnBrk="1" latinLnBrk="0" hangingPunct="1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dirty="0" smtClean="0"/>
              <a:t>Click to edit Master text styles</a:t>
            </a:r>
          </a:p>
          <a:p>
            <a:pPr marL="477505" lvl="1" indent="-193118" algn="l" defTabSz="424461" rtl="0" eaLnBrk="1" latinLnBrk="0" hangingPunct="1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dirty="0" smtClean="0"/>
              <a:t>Second level</a:t>
            </a:r>
          </a:p>
          <a:p>
            <a:pPr marL="671946" lvl="2" indent="-191796" algn="l" defTabSz="424461" rtl="0" eaLnBrk="1" latinLnBrk="0" hangingPunct="1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dirty="0" smtClean="0"/>
              <a:t>Third level</a:t>
            </a:r>
          </a:p>
          <a:p>
            <a:pPr marL="853160" lvl="3" indent="-181214" algn="l" defTabSz="424461" rtl="0" eaLnBrk="1" latinLnBrk="0" hangingPunct="1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dirty="0" smtClean="0"/>
              <a:t>Fourth level</a:t>
            </a:r>
          </a:p>
          <a:p>
            <a:pPr marL="1046278" lvl="4" indent="-193118" algn="l" defTabSz="424461" rtl="0" eaLnBrk="1" latinLnBrk="0" hangingPunct="1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6" name="Title Placeholder 1"/>
          <p:cNvSpPr>
            <a:spLocks noGrp="1"/>
          </p:cNvSpPr>
          <p:nvPr>
            <p:ph type="title"/>
          </p:nvPr>
        </p:nvSpPr>
        <p:spPr>
          <a:xfrm>
            <a:off x="380999" y="250814"/>
            <a:ext cx="10605814" cy="703569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8" name="Rectangle 17"/>
          <p:cNvSpPr/>
          <p:nvPr userDrawn="1"/>
        </p:nvSpPr>
        <p:spPr>
          <a:xfrm>
            <a:off x="9574073" y="6471356"/>
            <a:ext cx="1412740" cy="265323"/>
          </a:xfrm>
          <a:prstGeom prst="rect">
            <a:avLst/>
          </a:prstGeom>
        </p:spPr>
        <p:txBody>
          <a:bodyPr wrap="square" lIns="59430" tIns="29715" rIns="59430" bIns="29715">
            <a:spAutoFit/>
          </a:bodyPr>
          <a:lstStyle/>
          <a:p>
            <a:pPr algn="r" defTabSz="544237"/>
            <a:r>
              <a:rPr lang="en-US" sz="667" kern="800" spc="17" dirty="0">
                <a:solidFill>
                  <a:prstClr val="black">
                    <a:lumMod val="50000"/>
                    <a:lumOff val="50000"/>
                  </a:prstClr>
                </a:solidFill>
                <a:latin typeface="Sprint Sans Ofc Regular"/>
                <a:cs typeface="Sprint Sans Ofc Regular"/>
              </a:rPr>
              <a:t>Template Version: 16:9MF1.1</a:t>
            </a:r>
          </a:p>
          <a:p>
            <a:pPr algn="r" defTabSz="544237"/>
            <a:r>
              <a:rPr lang="en-US" sz="667" kern="800" spc="17" dirty="0">
                <a:solidFill>
                  <a:prstClr val="black">
                    <a:lumMod val="50000"/>
                    <a:lumOff val="50000"/>
                  </a:prstClr>
                </a:solidFill>
                <a:latin typeface="Sprint Sans Ofc Regular"/>
                <a:cs typeface="Sprint Sans Ofc Regular"/>
              </a:rPr>
              <a:t>Version Date: 10/23/15</a:t>
            </a:r>
            <a:endParaRPr lang="en-US" sz="667" dirty="0">
              <a:solidFill>
                <a:prstClr val="black">
                  <a:lumMod val="50000"/>
                  <a:lumOff val="50000"/>
                </a:prstClr>
              </a:solidFill>
              <a:latin typeface="Sprint Sans Ofc Regular"/>
              <a:cs typeface="Sprint Sans Ofc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339584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544237" rtl="0" eaLnBrk="1" latinLnBrk="0" hangingPunct="1">
        <a:spcBef>
          <a:spcPct val="0"/>
        </a:spcBef>
        <a:buNone/>
        <a:defRPr lang="en-US" sz="3000" b="0" i="0" kern="1200">
          <a:solidFill>
            <a:schemeClr val="tx1"/>
          </a:solidFill>
          <a:latin typeface="Sprint Sans Ofc Med Regular"/>
          <a:ea typeface="+mj-ea"/>
          <a:cs typeface="Sprint Sans Ofc Med Regular"/>
        </a:defRPr>
      </a:lvl1pPr>
    </p:titleStyle>
    <p:bodyStyle>
      <a:lvl1pPr marL="285739" indent="-285739" algn="l" defTabSz="544237" rtl="0" eaLnBrk="1" latinLnBrk="0" hangingPunct="1">
        <a:spcBef>
          <a:spcPct val="20000"/>
        </a:spcBef>
        <a:buFontTx/>
        <a:buNone/>
        <a:defRPr lang="en-US" sz="1667" kern="1200" dirty="0" smtClean="0">
          <a:solidFill>
            <a:schemeClr val="tx1"/>
          </a:solidFill>
          <a:latin typeface="Sprint Sans Ofc Regular"/>
          <a:ea typeface="+mn-ea"/>
          <a:cs typeface="Sprint Sans Ofc Regular"/>
        </a:defRPr>
      </a:lvl1pPr>
      <a:lvl2pPr marL="0" indent="0" algn="l" defTabSz="544237" rtl="0" eaLnBrk="1" latinLnBrk="0" hangingPunct="1">
        <a:spcBef>
          <a:spcPts val="0"/>
        </a:spcBef>
        <a:spcAft>
          <a:spcPts val="500"/>
        </a:spcAft>
        <a:buFontTx/>
        <a:buNone/>
        <a:defRPr lang="en-US" sz="1500" kern="1200" dirty="0" smtClean="0">
          <a:solidFill>
            <a:schemeClr val="tx1"/>
          </a:solidFill>
          <a:latin typeface="Sprint Sans Ofc Regular"/>
          <a:ea typeface="+mn-ea"/>
          <a:cs typeface="Sprint Sans Ofc Regular"/>
        </a:defRPr>
      </a:lvl2pPr>
      <a:lvl3pPr marL="2646" indent="0" algn="l" defTabSz="544237" rtl="0" eaLnBrk="1" latinLnBrk="0" hangingPunct="1">
        <a:spcBef>
          <a:spcPct val="20000"/>
        </a:spcBef>
        <a:buFontTx/>
        <a:buNone/>
        <a:defRPr lang="en-US" sz="1333" b="0" i="0" kern="1200" dirty="0" smtClean="0">
          <a:solidFill>
            <a:schemeClr val="tx1"/>
          </a:solidFill>
          <a:latin typeface="Sprint Sans Ofc Regular" panose="020B0503030202060203" pitchFamily="34" charset="0"/>
          <a:ea typeface="+mn-ea"/>
          <a:cs typeface="Sprint Sans Ofc Regular" panose="020B0503030202060203" pitchFamily="34" charset="0"/>
        </a:defRPr>
      </a:lvl3pPr>
      <a:lvl4pPr marL="99215" indent="-99215" algn="l" defTabSz="544237" rtl="0" eaLnBrk="1" latinLnBrk="0" hangingPunct="1">
        <a:spcBef>
          <a:spcPct val="20000"/>
        </a:spcBef>
        <a:buFont typeface="Arial"/>
        <a:buChar char="–"/>
        <a:defRPr lang="en-US" sz="1167" kern="1200" dirty="0" smtClean="0">
          <a:solidFill>
            <a:schemeClr val="tx1"/>
          </a:solidFill>
          <a:latin typeface="Sprint Sans Ofc Regular"/>
          <a:ea typeface="+mn-ea"/>
          <a:cs typeface="Sprint Sans Ofc Regular"/>
        </a:defRPr>
      </a:lvl4pPr>
      <a:lvl5pPr marL="187847" indent="-99215" algn="l" defTabSz="544237" rtl="0" eaLnBrk="1" latinLnBrk="0" hangingPunct="1">
        <a:spcBef>
          <a:spcPct val="20000"/>
        </a:spcBef>
        <a:buFont typeface="Arial"/>
        <a:buChar char="•"/>
        <a:defRPr lang="en-US" sz="1167" kern="1200" dirty="0">
          <a:solidFill>
            <a:schemeClr val="tx1"/>
          </a:solidFill>
          <a:latin typeface="Sprint Sans Ofc Regular"/>
          <a:ea typeface="+mn-ea"/>
          <a:cs typeface="Sprint Sans Ofc Regular"/>
        </a:defRPr>
      </a:lvl5pPr>
      <a:lvl6pPr marL="2993302" indent="-272118" algn="l" defTabSz="544237" rtl="0" eaLnBrk="1" latinLnBrk="0" hangingPunct="1">
        <a:spcBef>
          <a:spcPct val="20000"/>
        </a:spcBef>
        <a:buFont typeface="Arial"/>
        <a:buChar char="•"/>
        <a:defRPr sz="2417" kern="1200">
          <a:solidFill>
            <a:schemeClr val="tx1"/>
          </a:solidFill>
          <a:latin typeface="+mn-lt"/>
          <a:ea typeface="+mn-ea"/>
          <a:cs typeface="+mn-cs"/>
        </a:defRPr>
      </a:lvl6pPr>
      <a:lvl7pPr marL="3537538" indent="-272118" algn="l" defTabSz="544237" rtl="0" eaLnBrk="1" latinLnBrk="0" hangingPunct="1">
        <a:spcBef>
          <a:spcPct val="20000"/>
        </a:spcBef>
        <a:buFont typeface="Arial"/>
        <a:buChar char="•"/>
        <a:defRPr sz="2417" kern="1200">
          <a:solidFill>
            <a:schemeClr val="tx1"/>
          </a:solidFill>
          <a:latin typeface="+mn-lt"/>
          <a:ea typeface="+mn-ea"/>
          <a:cs typeface="+mn-cs"/>
        </a:defRPr>
      </a:lvl7pPr>
      <a:lvl8pPr marL="4081776" indent="-272118" algn="l" defTabSz="544237" rtl="0" eaLnBrk="1" latinLnBrk="0" hangingPunct="1">
        <a:spcBef>
          <a:spcPct val="20000"/>
        </a:spcBef>
        <a:buFont typeface="Arial"/>
        <a:buChar char="•"/>
        <a:defRPr sz="2417" kern="1200">
          <a:solidFill>
            <a:schemeClr val="tx1"/>
          </a:solidFill>
          <a:latin typeface="+mn-lt"/>
          <a:ea typeface="+mn-ea"/>
          <a:cs typeface="+mn-cs"/>
        </a:defRPr>
      </a:lvl8pPr>
      <a:lvl9pPr marL="4626012" indent="-272118" algn="l" defTabSz="544237" rtl="0" eaLnBrk="1" latinLnBrk="0" hangingPunct="1">
        <a:spcBef>
          <a:spcPct val="20000"/>
        </a:spcBef>
        <a:buFont typeface="Arial"/>
        <a:buChar char="•"/>
        <a:defRPr sz="24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4237" rtl="0" eaLnBrk="1" latinLnBrk="0" hangingPunct="1">
        <a:defRPr sz="2167" kern="1200">
          <a:solidFill>
            <a:schemeClr val="tx1"/>
          </a:solidFill>
          <a:latin typeface="+mn-lt"/>
          <a:ea typeface="+mn-ea"/>
          <a:cs typeface="+mn-cs"/>
        </a:defRPr>
      </a:lvl1pPr>
      <a:lvl2pPr marL="544237" algn="l" defTabSz="544237" rtl="0" eaLnBrk="1" latinLnBrk="0" hangingPunct="1">
        <a:defRPr sz="2167" kern="1200">
          <a:solidFill>
            <a:schemeClr val="tx1"/>
          </a:solidFill>
          <a:latin typeface="+mn-lt"/>
          <a:ea typeface="+mn-ea"/>
          <a:cs typeface="+mn-cs"/>
        </a:defRPr>
      </a:lvl2pPr>
      <a:lvl3pPr marL="1088473" algn="l" defTabSz="544237" rtl="0" eaLnBrk="1" latinLnBrk="0" hangingPunct="1">
        <a:defRPr sz="2167" kern="1200">
          <a:solidFill>
            <a:schemeClr val="tx1"/>
          </a:solidFill>
          <a:latin typeface="+mn-lt"/>
          <a:ea typeface="+mn-ea"/>
          <a:cs typeface="+mn-cs"/>
        </a:defRPr>
      </a:lvl3pPr>
      <a:lvl4pPr marL="1632711" algn="l" defTabSz="544237" rtl="0" eaLnBrk="1" latinLnBrk="0" hangingPunct="1">
        <a:defRPr sz="2167" kern="1200">
          <a:solidFill>
            <a:schemeClr val="tx1"/>
          </a:solidFill>
          <a:latin typeface="+mn-lt"/>
          <a:ea typeface="+mn-ea"/>
          <a:cs typeface="+mn-cs"/>
        </a:defRPr>
      </a:lvl4pPr>
      <a:lvl5pPr marL="2176947" algn="l" defTabSz="544237" rtl="0" eaLnBrk="1" latinLnBrk="0" hangingPunct="1">
        <a:defRPr sz="2167" kern="1200">
          <a:solidFill>
            <a:schemeClr val="tx1"/>
          </a:solidFill>
          <a:latin typeface="+mn-lt"/>
          <a:ea typeface="+mn-ea"/>
          <a:cs typeface="+mn-cs"/>
        </a:defRPr>
      </a:lvl5pPr>
      <a:lvl6pPr marL="2721184" algn="l" defTabSz="544237" rtl="0" eaLnBrk="1" latinLnBrk="0" hangingPunct="1">
        <a:defRPr sz="2167" kern="1200">
          <a:solidFill>
            <a:schemeClr val="tx1"/>
          </a:solidFill>
          <a:latin typeface="+mn-lt"/>
          <a:ea typeface="+mn-ea"/>
          <a:cs typeface="+mn-cs"/>
        </a:defRPr>
      </a:lvl6pPr>
      <a:lvl7pPr marL="3265420" algn="l" defTabSz="544237" rtl="0" eaLnBrk="1" latinLnBrk="0" hangingPunct="1">
        <a:defRPr sz="2167" kern="1200">
          <a:solidFill>
            <a:schemeClr val="tx1"/>
          </a:solidFill>
          <a:latin typeface="+mn-lt"/>
          <a:ea typeface="+mn-ea"/>
          <a:cs typeface="+mn-cs"/>
        </a:defRPr>
      </a:lvl7pPr>
      <a:lvl8pPr marL="3809657" algn="l" defTabSz="544237" rtl="0" eaLnBrk="1" latinLnBrk="0" hangingPunct="1">
        <a:defRPr sz="2167" kern="1200">
          <a:solidFill>
            <a:schemeClr val="tx1"/>
          </a:solidFill>
          <a:latin typeface="+mn-lt"/>
          <a:ea typeface="+mn-ea"/>
          <a:cs typeface="+mn-cs"/>
        </a:defRPr>
      </a:lvl8pPr>
      <a:lvl9pPr marL="4353894" algn="l" defTabSz="544237" rtl="0" eaLnBrk="1" latinLnBrk="0" hangingPunct="1">
        <a:defRPr sz="21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3378" y="1246489"/>
            <a:ext cx="10595799" cy="744760"/>
          </a:xfrm>
        </p:spPr>
        <p:txBody>
          <a:bodyPr/>
          <a:lstStyle/>
          <a:p>
            <a:r>
              <a:rPr lang="en-US" sz="4000" dirty="0" smtClean="0"/>
              <a:t>Sprint Mobile Solutions</a:t>
            </a:r>
            <a:endParaRPr lang="en-US" sz="400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4294967295"/>
          </p:nvPr>
        </p:nvSpPr>
        <p:spPr>
          <a:xfrm>
            <a:off x="551129" y="4378302"/>
            <a:ext cx="3478078" cy="458014"/>
          </a:xfrm>
          <a:prstGeom prst="rect">
            <a:avLst/>
          </a:prstGeom>
        </p:spPr>
        <p:txBody>
          <a:bodyPr/>
          <a:lstStyle/>
          <a:p>
            <a:r>
              <a:rPr lang="en-US" sz="2800" dirty="0" smtClean="0"/>
              <a:t>July </a:t>
            </a:r>
            <a:r>
              <a:rPr lang="en-US" sz="2800" dirty="0" smtClean="0"/>
              <a:t>2019</a:t>
            </a:r>
            <a:endParaRPr lang="en-US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0888" y="2190186"/>
            <a:ext cx="2105306" cy="210530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3378" y="2814278"/>
            <a:ext cx="6983627" cy="132343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Virtual Home </a:t>
            </a:r>
            <a:r>
              <a:rPr lang="en-US" sz="4000" dirty="0" smtClean="0"/>
              <a:t>Carrier Authentication</a:t>
            </a:r>
            <a:endParaRPr lang="en-US" sz="4000" dirty="0" smtClean="0"/>
          </a:p>
        </p:txBody>
      </p:sp>
    </p:spTree>
    <p:extLst>
      <p:ext uri="{BB962C8B-B14F-4D97-AF65-F5344CB8AC3E}">
        <p14:creationId xmlns:p14="http://schemas.microsoft.com/office/powerpoint/2010/main" val="984898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Concept Idea – Assistant </a:t>
            </a:r>
            <a:r>
              <a:rPr lang="en-US" dirty="0" smtClean="0"/>
              <a:t>Carrier Authentication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Enable a </a:t>
            </a:r>
            <a:r>
              <a:rPr lang="en-US" dirty="0" smtClean="0"/>
              <a:t>customer using a virtual assistant to securely authenticate and validate their user profile with a carrier auth2 and two factor authentication system at the same time.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2072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Idea Generation – Sample Use Cases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377" y="1227430"/>
            <a:ext cx="10591058" cy="4959185"/>
          </a:xfrm>
        </p:spPr>
        <p:txBody>
          <a:bodyPr/>
          <a:lstStyle/>
          <a:p>
            <a:r>
              <a:rPr lang="en-US" sz="1400" dirty="0" smtClean="0"/>
              <a:t>As a consumer with a Sprint Virtual Home Automation Hub, I have previously set up my home environment with all my preferred commands and configurations for home automated devices (lights, plugs, media devices).</a:t>
            </a:r>
          </a:p>
          <a:p>
            <a:endParaRPr lang="en-US" sz="1400" dirty="0"/>
          </a:p>
          <a:p>
            <a:r>
              <a:rPr lang="en-US" sz="1400" dirty="0" smtClean="0"/>
              <a:t>My commands are specific to my configurations and well known to me only.</a:t>
            </a:r>
          </a:p>
          <a:p>
            <a:endParaRPr lang="en-US" sz="1400" dirty="0" smtClean="0"/>
          </a:p>
          <a:p>
            <a:r>
              <a:rPr lang="en-US" sz="1400" dirty="0" smtClean="0"/>
              <a:t>As a registered user profile, if any location that uses a Sprint Automation Virtual Hub, I can re-use my own profile settings at the destination/location.</a:t>
            </a:r>
          </a:p>
          <a:p>
            <a:pPr lvl="1"/>
            <a:r>
              <a:rPr lang="en-US" sz="1400" dirty="0" smtClean="0"/>
              <a:t>Bill automates his home using Sprint Automation Virtual Hub.  Bill then travels to his favorite vacation spot at the Lake of the Ozarks which is also automated.  Bill can re-use his own profile/commands and scenes at his vacation spot.  The device will be smart-aware of his presence, adjust his portal to account for what devices are available, and interpret his logical settings and/or voice commands.</a:t>
            </a:r>
          </a:p>
          <a:p>
            <a:pPr lvl="1"/>
            <a:endParaRPr lang="en-US" sz="1400" dirty="0" smtClean="0"/>
          </a:p>
          <a:p>
            <a:r>
              <a:rPr lang="en-US" sz="1400" dirty="0" smtClean="0"/>
              <a:t>As a guest in a house/location with Sprint Automation Virtual Hub, a guest may temporarily use the services available in the home with permission.</a:t>
            </a:r>
          </a:p>
          <a:p>
            <a:endParaRPr lang="en-US" sz="1400" dirty="0" smtClean="0"/>
          </a:p>
          <a:p>
            <a:r>
              <a:rPr lang="en-US" sz="1400" dirty="0" smtClean="0"/>
              <a:t>If new devices are detected in a destination/location, the user can be sent product or elect to receive product or device enrollment details to use the service (e.g. 5G enabled media home player/gaming system/</a:t>
            </a:r>
            <a:r>
              <a:rPr lang="en-US" sz="1400" dirty="0" err="1" smtClean="0"/>
              <a:t>etc</a:t>
            </a:r>
            <a:r>
              <a:rPr lang="en-US" sz="1400" dirty="0" smtClean="0"/>
              <a:t>).  A vacation or hotel location offers Netflix with a 5G enabled box.  User is sent an offer request upon arrival to use the service.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042920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Technical Merits – Proof of Concept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Prove </a:t>
            </a:r>
            <a:r>
              <a:rPr lang="en-US" b="1" dirty="0" smtClean="0"/>
              <a:t>integration with </a:t>
            </a:r>
            <a:r>
              <a:rPr lang="en-US" b="1" dirty="0"/>
              <a:t>Sprint </a:t>
            </a:r>
            <a:r>
              <a:rPr lang="en-US" b="1" dirty="0" smtClean="0"/>
              <a:t>data:</a:t>
            </a:r>
          </a:p>
          <a:p>
            <a:r>
              <a:rPr lang="en-US" dirty="0" smtClean="0"/>
              <a:t>Use provided APIs to retrieve customer and device information from Sprint</a:t>
            </a:r>
          </a:p>
          <a:p>
            <a:r>
              <a:rPr lang="en-US" dirty="0" smtClean="0"/>
              <a:t>Device types shall be ‘light’, ‘socket’, ‘camera’, ‘media’, ‘5G’, ‘appliance’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b="1" dirty="0" smtClean="0"/>
              <a:t>Prove conceptual logic of a Sprint Automated Virtual Hub:</a:t>
            </a:r>
          </a:p>
          <a:p>
            <a:r>
              <a:rPr lang="en-US" dirty="0" smtClean="0"/>
              <a:t>Using customer/device information, logically prove device states: on/off/</a:t>
            </a:r>
            <a:r>
              <a:rPr lang="en-US" dirty="0" err="1" smtClean="0"/>
              <a:t>cmd</a:t>
            </a:r>
            <a:r>
              <a:rPr lang="en-US" dirty="0" smtClean="0"/>
              <a:t> sent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 smtClean="0"/>
              <a:t>Prove the user is securely managed on the portal.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smtClean="0"/>
              <a:t>Prove the user, using a single portal, can send commands (logically) from their interface to the destination devices and change their state or process a command.  No physical devices required – use logical entities to receive a state/message.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15931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Logical Architecture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775188" y="1432038"/>
            <a:ext cx="2661024" cy="46166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/>
              <a:t>Customer &amp;</a:t>
            </a:r>
          </a:p>
          <a:p>
            <a:pPr algn="ctr"/>
            <a:r>
              <a:rPr lang="en-US" sz="1200" dirty="0" smtClean="0"/>
              <a:t>Device Virtual Profile Info</a:t>
            </a:r>
          </a:p>
        </p:txBody>
      </p:sp>
      <p:sp>
        <p:nvSpPr>
          <p:cNvPr id="6" name="Rectangle 5"/>
          <p:cNvSpPr/>
          <p:nvPr/>
        </p:nvSpPr>
        <p:spPr>
          <a:xfrm>
            <a:off x="3402226" y="1719899"/>
            <a:ext cx="1392195" cy="4475199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Sprint </a:t>
            </a:r>
          </a:p>
          <a:p>
            <a:pPr algn="ctr"/>
            <a:r>
              <a:rPr lang="en-US" dirty="0" smtClean="0">
                <a:solidFill>
                  <a:srgbClr val="000000"/>
                </a:solidFill>
              </a:rPr>
              <a:t>Virtual Home Automation Hub</a:t>
            </a:r>
          </a:p>
        </p:txBody>
      </p:sp>
      <p:pic>
        <p:nvPicPr>
          <p:cNvPr id="7" name="Picture 6" descr="Over 160 million Supported Phone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561" y="2773476"/>
            <a:ext cx="2100648" cy="863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 17"/>
          <p:cNvSpPr/>
          <p:nvPr/>
        </p:nvSpPr>
        <p:spPr>
          <a:xfrm>
            <a:off x="4794422" y="4497259"/>
            <a:ext cx="1083426" cy="16978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IOT Device Interface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600" y="4497259"/>
            <a:ext cx="1779373" cy="65078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Sprint Web Portal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3938" y="1754444"/>
            <a:ext cx="1779373" cy="650787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Sprint </a:t>
            </a:r>
          </a:p>
          <a:p>
            <a:pPr algn="ctr"/>
            <a:r>
              <a:rPr lang="en-US" dirty="0" smtClean="0">
                <a:solidFill>
                  <a:srgbClr val="000000"/>
                </a:solidFill>
              </a:rPr>
              <a:t>Customer APK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18198" y="4498843"/>
            <a:ext cx="1433384" cy="30480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err="1" smtClean="0">
                <a:solidFill>
                  <a:srgbClr val="000000"/>
                </a:solidFill>
              </a:rPr>
              <a:t>Zigbee</a:t>
            </a:r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7018198" y="4852961"/>
            <a:ext cx="1433384" cy="30480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Z-Wave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18198" y="5207079"/>
            <a:ext cx="1433384" cy="30480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X10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18198" y="5564623"/>
            <a:ext cx="1433384" cy="30480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JSON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94421" y="3455795"/>
            <a:ext cx="1083426" cy="4777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Amazon</a:t>
            </a:r>
          </a:p>
          <a:p>
            <a:pPr algn="ctr"/>
            <a:r>
              <a:rPr lang="en-US" dirty="0" smtClean="0">
                <a:solidFill>
                  <a:srgbClr val="000000"/>
                </a:solidFill>
              </a:rPr>
              <a:t>Alexa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794421" y="2611221"/>
            <a:ext cx="1083426" cy="4777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Google</a:t>
            </a:r>
          </a:p>
          <a:p>
            <a:pPr algn="ctr"/>
            <a:r>
              <a:rPr lang="en-US" dirty="0" smtClean="0">
                <a:solidFill>
                  <a:srgbClr val="000000"/>
                </a:solidFill>
              </a:rPr>
              <a:t>Home</a:t>
            </a:r>
          </a:p>
        </p:txBody>
      </p:sp>
      <p:cxnSp>
        <p:nvCxnSpPr>
          <p:cNvPr id="39" name="Straight Connector 38"/>
          <p:cNvCxnSpPr/>
          <p:nvPr/>
        </p:nvCxnSpPr>
        <p:spPr>
          <a:xfrm>
            <a:off x="2294458" y="2054731"/>
            <a:ext cx="1107768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2294458" y="4826764"/>
            <a:ext cx="1107768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Image result for google hom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0355" y="2236453"/>
            <a:ext cx="1281584" cy="944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 result for alexa ech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8198" y="3349898"/>
            <a:ext cx="1317838" cy="984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7" name="Straight Connector 46"/>
          <p:cNvCxnSpPr/>
          <p:nvPr/>
        </p:nvCxnSpPr>
        <p:spPr>
          <a:xfrm>
            <a:off x="5847324" y="3678466"/>
            <a:ext cx="1170874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>
            <a:off x="5910175" y="2912152"/>
            <a:ext cx="1170874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>
            <a:off x="5832388" y="4684450"/>
            <a:ext cx="1170874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>
            <a:off x="5847324" y="5038568"/>
            <a:ext cx="1170874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>
            <a:off x="5847324" y="5355617"/>
            <a:ext cx="1170874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>
            <a:off x="5847324" y="5708619"/>
            <a:ext cx="1170874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7020131" y="5909220"/>
            <a:ext cx="1433384" cy="30480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5G Protocol</a:t>
            </a:r>
          </a:p>
        </p:txBody>
      </p:sp>
      <p:cxnSp>
        <p:nvCxnSpPr>
          <p:cNvPr id="60" name="Straight Connector 59"/>
          <p:cNvCxnSpPr/>
          <p:nvPr/>
        </p:nvCxnSpPr>
        <p:spPr>
          <a:xfrm>
            <a:off x="5847324" y="6049062"/>
            <a:ext cx="1170874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930875" y="2401219"/>
            <a:ext cx="1458097" cy="304299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Admin Mode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867593" y="1687960"/>
            <a:ext cx="1433384" cy="108551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Sprint</a:t>
            </a:r>
          </a:p>
          <a:p>
            <a:pPr algn="ctr"/>
            <a:r>
              <a:rPr lang="en-US" dirty="0" smtClean="0">
                <a:solidFill>
                  <a:srgbClr val="000000"/>
                </a:solidFill>
              </a:rPr>
              <a:t>Assistant</a:t>
            </a:r>
          </a:p>
          <a:p>
            <a:pPr algn="ctr"/>
            <a:r>
              <a:rPr lang="en-US" dirty="0" smtClean="0">
                <a:solidFill>
                  <a:srgbClr val="000000"/>
                </a:solidFill>
              </a:rPr>
              <a:t>Services Broker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33254" y="1235288"/>
            <a:ext cx="2018270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dirty="0" smtClean="0"/>
              <a:t>Target Destination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081049" y="1809762"/>
            <a:ext cx="1664044" cy="201217"/>
          </a:xfrm>
          <a:prstGeom prst="rightArrow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 smtClean="0">
              <a:solidFill>
                <a:srgbClr val="000000"/>
              </a:solidFill>
            </a:endParaRPr>
          </a:p>
        </p:txBody>
      </p:sp>
      <p:sp>
        <p:nvSpPr>
          <p:cNvPr id="10" name="Right Arrow 9"/>
          <p:cNvSpPr/>
          <p:nvPr/>
        </p:nvSpPr>
        <p:spPr>
          <a:xfrm rot="10800000">
            <a:off x="4811996" y="1827831"/>
            <a:ext cx="2232454" cy="183148"/>
          </a:xfrm>
          <a:prstGeom prst="rightArrow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7333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IOT Device Registration – Web Portal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2115454" y="3050795"/>
            <a:ext cx="1187088" cy="304299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 smtClean="0">
                <a:solidFill>
                  <a:srgbClr val="000000"/>
                </a:solidFill>
              </a:rPr>
              <a:t>Admin Mode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8656" y="2121721"/>
            <a:ext cx="1187088" cy="853226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Customer launches Sprint APK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15453" y="2110290"/>
            <a:ext cx="1187088" cy="853226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Customer sets to Admin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701505" y="2110290"/>
            <a:ext cx="2381680" cy="1109988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 smtClean="0">
                <a:solidFill>
                  <a:srgbClr val="000000"/>
                </a:solidFill>
              </a:rPr>
              <a:t>Devices are entered (</a:t>
            </a:r>
            <a:r>
              <a:rPr lang="en-US" sz="1400" dirty="0" smtClean="0">
                <a:solidFill>
                  <a:srgbClr val="FF0000"/>
                </a:solidFill>
              </a:rPr>
              <a:t>manually</a:t>
            </a:r>
            <a:r>
              <a:rPr lang="en-US" sz="1400" dirty="0" smtClean="0">
                <a:solidFill>
                  <a:srgbClr val="000000"/>
                </a:solidFill>
              </a:rPr>
              <a:t>) for all protocols and </a:t>
            </a:r>
            <a:r>
              <a:rPr lang="en-US" sz="1400" dirty="0" err="1" smtClean="0">
                <a:solidFill>
                  <a:srgbClr val="000000"/>
                </a:solidFill>
              </a:rPr>
              <a:t>comm</a:t>
            </a:r>
            <a:r>
              <a:rPr lang="en-US" sz="1400" dirty="0" smtClean="0">
                <a:solidFill>
                  <a:srgbClr val="000000"/>
                </a:solidFill>
              </a:rPr>
              <a:t> channels (</a:t>
            </a:r>
            <a:r>
              <a:rPr lang="en-US" sz="1400" dirty="0" err="1" smtClean="0">
                <a:solidFill>
                  <a:srgbClr val="000000"/>
                </a:solidFill>
              </a:rPr>
              <a:t>wifi</a:t>
            </a:r>
            <a:r>
              <a:rPr lang="en-US" sz="1400" dirty="0" smtClean="0">
                <a:solidFill>
                  <a:srgbClr val="000000"/>
                </a:solidFill>
              </a:rPr>
              <a:t>, </a:t>
            </a:r>
            <a:r>
              <a:rPr lang="en-US" sz="1400" dirty="0" err="1" smtClean="0">
                <a:solidFill>
                  <a:srgbClr val="000000"/>
                </a:solidFill>
              </a:rPr>
              <a:t>Zigbee</a:t>
            </a:r>
            <a:r>
              <a:rPr lang="en-US" sz="1400" dirty="0" smtClean="0">
                <a:solidFill>
                  <a:srgbClr val="000000"/>
                </a:solidFill>
              </a:rPr>
              <a:t>, Z-Wave, X10, Alexa, Google Home, 5G, </a:t>
            </a:r>
            <a:r>
              <a:rPr lang="en-US" sz="1400" dirty="0" err="1" smtClean="0">
                <a:solidFill>
                  <a:srgbClr val="000000"/>
                </a:solidFill>
              </a:rPr>
              <a:t>etc</a:t>
            </a:r>
            <a:r>
              <a:rPr lang="en-US" sz="1400" dirty="0" smtClean="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24891" y="2110290"/>
            <a:ext cx="2381680" cy="853226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 smtClean="0">
                <a:solidFill>
                  <a:srgbClr val="000000"/>
                </a:solidFill>
              </a:rPr>
              <a:t>APK presents all found devices to customer to auto-register with Sprint Virtual Home Automation Hub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341786" y="2110290"/>
            <a:ext cx="1437030" cy="853226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 smtClean="0">
                <a:solidFill>
                  <a:srgbClr val="000000"/>
                </a:solidFill>
              </a:rPr>
              <a:t>APK registers confirmed devices to Hub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8656" y="4075015"/>
            <a:ext cx="1437030" cy="853226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 smtClean="0">
                <a:solidFill>
                  <a:srgbClr val="000000"/>
                </a:solidFill>
              </a:rPr>
              <a:t>Customer defines their custom profile and commands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391002" y="4075015"/>
            <a:ext cx="1437030" cy="853226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 smtClean="0">
                <a:solidFill>
                  <a:srgbClr val="000000"/>
                </a:solidFill>
              </a:rPr>
              <a:t>Customer can test their profile from app.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628019" y="4075015"/>
            <a:ext cx="1909355" cy="853226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 smtClean="0">
                <a:solidFill>
                  <a:srgbClr val="000000"/>
                </a:solidFill>
              </a:rPr>
              <a:t>Customer saves location profile under a registered site settings.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73348" y="4075015"/>
            <a:ext cx="1909355" cy="853226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 smtClean="0">
                <a:solidFill>
                  <a:srgbClr val="000000"/>
                </a:solidFill>
              </a:rPr>
              <a:t>Customer defines location security profile settings (who is authorized to use)</a:t>
            </a:r>
          </a:p>
        </p:txBody>
      </p:sp>
      <p:cxnSp>
        <p:nvCxnSpPr>
          <p:cNvPr id="48" name="Straight Arrow Connector 47"/>
          <p:cNvCxnSpPr/>
          <p:nvPr/>
        </p:nvCxnSpPr>
        <p:spPr>
          <a:xfrm>
            <a:off x="3292949" y="2559536"/>
            <a:ext cx="409817" cy="23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>
            <a:off x="1711063" y="2548334"/>
            <a:ext cx="409817" cy="23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>
            <a:off x="3822605" y="4465182"/>
            <a:ext cx="409817" cy="23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>
            <a:off x="6083185" y="2569362"/>
            <a:ext cx="409817" cy="23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>
            <a:off x="8906571" y="2534561"/>
            <a:ext cx="409817" cy="23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>
            <a:off x="1942848" y="4467524"/>
            <a:ext cx="409817" cy="23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>
            <a:off x="6182703" y="4462840"/>
            <a:ext cx="409817" cy="23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6118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Technology Features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Security features of a handset, IOT device that will register with the Sprint Hub</a:t>
            </a:r>
          </a:p>
          <a:p>
            <a:r>
              <a:rPr lang="en-US" dirty="0" smtClean="0"/>
              <a:t>Location ‘aware’ of any handset, 5G device, or IOT device.</a:t>
            </a:r>
          </a:p>
          <a:p>
            <a:r>
              <a:rPr lang="en-US" dirty="0" smtClean="0"/>
              <a:t>Device registration manager at any service location using a handset app.</a:t>
            </a:r>
          </a:p>
          <a:p>
            <a:r>
              <a:rPr lang="en-US" dirty="0" smtClean="0"/>
              <a:t>Profile management and security of any registered user using the Sprint Hub</a:t>
            </a:r>
          </a:p>
          <a:p>
            <a:r>
              <a:rPr lang="en-US" dirty="0" smtClean="0"/>
              <a:t>‘Personality’ customized commands to be used virtually anywhere of a registered user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176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Patent Ideas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Develop a new 5G protocol for communicating with IOT devices?</a:t>
            </a:r>
          </a:p>
          <a:p>
            <a:r>
              <a:rPr lang="en-US" dirty="0" smtClean="0"/>
              <a:t>Security and method of IOT devices registering to a Sprint Virtual Hub</a:t>
            </a:r>
          </a:p>
          <a:p>
            <a:r>
              <a:rPr lang="en-US" dirty="0" smtClean="0"/>
              <a:t>Concept of Virtual profile with a Virtual Hub – </a:t>
            </a:r>
          </a:p>
          <a:p>
            <a:pPr lvl="1"/>
            <a:r>
              <a:rPr lang="en-US" dirty="0" smtClean="0"/>
              <a:t>customized IOT commands per user – </a:t>
            </a:r>
          </a:p>
          <a:p>
            <a:pPr lvl="1"/>
            <a:r>
              <a:rPr lang="en-US" dirty="0" smtClean="0"/>
              <a:t>“follow me” capability – location based awareness and login to hub</a:t>
            </a:r>
          </a:p>
          <a:p>
            <a:r>
              <a:rPr lang="en-US" dirty="0" smtClean="0"/>
              <a:t>Offer of products due to virtual hub enrollment</a:t>
            </a:r>
          </a:p>
          <a:p>
            <a:r>
              <a:rPr lang="en-US" dirty="0" smtClean="0"/>
              <a:t>Site arrival notifications, awareness, registration, authentication, authorization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8311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Inventors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Bill McCracken – Primary</a:t>
            </a:r>
          </a:p>
          <a:p>
            <a:r>
              <a:rPr lang="en-US" dirty="0" smtClean="0"/>
              <a:t>Dave Reimer</a:t>
            </a:r>
          </a:p>
          <a:p>
            <a:r>
              <a:rPr lang="en-US" dirty="0" smtClean="0"/>
              <a:t>Jeff Bryan</a:t>
            </a:r>
          </a:p>
          <a:p>
            <a:r>
              <a:rPr lang="en-US" dirty="0" smtClean="0"/>
              <a:t>Mihai </a:t>
            </a:r>
            <a:r>
              <a:rPr lang="en-US" dirty="0" err="1" smtClean="0"/>
              <a:t>Casian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997430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SPRINTCOLORS 1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FFC20E"/>
      </a:accent1>
      <a:accent2>
        <a:srgbClr val="F3F4F4"/>
      </a:accent2>
      <a:accent3>
        <a:srgbClr val="403F34"/>
      </a:accent3>
      <a:accent4>
        <a:srgbClr val="F75822"/>
      </a:accent4>
      <a:accent5>
        <a:srgbClr val="04C5CC"/>
      </a:accent5>
      <a:accent6>
        <a:srgbClr val="75C044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err="1" smtClean="0">
            <a:solidFill>
              <a:srgbClr val="000000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>
        <a:defPPr>
          <a:defRPr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2360</TotalTime>
  <Words>709</Words>
  <Application>Microsoft Office PowerPoint</Application>
  <PresentationFormat>Widescreen</PresentationFormat>
  <Paragraphs>80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Sprint Sans Ofc Med</vt:lpstr>
      <vt:lpstr>Sprint Sans Ofc Med Regular</vt:lpstr>
      <vt:lpstr>Sprint Sans Ofc Regular</vt:lpstr>
      <vt:lpstr>2_Office Theme</vt:lpstr>
      <vt:lpstr>Sprint Mobile Solutions</vt:lpstr>
      <vt:lpstr>Concept Idea – Assistant Carrier Authentication</vt:lpstr>
      <vt:lpstr>Idea Generation – Sample Use Cases</vt:lpstr>
      <vt:lpstr>Technical Merits – Proof of Concept</vt:lpstr>
      <vt:lpstr>Logical Architecture</vt:lpstr>
      <vt:lpstr>IOT Device Registration – Web Portal</vt:lpstr>
      <vt:lpstr>Technology Features</vt:lpstr>
      <vt:lpstr>Patent Ideas</vt:lpstr>
      <vt:lpstr>Inventors</vt:lpstr>
    </vt:vector>
  </TitlesOfParts>
  <Manager>Bill.G.McCracken@sprint.com</Manager>
  <Company>Sprint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Sprint Mobile Framework</dc:title>
  <dc:creator>Bill.G.McCracken@sprint.com</dc:creator>
  <cp:keywords>SMF</cp:keywords>
  <cp:lastModifiedBy>Bill McCracken</cp:lastModifiedBy>
  <cp:revision>315</cp:revision>
  <dcterms:created xsi:type="dcterms:W3CDTF">2016-05-26T15:12:20Z</dcterms:created>
  <dcterms:modified xsi:type="dcterms:W3CDTF">2019-07-30T19:02:17Z</dcterms:modified>
</cp:coreProperties>
</file>