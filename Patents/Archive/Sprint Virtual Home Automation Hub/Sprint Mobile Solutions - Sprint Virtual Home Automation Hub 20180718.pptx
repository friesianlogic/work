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2"/>
  </p:notesMasterIdLst>
  <p:sldIdLst>
    <p:sldId id="273" r:id="rId2"/>
    <p:sldId id="308" r:id="rId3"/>
    <p:sldId id="309" r:id="rId4"/>
    <p:sldId id="310" r:id="rId5"/>
    <p:sldId id="314" r:id="rId6"/>
    <p:sldId id="315" r:id="rId7"/>
    <p:sldId id="316" r:id="rId8"/>
    <p:sldId id="312" r:id="rId9"/>
    <p:sldId id="313" r:id="rId10"/>
    <p:sldId id="31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3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l McCracken" userId="2136edc265afd8c3" providerId="LiveId" clId="{C1E72C33-6660-46B4-B62C-BA0FE381AE5B}"/>
    <pc:docChg chg="modSld">
      <pc:chgData name="Bill McCracken" userId="2136edc265afd8c3" providerId="LiveId" clId="{C1E72C33-6660-46B4-B62C-BA0FE381AE5B}" dt="2022-01-12T20:49:51.048" v="0" actId="6549"/>
      <pc:docMkLst>
        <pc:docMk/>
      </pc:docMkLst>
      <pc:sldChg chg="modSp mod">
        <pc:chgData name="Bill McCracken" userId="2136edc265afd8c3" providerId="LiveId" clId="{C1E72C33-6660-46B4-B62C-BA0FE381AE5B}" dt="2022-01-12T20:49:51.048" v="0" actId="6549"/>
        <pc:sldMkLst>
          <pc:docMk/>
          <pc:sldMk cId="2769997430" sldId="317"/>
        </pc:sldMkLst>
        <pc:spChg chg="mod">
          <ac:chgData name="Bill McCracken" userId="2136edc265afd8c3" providerId="LiveId" clId="{C1E72C33-6660-46B4-B62C-BA0FE381AE5B}" dt="2022-01-12T20:49:51.048" v="0" actId="6549"/>
          <ac:spMkLst>
            <pc:docMk/>
            <pc:sldMk cId="2769997430" sldId="31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71275-E548-4251-BFFB-50D8CEB86134}" type="datetimeFigureOut">
              <a:rPr lang="en-US" smtClean="0"/>
              <a:t>1/12/2022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147B5-ED0A-4868-ADC6-42BCC5B54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2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323526"/>
            <a:ext cx="10595799" cy="1318458"/>
          </a:xfrm>
          <a:prstGeom prst="rect">
            <a:avLst/>
          </a:prstGeom>
        </p:spPr>
        <p:txBody>
          <a:bodyPr anchor="b"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650954"/>
            <a:ext cx="10595798" cy="13376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54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988594"/>
            <a:ext cx="2606040" cy="434340"/>
          </a:xfrm>
        </p:spPr>
        <p:txBody>
          <a:bodyPr/>
          <a:lstStyle>
            <a:lvl1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1pPr>
            <a:lvl2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2pPr>
            <a:lvl3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5pPr>
          </a:lstStyle>
          <a:p>
            <a:pPr lvl="0"/>
            <a:r>
              <a:rPr lang="en-US" dirty="0"/>
              <a:t>Click to enter date</a:t>
            </a:r>
          </a:p>
        </p:txBody>
      </p:sp>
    </p:spTree>
    <p:extLst>
      <p:ext uri="{BB962C8B-B14F-4D97-AF65-F5344CB8AC3E}">
        <p14:creationId xmlns:p14="http://schemas.microsoft.com/office/powerpoint/2010/main" val="2678669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p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754" y="1342761"/>
            <a:ext cx="10591058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/>
              <a:t>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35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697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1000" y="1323526"/>
            <a:ext cx="10595799" cy="1318458"/>
          </a:xfrm>
          <a:prstGeom prst="rect">
            <a:avLst/>
          </a:prstGeom>
        </p:spPr>
        <p:txBody>
          <a:bodyPr anchor="b"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81000" y="2650954"/>
            <a:ext cx="10595798" cy="13376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54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4981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p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755" y="1342761"/>
            <a:ext cx="5183331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/>
              <a:t>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5803482" y="1342761"/>
            <a:ext cx="5183331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/>
              <a:t>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630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 hasCustomPrompt="1"/>
          </p:nvPr>
        </p:nvSpPr>
        <p:spPr>
          <a:xfrm>
            <a:off x="380999" y="1373897"/>
            <a:ext cx="10605814" cy="4556608"/>
          </a:xfrm>
          <a:prstGeom prst="rect">
            <a:avLst/>
          </a:prstGeom>
          <a:solidFill>
            <a:srgbClr val="BFBFBF"/>
          </a:solidFill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Use this template page when importing a table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508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380999" y="1373417"/>
            <a:ext cx="10605814" cy="4557088"/>
          </a:xfrm>
          <a:prstGeom prst="rect">
            <a:avLst/>
          </a:prstGeom>
          <a:solidFill>
            <a:srgbClr val="BFBFBF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Use this template page when importing a picture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096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py w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4070753" y="1373897"/>
            <a:ext cx="6916060" cy="4114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 dirty="0"/>
              <a:t>Content placeholder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380999" y="1373897"/>
            <a:ext cx="3565938" cy="4114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 dirty="0"/>
              <a:t>Use this template page when showing multiple graphic elements (tables, pictures, etc.)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951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19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53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81001" y="1076793"/>
            <a:ext cx="10605814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2415702" y="6378373"/>
            <a:ext cx="8571112" cy="8533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 userDrawn="1"/>
        </p:nvSpPr>
        <p:spPr>
          <a:xfrm>
            <a:off x="311960" y="6471356"/>
            <a:ext cx="6764913" cy="297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44237"/>
            <a:r>
              <a:rPr lang="en-US" sz="667" kern="800" spc="17" dirty="0">
                <a:solidFill>
                  <a:prstClr val="black"/>
                </a:solidFill>
                <a:latin typeface="Sprint Sans Ofc Regular"/>
                <a:cs typeface="Sprint Sans Ofc Regular"/>
              </a:rPr>
              <a:t>©2015 Sprint. This information is subject to Sprint policies regarding use and is the property of Sprint and/or its relevant affiliates and may contain restricted, </a:t>
            </a:r>
            <a:r>
              <a:rPr lang="en-US" sz="667" dirty="0">
                <a:solidFill>
                  <a:prstClr val="black"/>
                </a:solidFill>
                <a:latin typeface="Sprint Sans Ofc Regular"/>
                <a:cs typeface="Sprint Sans Ofc Regular"/>
              </a:rPr>
              <a:t>confidential or privileged materials intended for the sole use of the intended recipient. Any review, use, distribution or disclosure is prohibited without authorization. </a:t>
            </a:r>
          </a:p>
        </p:txBody>
      </p:sp>
      <p:pic>
        <p:nvPicPr>
          <p:cNvPr id="12" name="Picture 11" descr="Sprint_Stacked_Logo_YB_Without Register Mark.jp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4714" y="431300"/>
            <a:ext cx="845078" cy="123842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11961" y="6096497"/>
            <a:ext cx="2285664" cy="41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44237"/>
            <a:r>
              <a:rPr lang="en-US" sz="2083" dirty="0">
                <a:solidFill>
                  <a:prstClr val="black"/>
                </a:solidFill>
                <a:latin typeface="Sprint Sans Ofc Med"/>
              </a:rPr>
              <a:t>#MoveForward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10930366" y="6100365"/>
            <a:ext cx="1047750" cy="457498"/>
          </a:xfrm>
          <a:prstGeom prst="rect">
            <a:avLst/>
          </a:prstGeom>
        </p:spPr>
        <p:txBody>
          <a:bodyPr wrap="square" lIns="59436" tIns="29718" rIns="59436" bIns="29718" anchor="t">
            <a:spAutoFit/>
          </a:bodyPr>
          <a:lstStyle/>
          <a:p>
            <a:pPr algn="r" defTabSz="544237"/>
            <a:fld id="{3F7246EB-1039-B148-94A0-72C9C3A8D00E}" type="slidenum">
              <a:rPr lang="en-US" sz="2583">
                <a:solidFill>
                  <a:prstClr val="black"/>
                </a:solidFill>
              </a:rPr>
              <a:pPr algn="r" defTabSz="544237"/>
              <a:t>‹#›</a:t>
            </a:fld>
            <a:endParaRPr lang="en-US" sz="2583" dirty="0">
              <a:solidFill>
                <a:prstClr val="black"/>
              </a:solidFill>
            </a:endParaRPr>
          </a:p>
        </p:txBody>
      </p:sp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51716"/>
            <a:ext cx="10605814" cy="47233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285709" lvl="0" indent="-285709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Click to edit Master text styles</a:t>
            </a:r>
          </a:p>
          <a:p>
            <a:pPr marL="477505" lvl="1" indent="-193118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Second level</a:t>
            </a:r>
          </a:p>
          <a:p>
            <a:pPr marL="671946" lvl="2" indent="-191796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Third level</a:t>
            </a:r>
          </a:p>
          <a:p>
            <a:pPr marL="853160" lvl="3" indent="-181214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Fourth level</a:t>
            </a:r>
          </a:p>
          <a:p>
            <a:pPr marL="1046278" lvl="4" indent="-193118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9574073" y="6471356"/>
            <a:ext cx="1412740" cy="265323"/>
          </a:xfrm>
          <a:prstGeom prst="rect">
            <a:avLst/>
          </a:prstGeom>
        </p:spPr>
        <p:txBody>
          <a:bodyPr wrap="square" lIns="59430" tIns="29715" rIns="59430" bIns="29715">
            <a:spAutoFit/>
          </a:bodyPr>
          <a:lstStyle/>
          <a:p>
            <a:pPr algn="r" defTabSz="544237"/>
            <a:r>
              <a:rPr lang="en-US" sz="667" kern="800" spc="17" dirty="0">
                <a:solidFill>
                  <a:prstClr val="black">
                    <a:lumMod val="50000"/>
                    <a:lumOff val="50000"/>
                  </a:prstClr>
                </a:solidFill>
                <a:latin typeface="Sprint Sans Ofc Regular"/>
                <a:cs typeface="Sprint Sans Ofc Regular"/>
              </a:rPr>
              <a:t>Template Version: 16:9MF1.1</a:t>
            </a:r>
          </a:p>
          <a:p>
            <a:pPr algn="r" defTabSz="544237"/>
            <a:r>
              <a:rPr lang="en-US" sz="667" kern="800" spc="17" dirty="0">
                <a:solidFill>
                  <a:prstClr val="black">
                    <a:lumMod val="50000"/>
                    <a:lumOff val="50000"/>
                  </a:prstClr>
                </a:solidFill>
                <a:latin typeface="Sprint Sans Ofc Regular"/>
                <a:cs typeface="Sprint Sans Ofc Regular"/>
              </a:rPr>
              <a:t>Version Date: 10/23/15</a:t>
            </a:r>
            <a:endParaRPr lang="en-US" sz="667" dirty="0">
              <a:solidFill>
                <a:prstClr val="black">
                  <a:lumMod val="50000"/>
                  <a:lumOff val="50000"/>
                </a:prstClr>
              </a:solidFill>
              <a:latin typeface="Sprint Sans Ofc Regular"/>
              <a:cs typeface="Sprint Sans Ofc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3958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hdr="0" dt="0"/>
  <p:txStyles>
    <p:titleStyle>
      <a:lvl1pPr algn="l" defTabSz="544237" rtl="0" eaLnBrk="1" latinLnBrk="0" hangingPunct="1">
        <a:spcBef>
          <a:spcPct val="0"/>
        </a:spcBef>
        <a:buNone/>
        <a:defRPr lang="en-US" sz="3000" b="0" i="0" kern="1200">
          <a:solidFill>
            <a:schemeClr val="tx1"/>
          </a:solidFill>
          <a:latin typeface="Sprint Sans Ofc Med Regular"/>
          <a:ea typeface="+mj-ea"/>
          <a:cs typeface="Sprint Sans Ofc Med Regular"/>
        </a:defRPr>
      </a:lvl1pPr>
    </p:titleStyle>
    <p:bodyStyle>
      <a:lvl1pPr marL="285739" indent="-285739" algn="l" defTabSz="544237" rtl="0" eaLnBrk="1" latinLnBrk="0" hangingPunct="1">
        <a:spcBef>
          <a:spcPct val="20000"/>
        </a:spcBef>
        <a:buFontTx/>
        <a:buNone/>
        <a:defRPr lang="en-US" sz="1667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1pPr>
      <a:lvl2pPr marL="0" indent="0" algn="l" defTabSz="544237" rtl="0" eaLnBrk="1" latinLnBrk="0" hangingPunct="1">
        <a:spcBef>
          <a:spcPts val="0"/>
        </a:spcBef>
        <a:spcAft>
          <a:spcPts val="500"/>
        </a:spcAft>
        <a:buFontTx/>
        <a:buNone/>
        <a:defRPr lang="en-US" sz="1500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2pPr>
      <a:lvl3pPr marL="2646" indent="0" algn="l" defTabSz="544237" rtl="0" eaLnBrk="1" latinLnBrk="0" hangingPunct="1">
        <a:spcBef>
          <a:spcPct val="20000"/>
        </a:spcBef>
        <a:buFontTx/>
        <a:buNone/>
        <a:defRPr lang="en-US" sz="1333" b="0" i="0" kern="1200" dirty="0" smtClean="0">
          <a:solidFill>
            <a:schemeClr val="tx1"/>
          </a:solidFill>
          <a:latin typeface="Sprint Sans Ofc Regular" panose="020B0503030202060203" pitchFamily="34" charset="0"/>
          <a:ea typeface="+mn-ea"/>
          <a:cs typeface="Sprint Sans Ofc Regular" panose="020B0503030202060203" pitchFamily="34" charset="0"/>
        </a:defRPr>
      </a:lvl3pPr>
      <a:lvl4pPr marL="99215" indent="-99215" algn="l" defTabSz="544237" rtl="0" eaLnBrk="1" latinLnBrk="0" hangingPunct="1">
        <a:spcBef>
          <a:spcPct val="20000"/>
        </a:spcBef>
        <a:buFont typeface="Arial"/>
        <a:buChar char="–"/>
        <a:defRPr lang="en-US" sz="1167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4pPr>
      <a:lvl5pPr marL="187847" indent="-99215" algn="l" defTabSz="544237" rtl="0" eaLnBrk="1" latinLnBrk="0" hangingPunct="1">
        <a:spcBef>
          <a:spcPct val="20000"/>
        </a:spcBef>
        <a:buFont typeface="Arial"/>
        <a:buChar char="•"/>
        <a:defRPr lang="en-US" sz="1167" kern="1200" dirty="0">
          <a:solidFill>
            <a:schemeClr val="tx1"/>
          </a:solidFill>
          <a:latin typeface="Sprint Sans Ofc Regular"/>
          <a:ea typeface="+mn-ea"/>
          <a:cs typeface="Sprint Sans Ofc Regular"/>
        </a:defRPr>
      </a:lvl5pPr>
      <a:lvl6pPr marL="2993302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537538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081776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4626012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1pPr>
      <a:lvl2pPr marL="54423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2pPr>
      <a:lvl3pPr marL="1088473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632711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17694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1184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65420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80965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353894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3378" y="1246489"/>
            <a:ext cx="10595799" cy="744760"/>
          </a:xfrm>
        </p:spPr>
        <p:txBody>
          <a:bodyPr/>
          <a:lstStyle/>
          <a:p>
            <a:r>
              <a:rPr lang="en-US" sz="4000" dirty="0"/>
              <a:t>Sprint Mobile Solutions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42891" y="3999362"/>
            <a:ext cx="3478078" cy="458014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July 2018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888" y="2190186"/>
            <a:ext cx="2105306" cy="21053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3378" y="2814278"/>
            <a:ext cx="6983627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4000" dirty="0"/>
              <a:t>Virtual Home Automation Hub</a:t>
            </a:r>
          </a:p>
        </p:txBody>
      </p:sp>
    </p:spTree>
    <p:extLst>
      <p:ext uri="{BB962C8B-B14F-4D97-AF65-F5344CB8AC3E}">
        <p14:creationId xmlns:p14="http://schemas.microsoft.com/office/powerpoint/2010/main" val="98489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Idea – Virtual Home Automation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Virtual Home Automation Hub approach that brings together the many different IOT standards (</a:t>
            </a:r>
            <a:r>
              <a:rPr lang="en-US" dirty="0" err="1"/>
              <a:t>Zigbee</a:t>
            </a:r>
            <a:r>
              <a:rPr lang="en-US" dirty="0"/>
              <a:t>, X10, KNX, Z-wave, 5G, Alexa, Google Home, etc.) and communications capabilities.</a:t>
            </a:r>
          </a:p>
          <a:p>
            <a:endParaRPr lang="en-US" dirty="0"/>
          </a:p>
          <a:p>
            <a:r>
              <a:rPr lang="en-US" dirty="0"/>
              <a:t>Introduce 5G (telecom device, always on, always connected, registered device) device capabilities into a consumer’s environment and experiences using the Automation Hub as the central registration.</a:t>
            </a:r>
          </a:p>
          <a:p>
            <a:pPr lvl="1"/>
            <a:r>
              <a:rPr lang="en-US" dirty="0"/>
              <a:t>5G Home Media Player Unit</a:t>
            </a:r>
          </a:p>
          <a:p>
            <a:pPr lvl="1"/>
            <a:r>
              <a:rPr lang="en-US" dirty="0"/>
              <a:t>5G Connected Refrigerator</a:t>
            </a:r>
          </a:p>
          <a:p>
            <a:endParaRPr lang="en-US" dirty="0"/>
          </a:p>
          <a:p>
            <a:r>
              <a:rPr lang="en-US" dirty="0"/>
              <a:t>Provide a single user portal for consumers to manage their experience, devices, logic patterns (day, evening, scene, event) or location.</a:t>
            </a:r>
          </a:p>
          <a:p>
            <a:endParaRPr lang="en-US" dirty="0"/>
          </a:p>
          <a:p>
            <a:r>
              <a:rPr lang="en-US" dirty="0"/>
              <a:t>Provide basic security of a user’s profile and identity.</a:t>
            </a:r>
          </a:p>
        </p:txBody>
      </p:sp>
    </p:spTree>
    <p:extLst>
      <p:ext uri="{BB962C8B-B14F-4D97-AF65-F5344CB8AC3E}">
        <p14:creationId xmlns:p14="http://schemas.microsoft.com/office/powerpoint/2010/main" val="62207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Generation – Sample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7" y="1227430"/>
            <a:ext cx="10591058" cy="4959185"/>
          </a:xfrm>
        </p:spPr>
        <p:txBody>
          <a:bodyPr/>
          <a:lstStyle/>
          <a:p>
            <a:r>
              <a:rPr lang="en-US" sz="1400" dirty="0"/>
              <a:t>As a consumer with a Sprint Virtual Home Automation Hub, I can manage all of my devices through one Sprint portal.  This includes all smart home devices, security, lights, plugs regardless of their protocol used to communicate.  (</a:t>
            </a:r>
            <a:r>
              <a:rPr lang="en-US" sz="1400" dirty="0" err="1"/>
              <a:t>Zigbee</a:t>
            </a:r>
            <a:r>
              <a:rPr lang="en-US" sz="1400" dirty="0"/>
              <a:t>, X10, KNX, Z-wave, Bluetooth, </a:t>
            </a:r>
            <a:r>
              <a:rPr lang="en-US" sz="1400" dirty="0" err="1"/>
              <a:t>Wifi</a:t>
            </a:r>
            <a:r>
              <a:rPr lang="en-US" sz="1400" dirty="0"/>
              <a:t>, 5G, Serial).</a:t>
            </a:r>
          </a:p>
          <a:p>
            <a:endParaRPr lang="en-US" sz="1400" dirty="0"/>
          </a:p>
          <a:p>
            <a:r>
              <a:rPr lang="en-US" sz="1400" dirty="0"/>
              <a:t>As a registered user profile, if any location that uses a Sprint Automation Virtual Hub, I can re-use my own profile settings at the destination/location.</a:t>
            </a:r>
          </a:p>
          <a:p>
            <a:pPr lvl="1"/>
            <a:r>
              <a:rPr lang="en-US" sz="1400" dirty="0"/>
              <a:t>Bill automates his home using Sprint Automation Virtual Hub.  Bill then travels to his favorite vacation spot at the Lake of the Ozarks which is also automated.  Bill can re-use his own profile/commands and scenes at his vacation spot.  The device will be smart-aware of his presence, adjust his portal to account for what devices are available, and interpret his logical settings and/or voice commands.</a:t>
            </a:r>
          </a:p>
          <a:p>
            <a:pPr lvl="1"/>
            <a:endParaRPr lang="en-US" sz="1400" dirty="0"/>
          </a:p>
          <a:p>
            <a:r>
              <a:rPr lang="en-US" sz="1400" dirty="0"/>
              <a:t>As a guest in a house/location with Sprint Automation Virtual Hub, a guest may temporarily use the services available in the home with permission.</a:t>
            </a:r>
          </a:p>
          <a:p>
            <a:endParaRPr lang="en-US" sz="1400" dirty="0"/>
          </a:p>
          <a:p>
            <a:r>
              <a:rPr lang="en-US" sz="1400" dirty="0"/>
              <a:t>If new devices are detected in a destination/location, the user can be sent product or elect to receive product or device enrollment details to use the service (e.g. 5G enabled media home player/gaming system/</a:t>
            </a:r>
            <a:r>
              <a:rPr lang="en-US" sz="1400" dirty="0" err="1"/>
              <a:t>etc</a:t>
            </a:r>
            <a:r>
              <a:rPr lang="en-US" sz="1400" dirty="0"/>
              <a:t>).  A vacation or </a:t>
            </a:r>
            <a:r>
              <a:rPr lang="en-US" sz="1400"/>
              <a:t>hotel location </a:t>
            </a:r>
            <a:r>
              <a:rPr lang="en-US" sz="1400" dirty="0"/>
              <a:t>offers Netflix with a 5G enabled box.  User is sent an offer request upon arrival to use the service.</a:t>
            </a:r>
          </a:p>
        </p:txBody>
      </p:sp>
    </p:spTree>
    <p:extLst>
      <p:ext uri="{BB962C8B-B14F-4D97-AF65-F5344CB8AC3E}">
        <p14:creationId xmlns:p14="http://schemas.microsoft.com/office/powerpoint/2010/main" val="404292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Merits – Proof of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Prove integration with Sprint data:</a:t>
            </a:r>
          </a:p>
          <a:p>
            <a:r>
              <a:rPr lang="en-US" dirty="0"/>
              <a:t>Use provided APIs to retrieve customer and device information from Sprint</a:t>
            </a:r>
          </a:p>
          <a:p>
            <a:r>
              <a:rPr lang="en-US" dirty="0"/>
              <a:t>Device types shall be ‘light’, ‘socket’, ‘camera’, ‘media’, ‘5G’, ‘appliance’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Prove conceptual logic of a Sprint Automated Virtual Hub:</a:t>
            </a:r>
          </a:p>
          <a:p>
            <a:r>
              <a:rPr lang="en-US" dirty="0"/>
              <a:t>Using customer/device information, logically prove device states: on/off/</a:t>
            </a:r>
            <a:r>
              <a:rPr lang="en-US" dirty="0" err="1"/>
              <a:t>cmd</a:t>
            </a:r>
            <a:r>
              <a:rPr lang="en-US" dirty="0"/>
              <a:t> sent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Prove the user is securely managed on the portal.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Prove the user, using a single portal, can send commands (logically) from their interface to the destination devices and change their state or process a command.  No physical devices required – use logical entities to receive a state/message.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593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94421" y="1728846"/>
            <a:ext cx="1178011" cy="5278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Sprint Server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</a:rPr>
              <a:t>(JSON)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3188" y="1235288"/>
            <a:ext cx="1400432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Customer &amp;</a:t>
            </a:r>
          </a:p>
          <a:p>
            <a:pPr algn="ctr"/>
            <a:r>
              <a:rPr lang="en-US" sz="1200" dirty="0"/>
              <a:t>Device Info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02226" y="1719899"/>
            <a:ext cx="1392195" cy="44751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Sprint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Virtual Home Automation Hub</a:t>
            </a:r>
          </a:p>
        </p:txBody>
      </p:sp>
      <p:pic>
        <p:nvPicPr>
          <p:cNvPr id="7" name="Picture 6" descr="Over 160 million Supported Pho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61" y="2773476"/>
            <a:ext cx="2100648" cy="86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38841" y="4556119"/>
            <a:ext cx="2120087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900" b="1" dirty="0"/>
              <a:t>Sprint 5G Magic Box (signal boost, </a:t>
            </a:r>
            <a:r>
              <a:rPr lang="en-US" sz="900" b="1" dirty="0" err="1"/>
              <a:t>wifi</a:t>
            </a:r>
            <a:r>
              <a:rPr lang="en-US" sz="900" b="1" dirty="0"/>
              <a:t>)</a:t>
            </a:r>
          </a:p>
          <a:p>
            <a:r>
              <a:rPr lang="en-US" sz="900" b="1" dirty="0"/>
              <a:t>Sprint 5G Home Media Player</a:t>
            </a:r>
          </a:p>
          <a:p>
            <a:r>
              <a:rPr lang="en-US" sz="900" b="1" dirty="0"/>
              <a:t>Nest</a:t>
            </a:r>
            <a:r>
              <a:rPr lang="en-US" sz="900" dirty="0"/>
              <a:t> Smart Thermostat</a:t>
            </a:r>
          </a:p>
          <a:p>
            <a:r>
              <a:rPr lang="en-US" sz="900" b="1" dirty="0"/>
              <a:t>Samsung </a:t>
            </a:r>
            <a:r>
              <a:rPr lang="en-US" sz="900" dirty="0"/>
              <a:t>Refrigerator</a:t>
            </a:r>
          </a:p>
          <a:p>
            <a:r>
              <a:rPr lang="en-US" sz="900" b="1" dirty="0"/>
              <a:t>LG</a:t>
            </a:r>
            <a:r>
              <a:rPr lang="en-US" sz="900" dirty="0"/>
              <a:t> Washer/Dryer</a:t>
            </a:r>
          </a:p>
          <a:p>
            <a:r>
              <a:rPr lang="en-US" sz="900" b="1" dirty="0"/>
              <a:t>WeMo Switch</a:t>
            </a:r>
            <a:r>
              <a:rPr lang="en-US" sz="900" dirty="0"/>
              <a:t> Smart Plug</a:t>
            </a:r>
          </a:p>
          <a:p>
            <a:r>
              <a:rPr lang="en-US" sz="900" b="1" dirty="0"/>
              <a:t>Philips</a:t>
            </a:r>
            <a:r>
              <a:rPr lang="en-US" sz="900" dirty="0"/>
              <a:t> Hue Smart Bulbs</a:t>
            </a:r>
          </a:p>
          <a:p>
            <a:r>
              <a:rPr lang="en-US" sz="900" b="1" dirty="0"/>
              <a:t>August</a:t>
            </a:r>
            <a:r>
              <a:rPr lang="en-US" sz="900" dirty="0"/>
              <a:t> Smart Lock</a:t>
            </a:r>
          </a:p>
          <a:p>
            <a:r>
              <a:rPr lang="en-US" sz="900" b="1" dirty="0"/>
              <a:t>Canary</a:t>
            </a:r>
            <a:r>
              <a:rPr lang="en-US" sz="900" dirty="0"/>
              <a:t> Smart Security System</a:t>
            </a:r>
          </a:p>
          <a:p>
            <a:r>
              <a:rPr lang="en-US" sz="900" b="1" dirty="0"/>
              <a:t>Samsung SmartThings Hub</a:t>
            </a:r>
            <a:endParaRPr lang="en-US" sz="900" dirty="0"/>
          </a:p>
          <a:p>
            <a:r>
              <a:rPr lang="en-US" sz="900" b="1" dirty="0"/>
              <a:t>Alexa Echo</a:t>
            </a:r>
          </a:p>
          <a:p>
            <a:r>
              <a:rPr lang="en-US" sz="900" b="1" dirty="0"/>
              <a:t>Google Home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4422" y="4497259"/>
            <a:ext cx="1083426" cy="16978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IOT Device Interface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497259"/>
            <a:ext cx="1779373" cy="6507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Sprint Web Portal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938" y="1754444"/>
            <a:ext cx="1779373" cy="65078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Sprint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Customer APK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18198" y="4498843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Zigbee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18198" y="4852961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Z-Wave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18198" y="5207079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X10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18198" y="5564623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JSON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94421" y="3455795"/>
            <a:ext cx="1083426" cy="4777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Amazon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Alexa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94421" y="2611221"/>
            <a:ext cx="1083426" cy="4777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Google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Home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2294458" y="2054731"/>
            <a:ext cx="1107768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94458" y="4826764"/>
            <a:ext cx="1107768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google hom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55" y="2236453"/>
            <a:ext cx="1281584" cy="94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alexa ech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198" y="3349898"/>
            <a:ext cx="1317838" cy="98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Straight Connector 46"/>
          <p:cNvCxnSpPr/>
          <p:nvPr/>
        </p:nvCxnSpPr>
        <p:spPr>
          <a:xfrm>
            <a:off x="5847324" y="3678466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832388" y="2854487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832388" y="4684450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847324" y="5038568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847324" y="5355617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847324" y="5708619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020131" y="5909220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5G Protocol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5847324" y="6049062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30875" y="2401219"/>
            <a:ext cx="1458097" cy="3042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Admin Mode</a:t>
            </a:r>
          </a:p>
        </p:txBody>
      </p:sp>
    </p:spTree>
    <p:extLst>
      <p:ext uri="{BB962C8B-B14F-4D97-AF65-F5344CB8AC3E}">
        <p14:creationId xmlns:p14="http://schemas.microsoft.com/office/powerpoint/2010/main" val="338733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Device Registration – APK Method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15454" y="3050795"/>
            <a:ext cx="1187088" cy="3042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Admin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8656" y="2121721"/>
            <a:ext cx="1187088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Customer launches Sprint APK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15453" y="2110290"/>
            <a:ext cx="1187088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Customer sets to 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1505" y="2110290"/>
            <a:ext cx="238168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Device scans for all protocols and </a:t>
            </a:r>
            <a:r>
              <a:rPr lang="en-US" sz="1400" dirty="0" err="1">
                <a:solidFill>
                  <a:srgbClr val="000000"/>
                </a:solidFill>
              </a:rPr>
              <a:t>comm</a:t>
            </a:r>
            <a:r>
              <a:rPr lang="en-US" sz="1400" dirty="0">
                <a:solidFill>
                  <a:srgbClr val="000000"/>
                </a:solidFill>
              </a:rPr>
              <a:t> channels (</a:t>
            </a:r>
            <a:r>
              <a:rPr lang="en-US" sz="1400" dirty="0" err="1">
                <a:solidFill>
                  <a:srgbClr val="000000"/>
                </a:solidFill>
              </a:rPr>
              <a:t>wifi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Zigbee</a:t>
            </a:r>
            <a:r>
              <a:rPr lang="en-US" sz="1400" dirty="0">
                <a:solidFill>
                  <a:srgbClr val="000000"/>
                </a:solidFill>
              </a:rPr>
              <a:t>, Z-Wave, X10, Alexa, Google Home, 5G, </a:t>
            </a:r>
            <a:r>
              <a:rPr lang="en-US" sz="1400" dirty="0" err="1">
                <a:solidFill>
                  <a:srgbClr val="000000"/>
                </a:solidFill>
              </a:rPr>
              <a:t>etc</a:t>
            </a:r>
            <a:r>
              <a:rPr lang="en-US" sz="14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4891" y="2110290"/>
            <a:ext cx="238168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APK presents all found devices to customer to auto-register with Sprint Virtual Home Automation Hub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1785" y="2110290"/>
            <a:ext cx="175823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Device APK registers all devices that were confirmed to Hub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8656" y="4075015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defines their custom profile and commands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1002" y="4075015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can test their profile from app.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8019" y="4075015"/>
            <a:ext cx="190935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saves location profile under a registered site settings.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348" y="4075015"/>
            <a:ext cx="190935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defines location security profile settings (who is authorized to use)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3292949" y="2559536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711063" y="2548334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822605" y="4465182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6083185" y="2569362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8906571" y="2534561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1942848" y="4467524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182703" y="4462840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95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Device Registration – Web Portal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15454" y="3050795"/>
            <a:ext cx="1187088" cy="3042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Admin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8656" y="2121721"/>
            <a:ext cx="1187088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Customer launches Sprint APK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15453" y="2110290"/>
            <a:ext cx="1187088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Customer sets to 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1505" y="2110290"/>
            <a:ext cx="2381680" cy="11099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Devices are entered (</a:t>
            </a:r>
            <a:r>
              <a:rPr lang="en-US" sz="1400" dirty="0">
                <a:solidFill>
                  <a:srgbClr val="FF0000"/>
                </a:solidFill>
              </a:rPr>
              <a:t>manually</a:t>
            </a:r>
            <a:r>
              <a:rPr lang="en-US" sz="1400" dirty="0">
                <a:solidFill>
                  <a:srgbClr val="000000"/>
                </a:solidFill>
              </a:rPr>
              <a:t>) for all protocols and </a:t>
            </a:r>
            <a:r>
              <a:rPr lang="en-US" sz="1400" dirty="0" err="1">
                <a:solidFill>
                  <a:srgbClr val="000000"/>
                </a:solidFill>
              </a:rPr>
              <a:t>comm</a:t>
            </a:r>
            <a:r>
              <a:rPr lang="en-US" sz="1400" dirty="0">
                <a:solidFill>
                  <a:srgbClr val="000000"/>
                </a:solidFill>
              </a:rPr>
              <a:t> channels (</a:t>
            </a:r>
            <a:r>
              <a:rPr lang="en-US" sz="1400" dirty="0" err="1">
                <a:solidFill>
                  <a:srgbClr val="000000"/>
                </a:solidFill>
              </a:rPr>
              <a:t>wifi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Zigbee</a:t>
            </a:r>
            <a:r>
              <a:rPr lang="en-US" sz="1400" dirty="0">
                <a:solidFill>
                  <a:srgbClr val="000000"/>
                </a:solidFill>
              </a:rPr>
              <a:t>, Z-Wave, X10, Alexa, Google Home, 5G, </a:t>
            </a:r>
            <a:r>
              <a:rPr lang="en-US" sz="1400" dirty="0" err="1">
                <a:solidFill>
                  <a:srgbClr val="000000"/>
                </a:solidFill>
              </a:rPr>
              <a:t>etc</a:t>
            </a:r>
            <a:r>
              <a:rPr lang="en-US" sz="14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4891" y="2110290"/>
            <a:ext cx="238168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APK presents all found devices to customer to auto-register with Sprint Virtual Home Automation Hub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1786" y="2110290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APK registers confirmed devices to Hub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8656" y="4075015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defines their custom profile and commands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1002" y="4075015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can test their profile from app.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8019" y="4075015"/>
            <a:ext cx="190935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saves location profile under a registered site settings.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348" y="4075015"/>
            <a:ext cx="190935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defines location security profile settings (who is authorized to use)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3292949" y="2559536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711063" y="2548334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822605" y="4465182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6083185" y="2569362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8906571" y="2534561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1942848" y="4467524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182703" y="4462840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118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features of a handset, IOT device that will register with the Sprint Hub</a:t>
            </a:r>
          </a:p>
          <a:p>
            <a:r>
              <a:rPr lang="en-US" dirty="0"/>
              <a:t>Location ‘aware’ of any handset, 5G device, or IOT device.</a:t>
            </a:r>
          </a:p>
          <a:p>
            <a:r>
              <a:rPr lang="en-US" dirty="0"/>
              <a:t>Device registration manager at any service location using a handset app.</a:t>
            </a:r>
          </a:p>
          <a:p>
            <a:r>
              <a:rPr lang="en-US" dirty="0"/>
              <a:t>Profile management and security of any registered user using the Sprint Hub</a:t>
            </a:r>
          </a:p>
          <a:p>
            <a:r>
              <a:rPr lang="en-US" dirty="0"/>
              <a:t>‘Personality’ customized commands to be used virtually anywhere of a registered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7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Patent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new 5G protocol for communicating with IOT devices?</a:t>
            </a:r>
          </a:p>
          <a:p>
            <a:r>
              <a:rPr lang="en-US" dirty="0"/>
              <a:t>Security and method of IOT devices registering to a Sprint Virtual Hub</a:t>
            </a:r>
          </a:p>
          <a:p>
            <a:r>
              <a:rPr lang="en-US" dirty="0"/>
              <a:t>Concept of Virtual profile with a Virtual Hub – </a:t>
            </a:r>
          </a:p>
          <a:p>
            <a:pPr lvl="1"/>
            <a:r>
              <a:rPr lang="en-US" dirty="0"/>
              <a:t>customized IOT commands per user – </a:t>
            </a:r>
          </a:p>
          <a:p>
            <a:pPr lvl="1"/>
            <a:r>
              <a:rPr lang="en-US" dirty="0"/>
              <a:t>“follow me” capability – location based awareness and login to hub</a:t>
            </a:r>
          </a:p>
          <a:p>
            <a:r>
              <a:rPr lang="en-US" dirty="0"/>
              <a:t>Offer of products due to virtual hub enrollment</a:t>
            </a:r>
          </a:p>
          <a:p>
            <a:r>
              <a:rPr lang="en-US" dirty="0"/>
              <a:t>Site arrival notifications, awareness, registration, authentication, authorization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83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Bill McCracken – Primary</a:t>
            </a:r>
          </a:p>
        </p:txBody>
      </p:sp>
    </p:spTree>
    <p:extLst>
      <p:ext uri="{BB962C8B-B14F-4D97-AF65-F5344CB8AC3E}">
        <p14:creationId xmlns:p14="http://schemas.microsoft.com/office/powerpoint/2010/main" val="276999743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SPRINTCOLORS 1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C20E"/>
      </a:accent1>
      <a:accent2>
        <a:srgbClr val="F3F4F4"/>
      </a:accent2>
      <a:accent3>
        <a:srgbClr val="403F34"/>
      </a:accent3>
      <a:accent4>
        <a:srgbClr val="F75822"/>
      </a:accent4>
      <a:accent5>
        <a:srgbClr val="04C5CC"/>
      </a:accent5>
      <a:accent6>
        <a:srgbClr val="75C044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000000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>
        <a:defPPr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970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Sprint Sans Ofc Med</vt:lpstr>
      <vt:lpstr>Sprint Sans Ofc Med Regular</vt:lpstr>
      <vt:lpstr>Sprint Sans Ofc Regular</vt:lpstr>
      <vt:lpstr>2_Office Theme</vt:lpstr>
      <vt:lpstr>Sprint Mobile Solutions</vt:lpstr>
      <vt:lpstr>Concept Idea – Virtual Home Automation Hub</vt:lpstr>
      <vt:lpstr>Idea Generation – Sample Use Cases</vt:lpstr>
      <vt:lpstr>Technical Merits – Proof of Concept</vt:lpstr>
      <vt:lpstr>Logical Architecture</vt:lpstr>
      <vt:lpstr>IOT Device Registration – APK Method</vt:lpstr>
      <vt:lpstr>IOT Device Registration – Web Portal</vt:lpstr>
      <vt:lpstr>Technology Features</vt:lpstr>
      <vt:lpstr>Patent Ideas</vt:lpstr>
      <vt:lpstr>Inventors</vt:lpstr>
    </vt:vector>
  </TitlesOfParts>
  <Manager>Bill.G.McCracken@sprint.com</Manager>
  <Company>Sprint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Mobile Framework</dc:title>
  <dc:creator>Bill.G.McCracken@sprint.com</dc:creator>
  <cp:keywords>SMF</cp:keywords>
  <cp:lastModifiedBy>Bill McCracken</cp:lastModifiedBy>
  <cp:revision>307</cp:revision>
  <dcterms:created xsi:type="dcterms:W3CDTF">2016-05-26T15:12:20Z</dcterms:created>
  <dcterms:modified xsi:type="dcterms:W3CDTF">2022-01-12T20:50:00Z</dcterms:modified>
</cp:coreProperties>
</file>